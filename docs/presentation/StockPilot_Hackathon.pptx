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StockPilot is an agentic supply recovery workspace for small and medium businesses. When inventory runs short or supplier availability changes, it turns an operations goal into a plan, approved business actions and a verified result. The key promise is recovery with evidence, rather than another chat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business problem using the demo inputs: two urgent orders need thirty sensor units, but inventory has only eight. The manager needs to compare suppliers, respect the deadline and budget, obtain approval and avoid buying against a stale quote. These are coordinated business decisions, not simply a question-answering task. Do not invent time savings or market-size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input: a natural-language goal plus explicit order scope, maximum budget and deadline. Gemini interprets the goal and plans specialist work. The backend keeps those constraints authoritative. The output is an executed and verified allocation plan with evidence. In this MVP, purchasing changes an internal sandbox ledger; it does not place an external supplier order or send a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six scoped agent roles coordinated by one durable engine, not six separate servers. The orchestrator plans; research reads; analysis compares; execution proposes domain mutations; verification checks evidence; communication publishes the report. Every role has an explicit structured contract and limited tools. The handoffs are sequential so business mutations remain consistent and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loop. The user sets the goal and constraints. The orchestrator produces a plan, specialists execute real tools, and a high-risk purchase pauses for approval. In the recovery demo, stock changes before approval. Quote-version checks reject the stale request. That observation and supplier-failure memory drive a new plan. The system preserves existing reservations, buys only the remaining shortfall, verifies the result and publishes evidence. A supplier change is a demonstrated recovery branch, not mandatory in every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reads real persisted state through authenticated REST endpoints. One Express process runs the API and a leased workflow worker. Gemini produces structured plans and actions, validated by full Zod schemas and tool contracts. The policy gateway enforces permissions and business rules before tools mutate Atlas. Task state, approvals, executions, audit and memory are persistent. Optional native OpenAI support exists, but the verified run uses Gemini 3.5 Flash Lite. There is no runtime fixture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cannot grant itself permission. Every action crosses a backend boundary: permitted role, strict input schema, owned scope and current workflow state. Cumulative purchases above two hundred fifty dollars require approval, preventing split-purchase bypass. The saved approval binds the exact validated request. Execution still rechecks fresh quotes, budget, remaining demand and deadline. Atomic ledger updates and replay receipts prevent duplicate effects after interruptions. Keys remain on the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demo moment. After reserving eight units, supplier A initially appears feasible at six hundred sixty dollars. While the purchase waits for approval, the acceptance script withdraws its real sandbox stock. The stale approved request fails quote-version validation. The model replans using current data and memory, then proposes twenty-two units from supplier B for seven hundred ninety-two dollars. A second exact approval allows purchase commitment and allocations. Supplier C is cheaper but its nine-day lead time misses the four-day deadline. CLI approvals used explicit --approve-sandbox consent; do not present those as human clicks in a recorded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Gemini and Atlas workflow completed in exactly 195,706 milliseconds: three minutes and 15.706 seconds. All thirty requested units were allocated, and the commitment was seven hundred ninety-two dollars within the fifteen-hundred-dollar budget. Two accepted plan revisions and two persisted approval decisions are in the evidence. Analytics report ninety percent automation and ninety point nine percent tool success for this isolated account: ten successful tool attempts and one genuine induced stale-quote failure. These are single-run measurements, not generalized performance claims. Thirty-seven backend tests and two fixture-backed desktop/mobile browser tests also passed. Completion is scheduled/allocated fulfillment, not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image comes from the normal React application reading the actual completed live task from Atlas, not a mockup or fixture screenshot. Show the completed status and plan version two, then explain the tool and agent tabs, approval center, history and execution trail. The product also includes business context, analytics, audit and JSON evidence export. During a live demo, open localhost port 5173 and use a fresh account so earlier allocations do not remove the deficit.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intended value is less fragmented coordination and clearer accountability. Operations gets a shared live workflow, purchasing gets exact-action control, and audit gets evidence connecting decisions to mutations and checks. These are product benefits, not measured ROI claims. The current verified scope is a local frontend/API connected to hosted Atlas and real Gemini, executing a sandbox ledger. Next come public Render/Vercel deployment, production configuration checks and a recorded human-clicked demo. Then supplier/ERP and notification adapters, multi-SKU planning, organizational roles and high-volume scaling.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StockPilot turns goals into accountable business actions. It plans, delegates, obtains approval, adapts when a supplier changes and proves the final result. Invite the judges to inspect the live workflow, actual model/tool records and exported evidence. Transition to the application demo or questions; backup slides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if judges ask whether the agents are real. These are actual native Gemini invocation records displayed by the connected app. They include role, provider/model, plan revision and attempts. Failed semantic proposals can be corrected before any tool runs; their invocation records remain visible. The runtime provider factory selects native Gemini or optional native OpenAI from trusted configuration. Fixtures are loaded only by tests and visibly labeled TEST_FIXTURE_NOT_AI. Full evidence is retained in Atlas and privately exported.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eight tools are actual backend functions with input/output schemas, roles and risk. Inspect business reads scoped records; compare supply calculates feasibility and memory-adjusted ranking; reserve inventory allocates on-hand stock; place purchase commits sandbox incoming supply; allocate purchase allocates it to orders; verify fulfillment reads actual ledger checks; notify operations persists in-app notifications; publish report persists an evidence-grounded report. MongoDB records users, tasks, agent/tool executions, approvals, events, domain state and memory. Quote versions, atomic CAS and receipts enforce concurrency and replay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Additional answers: planning is model-generated, not a hardcoded workflow template. Tools are allowlisted and cannot execute arbitrary code, network requests or database queries. A changed supplier quote fails even after approval because approval does not override fresh business invariants. Restart recovery uses leases, persisted state and idempotent receipts. Supplier-failure memory influences later rankings but never changes permissions. The workflow owner currently approves actions; separate organizational roles are future work. One measured successful scenario does not establish universal model reliability.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235"/>
        </a:solidFill>
      </p:bgPr>
    </p:bg>
    <p:spTree>
      <p:nvGrpSpPr>
        <p:cNvPr id="1" name=""/>
        <p:cNvGrpSpPr/>
        <p:nvPr/>
      </p:nvGrpSpPr>
      <p:grpSpPr>
        <a:xfrm>
          <a:off x="0" y="0"/>
          <a:ext cx="0" cy="0"/>
          <a:chOff x="0" y="0"/>
          <a:chExt cx="0" cy="0"/>
        </a:xfrm>
      </p:grpSpPr>
      <p:sp>
        <p:nvSpPr>
          <p:cNvPr id="2" name="Text 0"/>
          <p:cNvSpPr/>
          <p:nvPr/>
        </p:nvSpPr>
        <p:spPr>
          <a:xfrm>
            <a:off x="548640" y="338328"/>
            <a:ext cx="10332720" cy="153670"/>
          </a:xfrm>
          <a:prstGeom prst="rect">
            <a:avLst/>
          </a:prstGeom>
          <a:noFill/>
          <a:ln/>
        </p:spPr>
        <p:txBody>
          <a:bodyPr wrap="square" lIns="0" tIns="0" rIns="0" bIns="0" rtlCol="0" anchor="t"/>
          <a:lstStyle/>
          <a:p>
            <a:pPr algn="l" indent="0" marL="0">
              <a:buNone/>
            </a:pPr>
            <a:r>
              <a:rPr lang="en-US" sz="1000" b="1" dirty="0">
                <a:solidFill>
                  <a:srgbClr val="F2AD65"/>
                </a:solidFill>
                <a:latin typeface="DejaVu Sans" pitchFamily="34" charset="0"/>
                <a:ea typeface="DejaVu Sans" pitchFamily="34" charset="-122"/>
                <a:cs typeface="DejaVu Sans" pitchFamily="34" charset="-120"/>
              </a:rPr>
              <a:t>HACKATHON PRESENTATION · OCTOBER 2026</a:t>
            </a:r>
            <a:endParaRPr lang="en-US" sz="1000" dirty="0"/>
          </a:p>
        </p:txBody>
      </p:sp>
      <p:sp>
        <p:nvSpPr>
          <p:cNvPr id="3" name="Text 1"/>
          <p:cNvSpPr/>
          <p:nvPr/>
        </p:nvSpPr>
        <p:spPr>
          <a:xfrm>
            <a:off x="548640" y="758952"/>
            <a:ext cx="11064240" cy="445643"/>
          </a:xfrm>
          <a:prstGeom prst="rect">
            <a:avLst/>
          </a:prstGeom>
          <a:noFill/>
          <a:ln/>
        </p:spPr>
        <p:txBody>
          <a:bodyPr wrap="square" lIns="0" tIns="0" rIns="0" bIns="0" rtlCol="0" anchor="t"/>
          <a:lstStyle/>
          <a:p>
            <a:pPr algn="l" indent="0" marL="0">
              <a:buNone/>
            </a:pPr>
            <a:r>
              <a:rPr lang="en-US" sz="2900" b="1" dirty="0">
                <a:solidFill>
                  <a:srgbClr val="FFFFFF"/>
                </a:solidFill>
                <a:latin typeface="DejaVu Sans" pitchFamily="34" charset="0"/>
                <a:ea typeface="DejaVu Sans" pitchFamily="34" charset="-122"/>
                <a:cs typeface="DejaVu Sans" pitchFamily="34" charset="-120"/>
              </a:rPr>
              <a:t>stockpilot.</a:t>
            </a:r>
            <a:endParaRPr lang="en-US" sz="2900" dirty="0"/>
          </a:p>
        </p:txBody>
      </p:sp>
      <p:sp>
        <p:nvSpPr>
          <p:cNvPr id="4" name="Shape 2"/>
          <p:cNvSpPr/>
          <p:nvPr/>
        </p:nvSpPr>
        <p:spPr>
          <a:xfrm>
            <a:off x="548640" y="6345936"/>
            <a:ext cx="11091672" cy="0"/>
          </a:xfrm>
          <a:prstGeom prst="line">
            <a:avLst/>
          </a:prstGeom>
          <a:noFill/>
          <a:ln w="10160">
            <a:solidFill>
              <a:srgbClr val="203349"/>
            </a:solidFill>
            <a:prstDash val="solid"/>
          </a:ln>
        </p:spPr>
      </p:sp>
      <p:sp>
        <p:nvSpPr>
          <p:cNvPr id="5" name="Text 3"/>
          <p:cNvSpPr/>
          <p:nvPr/>
        </p:nvSpPr>
        <p:spPr>
          <a:xfrm>
            <a:off x="548640" y="6455664"/>
            <a:ext cx="9966960" cy="122936"/>
          </a:xfrm>
          <a:prstGeom prst="rect">
            <a:avLst/>
          </a:prstGeom>
          <a:noFill/>
          <a:ln/>
        </p:spPr>
        <p:txBody>
          <a:bodyPr wrap="square" lIns="0" tIns="0" rIns="0" bIns="0" rtlCol="0" anchor="t"/>
          <a:lstStyle/>
          <a:p>
            <a:pPr algn="l" indent="0" marL="0">
              <a:buNone/>
            </a:pPr>
            <a:r>
              <a:rPr lang="en-US" sz="800" dirty="0">
                <a:solidFill>
                  <a:srgbClr val="B8CBDC"/>
                </a:solidFill>
                <a:latin typeface="DejaVu Sans" pitchFamily="34" charset="0"/>
                <a:ea typeface="DejaVu Sans" pitchFamily="34" charset="-122"/>
                <a:cs typeface="DejaVu Sans" pitchFamily="34" charset="-120"/>
              </a:rPr>
              <a:t>Agentic supply recovery • Live Gemini execution verified</a:t>
            </a:r>
            <a:endParaRPr lang="en-US" sz="800" dirty="0"/>
          </a:p>
        </p:txBody>
      </p:sp>
      <p:sp>
        <p:nvSpPr>
          <p:cNvPr id="6" name="Text 4"/>
          <p:cNvSpPr/>
          <p:nvPr/>
        </p:nvSpPr>
        <p:spPr>
          <a:xfrm>
            <a:off x="10287000" y="6428232"/>
            <a:ext cx="1353312" cy="138303"/>
          </a:xfrm>
          <a:prstGeom prst="rect">
            <a:avLst/>
          </a:prstGeom>
          <a:noFill/>
          <a:ln/>
        </p:spPr>
        <p:txBody>
          <a:bodyPr wrap="square" lIns="0" tIns="0" rIns="0" bIns="0" rtlCol="0" anchor="t"/>
          <a:lstStyle/>
          <a:p>
            <a:pPr algn="r" indent="0" marL="0">
              <a:buNone/>
            </a:pPr>
            <a:r>
              <a:rPr lang="en-US" sz="900" dirty="0">
                <a:solidFill>
                  <a:srgbClr val="B8CBDC"/>
                </a:solidFill>
                <a:latin typeface="DejaVu Sans" pitchFamily="34" charset="0"/>
                <a:ea typeface="DejaVu Sans" pitchFamily="34" charset="-122"/>
                <a:cs typeface="DejaVu Sans" pitchFamily="34" charset="-120"/>
              </a:rPr>
              <a:t>01 / 15</a:t>
            </a:r>
            <a:endParaRPr lang="en-US" sz="900" dirty="0"/>
          </a:p>
        </p:txBody>
      </p:sp>
      <p:sp>
        <p:nvSpPr>
          <p:cNvPr id="7" name="Shape 5"/>
          <p:cNvSpPr/>
          <p:nvPr/>
        </p:nvSpPr>
        <p:spPr>
          <a:xfrm>
            <a:off x="557784" y="1508760"/>
            <a:ext cx="621792" cy="73152"/>
          </a:xfrm>
          <a:prstGeom prst="rect">
            <a:avLst/>
          </a:prstGeom>
          <a:solidFill>
            <a:srgbClr val="F2AD65"/>
          </a:solidFill>
          <a:ln w="12700">
            <a:solidFill>
              <a:srgbClr val="F2AD65"/>
            </a:solidFill>
            <a:prstDash val="solid"/>
          </a:ln>
        </p:spPr>
      </p:sp>
      <p:sp>
        <p:nvSpPr>
          <p:cNvPr id="8" name="Text 6"/>
          <p:cNvSpPr/>
          <p:nvPr/>
        </p:nvSpPr>
        <p:spPr>
          <a:xfrm>
            <a:off x="548640" y="1856232"/>
            <a:ext cx="6858000" cy="660781"/>
          </a:xfrm>
          <a:prstGeom prst="rect">
            <a:avLst/>
          </a:prstGeom>
          <a:noFill/>
          <a:ln/>
        </p:spPr>
        <p:txBody>
          <a:bodyPr wrap="square" lIns="0" tIns="0" rIns="0" bIns="0" rtlCol="0" anchor="t"/>
          <a:lstStyle/>
          <a:p>
            <a:pPr algn="l" indent="0" marL="0">
              <a:buNone/>
            </a:pPr>
            <a:r>
              <a:rPr lang="en-US" sz="4300" b="1" dirty="0">
                <a:solidFill>
                  <a:srgbClr val="FFFFFF"/>
                </a:solidFill>
                <a:latin typeface="DejaVu Sans" pitchFamily="34" charset="0"/>
                <a:ea typeface="DejaVu Sans" pitchFamily="34" charset="-122"/>
                <a:cs typeface="DejaVu Sans" pitchFamily="34" charset="-120"/>
              </a:rPr>
              <a:t>Supply disrupted.</a:t>
            </a:r>
            <a:endParaRPr lang="en-US" sz="4300" dirty="0"/>
          </a:p>
        </p:txBody>
      </p:sp>
      <p:sp>
        <p:nvSpPr>
          <p:cNvPr id="9" name="Text 7"/>
          <p:cNvSpPr/>
          <p:nvPr/>
        </p:nvSpPr>
        <p:spPr>
          <a:xfrm>
            <a:off x="548640" y="2522474"/>
            <a:ext cx="6858000" cy="660781"/>
          </a:xfrm>
          <a:prstGeom prst="rect">
            <a:avLst/>
          </a:prstGeom>
          <a:noFill/>
          <a:ln/>
        </p:spPr>
        <p:txBody>
          <a:bodyPr wrap="square" lIns="0" tIns="0" rIns="0" bIns="0" rtlCol="0" anchor="t"/>
          <a:lstStyle/>
          <a:p>
            <a:pPr algn="l" indent="0" marL="0">
              <a:buNone/>
            </a:pPr>
            <a:r>
              <a:rPr lang="en-US" sz="4300" b="1" dirty="0">
                <a:solidFill>
                  <a:srgbClr val="FFFFFF"/>
                </a:solidFill>
                <a:latin typeface="DejaVu Sans" pitchFamily="34" charset="0"/>
                <a:ea typeface="DejaVu Sans" pitchFamily="34" charset="-122"/>
                <a:cs typeface="DejaVu Sans" pitchFamily="34" charset="-120"/>
              </a:rPr>
              <a:t>Recovery, verified.</a:t>
            </a:r>
            <a:endParaRPr lang="en-US" sz="4300" dirty="0"/>
          </a:p>
        </p:txBody>
      </p:sp>
      <p:sp>
        <p:nvSpPr>
          <p:cNvPr id="10" name="Text 8"/>
          <p:cNvSpPr/>
          <p:nvPr/>
        </p:nvSpPr>
        <p:spPr>
          <a:xfrm>
            <a:off x="594360" y="3675888"/>
            <a:ext cx="6675120" cy="322707"/>
          </a:xfrm>
          <a:prstGeom prst="rect">
            <a:avLst/>
          </a:prstGeom>
          <a:noFill/>
          <a:ln/>
        </p:spPr>
        <p:txBody>
          <a:bodyPr wrap="square" lIns="0" tIns="0" rIns="0" bIns="0" rtlCol="0" anchor="t"/>
          <a:lstStyle/>
          <a:p>
            <a:pPr algn="l" indent="0" marL="0">
              <a:buNone/>
            </a:pPr>
            <a:r>
              <a:rPr lang="en-US" sz="2100" dirty="0">
                <a:solidFill>
                  <a:srgbClr val="B8CBDC"/>
                </a:solidFill>
                <a:latin typeface="DejaVu Sans" pitchFamily="34" charset="0"/>
                <a:ea typeface="DejaVu Sans" pitchFamily="34" charset="-122"/>
                <a:cs typeface="DejaVu Sans" pitchFamily="34" charset="-120"/>
              </a:rPr>
              <a:t>An AI operations workspace that turns urgent</a:t>
            </a:r>
            <a:endParaRPr lang="en-US" sz="2100" dirty="0"/>
          </a:p>
        </p:txBody>
      </p:sp>
      <p:sp>
        <p:nvSpPr>
          <p:cNvPr id="11" name="Text 9"/>
          <p:cNvSpPr/>
          <p:nvPr/>
        </p:nvSpPr>
        <p:spPr>
          <a:xfrm>
            <a:off x="594360" y="4001262"/>
            <a:ext cx="6675120" cy="322707"/>
          </a:xfrm>
          <a:prstGeom prst="rect">
            <a:avLst/>
          </a:prstGeom>
          <a:noFill/>
          <a:ln/>
        </p:spPr>
        <p:txBody>
          <a:bodyPr wrap="square" lIns="0" tIns="0" rIns="0" bIns="0" rtlCol="0" anchor="t"/>
          <a:lstStyle/>
          <a:p>
            <a:pPr algn="l" indent="0" marL="0">
              <a:buNone/>
            </a:pPr>
            <a:r>
              <a:rPr lang="en-US" sz="2100" dirty="0">
                <a:solidFill>
                  <a:srgbClr val="B8CBDC"/>
                </a:solidFill>
                <a:latin typeface="DejaVu Sans" pitchFamily="34" charset="0"/>
                <a:ea typeface="DejaVu Sans" pitchFamily="34" charset="-122"/>
                <a:cs typeface="DejaVu Sans" pitchFamily="34" charset="-120"/>
              </a:rPr>
              <a:t>order goals into approved, executed outcomes.</a:t>
            </a:r>
            <a:endParaRPr lang="en-US" sz="2100" dirty="0"/>
          </a:p>
        </p:txBody>
      </p:sp>
      <p:sp>
        <p:nvSpPr>
          <p:cNvPr id="12" name="Shape 10"/>
          <p:cNvSpPr/>
          <p:nvPr/>
        </p:nvSpPr>
        <p:spPr>
          <a:xfrm>
            <a:off x="594360" y="5093208"/>
            <a:ext cx="3383280" cy="329184"/>
          </a:xfrm>
          <a:prstGeom prst="roundRect">
            <a:avLst/>
          </a:prstGeom>
          <a:solidFill>
            <a:srgbClr val="203349"/>
          </a:solidFill>
          <a:ln w="12700">
            <a:solidFill>
              <a:srgbClr val="203349"/>
            </a:solidFill>
            <a:prstDash val="solid"/>
          </a:ln>
        </p:spPr>
      </p:sp>
      <p:sp>
        <p:nvSpPr>
          <p:cNvPr id="13" name="Text 11"/>
          <p:cNvSpPr/>
          <p:nvPr/>
        </p:nvSpPr>
        <p:spPr>
          <a:xfrm>
            <a:off x="667512" y="5152644"/>
            <a:ext cx="3236976" cy="153670"/>
          </a:xfrm>
          <a:prstGeom prst="rect">
            <a:avLst/>
          </a:prstGeom>
          <a:noFill/>
          <a:ln/>
        </p:spPr>
        <p:txBody>
          <a:bodyPr wrap="square" lIns="0" tIns="0" rIns="0" bIns="0" rtlCol="0" anchor="t"/>
          <a:lstStyle/>
          <a:p>
            <a:pPr algn="ctr" indent="0" marL="0">
              <a:buNone/>
            </a:pPr>
            <a:r>
              <a:rPr lang="en-US" sz="1000" b="1" dirty="0">
                <a:solidFill>
                  <a:srgbClr val="F2AD65"/>
                </a:solidFill>
                <a:latin typeface="DejaVu Sans" pitchFamily="34" charset="0"/>
                <a:ea typeface="DejaVu Sans" pitchFamily="34" charset="-122"/>
                <a:cs typeface="DejaVu Sans" pitchFamily="34" charset="-120"/>
              </a:rPr>
              <a:t>LIVE GEMINI + MONGODB ATLAS</a:t>
            </a:r>
            <a:endParaRPr lang="en-US" sz="1000" dirty="0"/>
          </a:p>
        </p:txBody>
      </p:sp>
      <p:sp>
        <p:nvSpPr>
          <p:cNvPr id="14" name="Shape 12"/>
          <p:cNvSpPr/>
          <p:nvPr/>
        </p:nvSpPr>
        <p:spPr>
          <a:xfrm>
            <a:off x="7955280" y="1783080"/>
            <a:ext cx="3675888" cy="1060704"/>
          </a:xfrm>
          <a:prstGeom prst="rect">
            <a:avLst/>
          </a:prstGeom>
          <a:solidFill>
            <a:srgbClr val="203349"/>
          </a:solidFill>
          <a:ln w="12700">
            <a:solidFill>
              <a:srgbClr val="203349"/>
            </a:solidFill>
            <a:prstDash val="solid"/>
          </a:ln>
        </p:spPr>
      </p:sp>
      <p:sp>
        <p:nvSpPr>
          <p:cNvPr id="15" name="Text 13"/>
          <p:cNvSpPr/>
          <p:nvPr/>
        </p:nvSpPr>
        <p:spPr>
          <a:xfrm>
            <a:off x="8156448" y="1965960"/>
            <a:ext cx="502920" cy="276606"/>
          </a:xfrm>
          <a:prstGeom prst="rect">
            <a:avLst/>
          </a:prstGeom>
          <a:noFill/>
          <a:ln/>
        </p:spPr>
        <p:txBody>
          <a:bodyPr wrap="square" lIns="0" tIns="0" rIns="0" bIns="0" rtlCol="0" anchor="t"/>
          <a:lstStyle/>
          <a:p>
            <a:pPr algn="l" indent="0" marL="0">
              <a:buNone/>
            </a:pPr>
            <a:r>
              <a:rPr lang="en-US" sz="1800" b="1" dirty="0">
                <a:solidFill>
                  <a:srgbClr val="F2AD65"/>
                </a:solidFill>
                <a:latin typeface="DejaVu Sans" pitchFamily="34" charset="0"/>
                <a:ea typeface="DejaVu Sans" pitchFamily="34" charset="-122"/>
                <a:cs typeface="DejaVu Sans" pitchFamily="34" charset="-120"/>
              </a:rPr>
              <a:t>01</a:t>
            </a:r>
            <a:endParaRPr lang="en-US" sz="1800" dirty="0"/>
          </a:p>
        </p:txBody>
      </p:sp>
      <p:sp>
        <p:nvSpPr>
          <p:cNvPr id="16" name="Text 14"/>
          <p:cNvSpPr/>
          <p:nvPr/>
        </p:nvSpPr>
        <p:spPr>
          <a:xfrm>
            <a:off x="8823960" y="1947672"/>
            <a:ext cx="2578608" cy="307340"/>
          </a:xfrm>
          <a:prstGeom prst="rect">
            <a:avLst/>
          </a:prstGeom>
          <a:noFill/>
          <a:ln/>
        </p:spPr>
        <p:txBody>
          <a:bodyPr wrap="square" lIns="0" tIns="0" rIns="0" bIns="0" rtlCol="0" anchor="t"/>
          <a:lstStyle/>
          <a:p>
            <a:pPr algn="l" indent="0" marL="0">
              <a:buNone/>
            </a:pPr>
            <a:r>
              <a:rPr lang="en-US" sz="2000" b="1" dirty="0">
                <a:solidFill>
                  <a:srgbClr val="FFFFFF"/>
                </a:solidFill>
                <a:latin typeface="DejaVu Sans" pitchFamily="34" charset="0"/>
                <a:ea typeface="DejaVu Sans" pitchFamily="34" charset="-122"/>
                <a:cs typeface="DejaVu Sans" pitchFamily="34" charset="-120"/>
              </a:rPr>
              <a:t>Plan</a:t>
            </a:r>
            <a:endParaRPr lang="en-US" sz="2000" dirty="0"/>
          </a:p>
        </p:txBody>
      </p:sp>
      <p:sp>
        <p:nvSpPr>
          <p:cNvPr id="17" name="Text 15"/>
          <p:cNvSpPr/>
          <p:nvPr/>
        </p:nvSpPr>
        <p:spPr>
          <a:xfrm>
            <a:off x="8823960" y="2377440"/>
            <a:ext cx="2596896" cy="176721"/>
          </a:xfrm>
          <a:prstGeom prst="rect">
            <a:avLst/>
          </a:prstGeom>
          <a:noFill/>
          <a:ln/>
        </p:spPr>
        <p:txBody>
          <a:bodyPr wrap="square" lIns="0" tIns="0" rIns="0" bIns="0" rtlCol="0" anchor="t"/>
          <a:lstStyle/>
          <a:p>
            <a:pPr algn="l" indent="0" marL="0">
              <a:buNone/>
            </a:pPr>
            <a:r>
              <a:rPr lang="en-US" sz="1150" dirty="0">
                <a:solidFill>
                  <a:srgbClr val="B8CBDC"/>
                </a:solidFill>
                <a:latin typeface="DejaVu Sans" pitchFamily="34" charset="0"/>
                <a:ea typeface="DejaVu Sans" pitchFamily="34" charset="-122"/>
                <a:cs typeface="DejaVu Sans" pitchFamily="34" charset="-120"/>
              </a:rPr>
              <a:t>Understand the goal</a:t>
            </a:r>
            <a:endParaRPr lang="en-US" sz="1150" dirty="0"/>
          </a:p>
        </p:txBody>
      </p:sp>
      <p:sp>
        <p:nvSpPr>
          <p:cNvPr id="18" name="Shape 16"/>
          <p:cNvSpPr/>
          <p:nvPr/>
        </p:nvSpPr>
        <p:spPr>
          <a:xfrm>
            <a:off x="9784080" y="2880360"/>
            <a:ext cx="0" cy="164592"/>
          </a:xfrm>
          <a:prstGeom prst="line">
            <a:avLst/>
          </a:prstGeom>
          <a:noFill/>
          <a:ln w="19050">
            <a:solidFill>
              <a:srgbClr val="F2AD65"/>
            </a:solidFill>
            <a:prstDash val="solid"/>
            <a:tailEnd type="triangle"/>
          </a:ln>
        </p:spPr>
      </p:sp>
      <p:sp>
        <p:nvSpPr>
          <p:cNvPr id="19" name="Shape 17"/>
          <p:cNvSpPr/>
          <p:nvPr/>
        </p:nvSpPr>
        <p:spPr>
          <a:xfrm>
            <a:off x="7955280" y="3081528"/>
            <a:ext cx="3675888" cy="1060704"/>
          </a:xfrm>
          <a:prstGeom prst="rect">
            <a:avLst/>
          </a:prstGeom>
          <a:solidFill>
            <a:srgbClr val="203349"/>
          </a:solidFill>
          <a:ln w="12700">
            <a:solidFill>
              <a:srgbClr val="203349"/>
            </a:solidFill>
            <a:prstDash val="solid"/>
          </a:ln>
        </p:spPr>
      </p:sp>
      <p:sp>
        <p:nvSpPr>
          <p:cNvPr id="20" name="Text 18"/>
          <p:cNvSpPr/>
          <p:nvPr/>
        </p:nvSpPr>
        <p:spPr>
          <a:xfrm>
            <a:off x="8156448" y="3264408"/>
            <a:ext cx="502920" cy="276606"/>
          </a:xfrm>
          <a:prstGeom prst="rect">
            <a:avLst/>
          </a:prstGeom>
          <a:noFill/>
          <a:ln/>
        </p:spPr>
        <p:txBody>
          <a:bodyPr wrap="square" lIns="0" tIns="0" rIns="0" bIns="0" rtlCol="0" anchor="t"/>
          <a:lstStyle/>
          <a:p>
            <a:pPr algn="l" indent="0" marL="0">
              <a:buNone/>
            </a:pPr>
            <a:r>
              <a:rPr lang="en-US" sz="1800" b="1" dirty="0">
                <a:solidFill>
                  <a:srgbClr val="F2AD65"/>
                </a:solidFill>
                <a:latin typeface="DejaVu Sans" pitchFamily="34" charset="0"/>
                <a:ea typeface="DejaVu Sans" pitchFamily="34" charset="-122"/>
                <a:cs typeface="DejaVu Sans" pitchFamily="34" charset="-120"/>
              </a:rPr>
              <a:t>02</a:t>
            </a:r>
            <a:endParaRPr lang="en-US" sz="1800" dirty="0"/>
          </a:p>
        </p:txBody>
      </p:sp>
      <p:sp>
        <p:nvSpPr>
          <p:cNvPr id="21" name="Text 19"/>
          <p:cNvSpPr/>
          <p:nvPr/>
        </p:nvSpPr>
        <p:spPr>
          <a:xfrm>
            <a:off x="8823960" y="3246120"/>
            <a:ext cx="2578608" cy="307340"/>
          </a:xfrm>
          <a:prstGeom prst="rect">
            <a:avLst/>
          </a:prstGeom>
          <a:noFill/>
          <a:ln/>
        </p:spPr>
        <p:txBody>
          <a:bodyPr wrap="square" lIns="0" tIns="0" rIns="0" bIns="0" rtlCol="0" anchor="t"/>
          <a:lstStyle/>
          <a:p>
            <a:pPr algn="l" indent="0" marL="0">
              <a:buNone/>
            </a:pPr>
            <a:r>
              <a:rPr lang="en-US" sz="2000" b="1" dirty="0">
                <a:solidFill>
                  <a:srgbClr val="FFFFFF"/>
                </a:solidFill>
                <a:latin typeface="DejaVu Sans" pitchFamily="34" charset="0"/>
                <a:ea typeface="DejaVu Sans" pitchFamily="34" charset="-122"/>
                <a:cs typeface="DejaVu Sans" pitchFamily="34" charset="-120"/>
              </a:rPr>
              <a:t>Approve</a:t>
            </a:r>
            <a:endParaRPr lang="en-US" sz="2000" dirty="0"/>
          </a:p>
        </p:txBody>
      </p:sp>
      <p:sp>
        <p:nvSpPr>
          <p:cNvPr id="22" name="Text 20"/>
          <p:cNvSpPr/>
          <p:nvPr/>
        </p:nvSpPr>
        <p:spPr>
          <a:xfrm>
            <a:off x="8823960" y="3675888"/>
            <a:ext cx="2596896" cy="176721"/>
          </a:xfrm>
          <a:prstGeom prst="rect">
            <a:avLst/>
          </a:prstGeom>
          <a:noFill/>
          <a:ln/>
        </p:spPr>
        <p:txBody>
          <a:bodyPr wrap="square" lIns="0" tIns="0" rIns="0" bIns="0" rtlCol="0" anchor="t"/>
          <a:lstStyle/>
          <a:p>
            <a:pPr algn="l" indent="0" marL="0">
              <a:buNone/>
            </a:pPr>
            <a:r>
              <a:rPr lang="en-US" sz="1150" dirty="0">
                <a:solidFill>
                  <a:srgbClr val="B8CBDC"/>
                </a:solidFill>
                <a:latin typeface="DejaVu Sans" pitchFamily="34" charset="0"/>
                <a:ea typeface="DejaVu Sans" pitchFamily="34" charset="-122"/>
                <a:cs typeface="DejaVu Sans" pitchFamily="34" charset="-120"/>
              </a:rPr>
              <a:t>Keep purchasing accountable</a:t>
            </a:r>
            <a:endParaRPr lang="en-US" sz="1150" dirty="0"/>
          </a:p>
        </p:txBody>
      </p:sp>
      <p:sp>
        <p:nvSpPr>
          <p:cNvPr id="23" name="Shape 21"/>
          <p:cNvSpPr/>
          <p:nvPr/>
        </p:nvSpPr>
        <p:spPr>
          <a:xfrm>
            <a:off x="9784080" y="4178808"/>
            <a:ext cx="0" cy="164592"/>
          </a:xfrm>
          <a:prstGeom prst="line">
            <a:avLst/>
          </a:prstGeom>
          <a:noFill/>
          <a:ln w="19050">
            <a:solidFill>
              <a:srgbClr val="F2AD65"/>
            </a:solidFill>
            <a:prstDash val="solid"/>
            <a:tailEnd type="triangle"/>
          </a:ln>
        </p:spPr>
      </p:sp>
      <p:sp>
        <p:nvSpPr>
          <p:cNvPr id="24" name="Shape 22"/>
          <p:cNvSpPr/>
          <p:nvPr/>
        </p:nvSpPr>
        <p:spPr>
          <a:xfrm>
            <a:off x="7955280" y="4379976"/>
            <a:ext cx="3675888" cy="1060704"/>
          </a:xfrm>
          <a:prstGeom prst="rect">
            <a:avLst/>
          </a:prstGeom>
          <a:solidFill>
            <a:srgbClr val="203349"/>
          </a:solidFill>
          <a:ln w="12700">
            <a:solidFill>
              <a:srgbClr val="203349"/>
            </a:solidFill>
            <a:prstDash val="solid"/>
          </a:ln>
        </p:spPr>
      </p:sp>
      <p:sp>
        <p:nvSpPr>
          <p:cNvPr id="25" name="Text 23"/>
          <p:cNvSpPr/>
          <p:nvPr/>
        </p:nvSpPr>
        <p:spPr>
          <a:xfrm>
            <a:off x="8156448" y="4562856"/>
            <a:ext cx="502920" cy="276606"/>
          </a:xfrm>
          <a:prstGeom prst="rect">
            <a:avLst/>
          </a:prstGeom>
          <a:noFill/>
          <a:ln/>
        </p:spPr>
        <p:txBody>
          <a:bodyPr wrap="square" lIns="0" tIns="0" rIns="0" bIns="0" rtlCol="0" anchor="t"/>
          <a:lstStyle/>
          <a:p>
            <a:pPr algn="l" indent="0" marL="0">
              <a:buNone/>
            </a:pPr>
            <a:r>
              <a:rPr lang="en-US" sz="1800" b="1" dirty="0">
                <a:solidFill>
                  <a:srgbClr val="F2AD65"/>
                </a:solidFill>
                <a:latin typeface="DejaVu Sans" pitchFamily="34" charset="0"/>
                <a:ea typeface="DejaVu Sans" pitchFamily="34" charset="-122"/>
                <a:cs typeface="DejaVu Sans" pitchFamily="34" charset="-120"/>
              </a:rPr>
              <a:t>03</a:t>
            </a:r>
            <a:endParaRPr lang="en-US" sz="1800" dirty="0"/>
          </a:p>
        </p:txBody>
      </p:sp>
      <p:sp>
        <p:nvSpPr>
          <p:cNvPr id="26" name="Text 24"/>
          <p:cNvSpPr/>
          <p:nvPr/>
        </p:nvSpPr>
        <p:spPr>
          <a:xfrm>
            <a:off x="8823960" y="4544568"/>
            <a:ext cx="2578608" cy="307340"/>
          </a:xfrm>
          <a:prstGeom prst="rect">
            <a:avLst/>
          </a:prstGeom>
          <a:noFill/>
          <a:ln/>
        </p:spPr>
        <p:txBody>
          <a:bodyPr wrap="square" lIns="0" tIns="0" rIns="0" bIns="0" rtlCol="0" anchor="t"/>
          <a:lstStyle/>
          <a:p>
            <a:pPr algn="l" indent="0" marL="0">
              <a:buNone/>
            </a:pPr>
            <a:r>
              <a:rPr lang="en-US" sz="2000" b="1" dirty="0">
                <a:solidFill>
                  <a:srgbClr val="FFFFFF"/>
                </a:solidFill>
                <a:latin typeface="DejaVu Sans" pitchFamily="34" charset="0"/>
                <a:ea typeface="DejaVu Sans" pitchFamily="34" charset="-122"/>
                <a:cs typeface="DejaVu Sans" pitchFamily="34" charset="-120"/>
              </a:rPr>
              <a:t>Act + verify</a:t>
            </a:r>
            <a:endParaRPr lang="en-US" sz="2000" dirty="0"/>
          </a:p>
        </p:txBody>
      </p:sp>
      <p:sp>
        <p:nvSpPr>
          <p:cNvPr id="27" name="Text 25"/>
          <p:cNvSpPr/>
          <p:nvPr/>
        </p:nvSpPr>
        <p:spPr>
          <a:xfrm>
            <a:off x="8823960" y="4974336"/>
            <a:ext cx="2596896" cy="176721"/>
          </a:xfrm>
          <a:prstGeom prst="rect">
            <a:avLst/>
          </a:prstGeom>
          <a:noFill/>
          <a:ln/>
        </p:spPr>
        <p:txBody>
          <a:bodyPr wrap="square" lIns="0" tIns="0" rIns="0" bIns="0" rtlCol="0" anchor="t"/>
          <a:lstStyle/>
          <a:p>
            <a:pPr algn="l" indent="0" marL="0">
              <a:buNone/>
            </a:pPr>
            <a:r>
              <a:rPr lang="en-US" sz="1150" dirty="0">
                <a:solidFill>
                  <a:srgbClr val="B8CBDC"/>
                </a:solidFill>
                <a:latin typeface="DejaVu Sans" pitchFamily="34" charset="0"/>
                <a:ea typeface="DejaVu Sans" pitchFamily="34" charset="-122"/>
                <a:cs typeface="DejaVu Sans" pitchFamily="34" charset="-120"/>
              </a:rPr>
              <a:t>Prove the business outcome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548640" y="338328"/>
            <a:ext cx="10332720" cy="153670"/>
          </a:xfrm>
          <a:prstGeom prst="rect">
            <a:avLst/>
          </a:prstGeom>
          <a:noFill/>
          <a:ln/>
        </p:spPr>
        <p:txBody>
          <a:bodyPr wrap="square" lIns="0" tIns="0" rIns="0" bIns="0" rtlCol="0" anchor="t"/>
          <a:lstStyle/>
          <a:p>
            <a:pPr algn="l" indent="0" marL="0">
              <a:buNone/>
            </a:pPr>
            <a:r>
              <a:rPr lang="en-US" sz="1000" b="1" dirty="0">
                <a:solidFill>
                  <a:srgbClr val="087F80"/>
                </a:solidFill>
                <a:latin typeface="DejaVu Sans" pitchFamily="34" charset="0"/>
                <a:ea typeface="DejaVu Sans" pitchFamily="34" charset="-122"/>
                <a:cs typeface="DejaVu Sans" pitchFamily="34" charset="-120"/>
              </a:rPr>
              <a:t>THE PROBLEM</a:t>
            </a:r>
            <a:endParaRPr lang="en-US" sz="1000" dirty="0"/>
          </a:p>
        </p:txBody>
      </p:sp>
      <p:sp>
        <p:nvSpPr>
          <p:cNvPr id="3" name="Text 1"/>
          <p:cNvSpPr/>
          <p:nvPr/>
        </p:nvSpPr>
        <p:spPr>
          <a:xfrm>
            <a:off x="548640" y="758952"/>
            <a:ext cx="11064240" cy="445643"/>
          </a:xfrm>
          <a:prstGeom prst="rect">
            <a:avLst/>
          </a:prstGeom>
          <a:noFill/>
          <a:ln/>
        </p:spPr>
        <p:txBody>
          <a:bodyPr wrap="square" lIns="0" tIns="0" rIns="0" bIns="0" rtlCol="0" anchor="t"/>
          <a:lstStyle/>
          <a:p>
            <a:pPr algn="l" indent="0" marL="0">
              <a:buNone/>
            </a:pPr>
            <a:r>
              <a:rPr lang="en-US" sz="2900" b="1" dirty="0">
                <a:solidFill>
                  <a:srgbClr val="182B42"/>
                </a:solidFill>
                <a:latin typeface="DejaVu Sans" pitchFamily="34" charset="0"/>
                <a:ea typeface="DejaVu Sans" pitchFamily="34" charset="-122"/>
                <a:cs typeface="DejaVu Sans" pitchFamily="34" charset="-120"/>
              </a:rPr>
              <a:t>Urgent orders turn into a coordination problem.</a:t>
            </a:r>
            <a:endParaRPr lang="en-US" sz="2900" dirty="0"/>
          </a:p>
        </p:txBody>
      </p:sp>
      <p:sp>
        <p:nvSpPr>
          <p:cNvPr id="4" name="Shape 2"/>
          <p:cNvSpPr/>
          <p:nvPr/>
        </p:nvSpPr>
        <p:spPr>
          <a:xfrm>
            <a:off x="548640" y="6345936"/>
            <a:ext cx="11091672" cy="0"/>
          </a:xfrm>
          <a:prstGeom prst="line">
            <a:avLst/>
          </a:prstGeom>
          <a:noFill/>
          <a:ln w="10160">
            <a:solidFill>
              <a:srgbClr val="DCE5EC"/>
            </a:solidFill>
            <a:prstDash val="solid"/>
          </a:ln>
        </p:spPr>
      </p:sp>
      <p:sp>
        <p:nvSpPr>
          <p:cNvPr id="5" name="Text 3"/>
          <p:cNvSpPr/>
          <p:nvPr/>
        </p:nvSpPr>
        <p:spPr>
          <a:xfrm>
            <a:off x="548640" y="6455664"/>
            <a:ext cx="9966960" cy="122936"/>
          </a:xfrm>
          <a:prstGeom prst="rect">
            <a:avLst/>
          </a:prstGeom>
          <a:noFill/>
          <a:ln/>
        </p:spPr>
        <p:txBody>
          <a:bodyPr wrap="square" lIns="0" tIns="0" rIns="0" bIns="0" rtlCol="0" anchor="t"/>
          <a:lstStyle/>
          <a:p>
            <a:pPr algn="l" indent="0" marL="0">
              <a:buNone/>
            </a:pPr>
            <a:r>
              <a:rPr lang="en-US" sz="800" dirty="0">
                <a:solidFill>
                  <a:srgbClr val="617487"/>
                </a:solidFill>
                <a:latin typeface="DejaVu Sans" pitchFamily="34" charset="0"/>
                <a:ea typeface="DejaVu Sans" pitchFamily="34" charset="-122"/>
                <a:cs typeface="DejaVu Sans" pitchFamily="34" charset="-120"/>
              </a:rPr>
              <a:t>StockPilot • Hackathon pitch</a:t>
            </a:r>
            <a:endParaRPr lang="en-US" sz="800" dirty="0"/>
          </a:p>
        </p:txBody>
      </p:sp>
      <p:sp>
        <p:nvSpPr>
          <p:cNvPr id="6" name="Text 4"/>
          <p:cNvSpPr/>
          <p:nvPr/>
        </p:nvSpPr>
        <p:spPr>
          <a:xfrm>
            <a:off x="10287000" y="6428232"/>
            <a:ext cx="1353312" cy="138303"/>
          </a:xfrm>
          <a:prstGeom prst="rect">
            <a:avLst/>
          </a:prstGeom>
          <a:noFill/>
          <a:ln/>
        </p:spPr>
        <p:txBody>
          <a:bodyPr wrap="square" lIns="0" tIns="0" rIns="0" bIns="0" rtlCol="0" anchor="t"/>
          <a:lstStyle/>
          <a:p>
            <a:pPr algn="r" indent="0" marL="0">
              <a:buNone/>
            </a:pPr>
            <a:r>
              <a:rPr lang="en-US" sz="900" dirty="0">
                <a:solidFill>
                  <a:srgbClr val="617487"/>
                </a:solidFill>
                <a:latin typeface="DejaVu Sans" pitchFamily="34" charset="0"/>
                <a:ea typeface="DejaVu Sans" pitchFamily="34" charset="-122"/>
                <a:cs typeface="DejaVu Sans" pitchFamily="34" charset="-120"/>
              </a:rPr>
              <a:t>02 / 15</a:t>
            </a:r>
            <a:endParaRPr lang="en-US" sz="900" dirty="0"/>
          </a:p>
        </p:txBody>
      </p:sp>
      <p:sp>
        <p:nvSpPr>
          <p:cNvPr id="7" name="Text 5"/>
          <p:cNvSpPr/>
          <p:nvPr/>
        </p:nvSpPr>
        <p:spPr>
          <a:xfrm>
            <a:off x="566928" y="1472184"/>
            <a:ext cx="10607040"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For operations managers, inventory coordinators and purchasing approvers.</a:t>
            </a:r>
            <a:endParaRPr lang="en-US" sz="1700" dirty="0"/>
          </a:p>
        </p:txBody>
      </p:sp>
      <p:sp>
        <p:nvSpPr>
          <p:cNvPr id="8" name="Shape 6"/>
          <p:cNvSpPr/>
          <p:nvPr/>
        </p:nvSpPr>
        <p:spPr>
          <a:xfrm>
            <a:off x="548640" y="2148840"/>
            <a:ext cx="3566160" cy="2560320"/>
          </a:xfrm>
          <a:prstGeom prst="rect">
            <a:avLst/>
          </a:prstGeom>
          <a:solidFill>
            <a:srgbClr val="FFFFFF"/>
          </a:solidFill>
          <a:ln w="8890">
            <a:solidFill>
              <a:srgbClr val="DCE5EC"/>
            </a:solidFill>
            <a:prstDash val="solid"/>
          </a:ln>
        </p:spPr>
      </p:sp>
      <p:sp>
        <p:nvSpPr>
          <p:cNvPr id="9" name="Shape 7"/>
          <p:cNvSpPr/>
          <p:nvPr/>
        </p:nvSpPr>
        <p:spPr>
          <a:xfrm>
            <a:off x="548640" y="2148840"/>
            <a:ext cx="41148" cy="2560320"/>
          </a:xfrm>
          <a:prstGeom prst="rect">
            <a:avLst/>
          </a:prstGeom>
          <a:solidFill>
            <a:srgbClr val="087F80"/>
          </a:solidFill>
          <a:ln w="12700">
            <a:solidFill>
              <a:srgbClr val="087F80"/>
            </a:solidFill>
            <a:prstDash val="solid"/>
          </a:ln>
        </p:spPr>
      </p:sp>
      <p:sp>
        <p:nvSpPr>
          <p:cNvPr id="10" name="Text 8"/>
          <p:cNvSpPr/>
          <p:nvPr/>
        </p:nvSpPr>
        <p:spPr>
          <a:xfrm>
            <a:off x="749808" y="2331720"/>
            <a:ext cx="3163824" cy="276606"/>
          </a:xfrm>
          <a:prstGeom prst="rect">
            <a:avLst/>
          </a:prstGeom>
          <a:noFill/>
          <a:ln/>
        </p:spPr>
        <p:txBody>
          <a:bodyPr wrap="square" lIns="0" tIns="0" rIns="0" bIns="0" rtlCol="0" anchor="t"/>
          <a:lstStyle/>
          <a:p>
            <a:pPr algn="l" indent="0" marL="0">
              <a:buNone/>
            </a:pPr>
            <a:r>
              <a:rPr lang="en-US" sz="1800" b="1" dirty="0">
                <a:solidFill>
                  <a:srgbClr val="182B42"/>
                </a:solidFill>
                <a:latin typeface="DejaVu Sans" pitchFamily="34" charset="0"/>
                <a:ea typeface="DejaVu Sans" pitchFamily="34" charset="-122"/>
                <a:cs typeface="DejaVu Sans" pitchFamily="34" charset="-120"/>
              </a:rPr>
              <a:t>Inventory is short</a:t>
            </a:r>
            <a:endParaRPr lang="en-US" sz="1800" dirty="0"/>
          </a:p>
        </p:txBody>
      </p:sp>
      <p:sp>
        <p:nvSpPr>
          <p:cNvPr id="11" name="Text 9"/>
          <p:cNvSpPr/>
          <p:nvPr/>
        </p:nvSpPr>
        <p:spPr>
          <a:xfrm>
            <a:off x="749808" y="3017520"/>
            <a:ext cx="3163824"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Orders need 30 units.</a:t>
            </a:r>
            <a:endParaRPr lang="en-US" sz="1700" dirty="0"/>
          </a:p>
        </p:txBody>
      </p:sp>
      <p:sp>
        <p:nvSpPr>
          <p:cNvPr id="12" name="Text 10"/>
          <p:cNvSpPr/>
          <p:nvPr/>
        </p:nvSpPr>
        <p:spPr>
          <a:xfrm>
            <a:off x="749808" y="3280918"/>
            <a:ext cx="3163824"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Only 8 are on hand.</a:t>
            </a:r>
            <a:endParaRPr lang="en-US" sz="1700" dirty="0"/>
          </a:p>
        </p:txBody>
      </p:sp>
      <p:sp>
        <p:nvSpPr>
          <p:cNvPr id="13" name="Text 11"/>
          <p:cNvSpPr/>
          <p:nvPr/>
        </p:nvSpPr>
        <p:spPr>
          <a:xfrm>
            <a:off x="749808" y="3544316"/>
            <a:ext cx="3163824"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The shortfall must be</a:t>
            </a:r>
            <a:endParaRPr lang="en-US" sz="1700" dirty="0"/>
          </a:p>
        </p:txBody>
      </p:sp>
      <p:sp>
        <p:nvSpPr>
          <p:cNvPr id="14" name="Text 12"/>
          <p:cNvSpPr/>
          <p:nvPr/>
        </p:nvSpPr>
        <p:spPr>
          <a:xfrm>
            <a:off x="749808" y="3807714"/>
            <a:ext cx="3163824"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sourced.</a:t>
            </a:r>
            <a:endParaRPr lang="en-US" sz="1700" dirty="0"/>
          </a:p>
        </p:txBody>
      </p:sp>
      <p:sp>
        <p:nvSpPr>
          <p:cNvPr id="15" name="Shape 13"/>
          <p:cNvSpPr/>
          <p:nvPr/>
        </p:nvSpPr>
        <p:spPr>
          <a:xfrm>
            <a:off x="4315968" y="2148840"/>
            <a:ext cx="3566160" cy="2560320"/>
          </a:xfrm>
          <a:prstGeom prst="rect">
            <a:avLst/>
          </a:prstGeom>
          <a:solidFill>
            <a:srgbClr val="FFFFFF"/>
          </a:solidFill>
          <a:ln w="8890">
            <a:solidFill>
              <a:srgbClr val="DCE5EC"/>
            </a:solidFill>
            <a:prstDash val="solid"/>
          </a:ln>
        </p:spPr>
      </p:sp>
      <p:sp>
        <p:nvSpPr>
          <p:cNvPr id="16" name="Shape 14"/>
          <p:cNvSpPr/>
          <p:nvPr/>
        </p:nvSpPr>
        <p:spPr>
          <a:xfrm>
            <a:off x="4315968" y="2148840"/>
            <a:ext cx="41148" cy="2560320"/>
          </a:xfrm>
          <a:prstGeom prst="rect">
            <a:avLst/>
          </a:prstGeom>
          <a:solidFill>
            <a:srgbClr val="F2AD65"/>
          </a:solidFill>
          <a:ln w="12700">
            <a:solidFill>
              <a:srgbClr val="F2AD65"/>
            </a:solidFill>
            <a:prstDash val="solid"/>
          </a:ln>
        </p:spPr>
      </p:sp>
      <p:sp>
        <p:nvSpPr>
          <p:cNvPr id="17" name="Text 15"/>
          <p:cNvSpPr/>
          <p:nvPr/>
        </p:nvSpPr>
        <p:spPr>
          <a:xfrm>
            <a:off x="4517136" y="2331720"/>
            <a:ext cx="3163824" cy="276606"/>
          </a:xfrm>
          <a:prstGeom prst="rect">
            <a:avLst/>
          </a:prstGeom>
          <a:noFill/>
          <a:ln/>
        </p:spPr>
        <p:txBody>
          <a:bodyPr wrap="square" lIns="0" tIns="0" rIns="0" bIns="0" rtlCol="0" anchor="t"/>
          <a:lstStyle/>
          <a:p>
            <a:pPr algn="l" indent="0" marL="0">
              <a:buNone/>
            </a:pPr>
            <a:r>
              <a:rPr lang="en-US" sz="1800" b="1" dirty="0">
                <a:solidFill>
                  <a:srgbClr val="182B42"/>
                </a:solidFill>
                <a:latin typeface="DejaVu Sans" pitchFamily="34" charset="0"/>
                <a:ea typeface="DejaVu Sans" pitchFamily="34" charset="-122"/>
                <a:cs typeface="DejaVu Sans" pitchFamily="34" charset="-120"/>
              </a:rPr>
              <a:t>Suppliers change</a:t>
            </a:r>
            <a:endParaRPr lang="en-US" sz="1800" dirty="0"/>
          </a:p>
        </p:txBody>
      </p:sp>
      <p:sp>
        <p:nvSpPr>
          <p:cNvPr id="18" name="Text 16"/>
          <p:cNvSpPr/>
          <p:nvPr/>
        </p:nvSpPr>
        <p:spPr>
          <a:xfrm>
            <a:off x="4517136" y="3017520"/>
            <a:ext cx="3163824"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Price, stock and lead time</a:t>
            </a:r>
            <a:endParaRPr lang="en-US" sz="1700" dirty="0"/>
          </a:p>
        </p:txBody>
      </p:sp>
      <p:sp>
        <p:nvSpPr>
          <p:cNvPr id="19" name="Text 17"/>
          <p:cNvSpPr/>
          <p:nvPr/>
        </p:nvSpPr>
        <p:spPr>
          <a:xfrm>
            <a:off x="4517136" y="3280918"/>
            <a:ext cx="3163824"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can change while a purchase</a:t>
            </a:r>
            <a:endParaRPr lang="en-US" sz="1700" dirty="0"/>
          </a:p>
        </p:txBody>
      </p:sp>
      <p:sp>
        <p:nvSpPr>
          <p:cNvPr id="20" name="Text 18"/>
          <p:cNvSpPr/>
          <p:nvPr/>
        </p:nvSpPr>
        <p:spPr>
          <a:xfrm>
            <a:off x="4517136" y="3544316"/>
            <a:ext cx="3163824"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is waiting for approval.</a:t>
            </a:r>
            <a:endParaRPr lang="en-US" sz="1700" dirty="0"/>
          </a:p>
        </p:txBody>
      </p:sp>
      <p:sp>
        <p:nvSpPr>
          <p:cNvPr id="21" name="Shape 19"/>
          <p:cNvSpPr/>
          <p:nvPr/>
        </p:nvSpPr>
        <p:spPr>
          <a:xfrm>
            <a:off x="8083296" y="2148840"/>
            <a:ext cx="3566160" cy="2560320"/>
          </a:xfrm>
          <a:prstGeom prst="rect">
            <a:avLst/>
          </a:prstGeom>
          <a:solidFill>
            <a:srgbClr val="FFFFFF"/>
          </a:solidFill>
          <a:ln w="8890">
            <a:solidFill>
              <a:srgbClr val="DCE5EC"/>
            </a:solidFill>
            <a:prstDash val="solid"/>
          </a:ln>
        </p:spPr>
      </p:sp>
      <p:sp>
        <p:nvSpPr>
          <p:cNvPr id="22" name="Shape 20"/>
          <p:cNvSpPr/>
          <p:nvPr/>
        </p:nvSpPr>
        <p:spPr>
          <a:xfrm>
            <a:off x="8083296" y="2148840"/>
            <a:ext cx="41148" cy="2560320"/>
          </a:xfrm>
          <a:prstGeom prst="rect">
            <a:avLst/>
          </a:prstGeom>
          <a:solidFill>
            <a:srgbClr val="166C5C"/>
          </a:solidFill>
          <a:ln w="12700">
            <a:solidFill>
              <a:srgbClr val="166C5C"/>
            </a:solidFill>
            <a:prstDash val="solid"/>
          </a:ln>
        </p:spPr>
      </p:sp>
      <p:sp>
        <p:nvSpPr>
          <p:cNvPr id="23" name="Text 21"/>
          <p:cNvSpPr/>
          <p:nvPr/>
        </p:nvSpPr>
        <p:spPr>
          <a:xfrm>
            <a:off x="8284464" y="2331720"/>
            <a:ext cx="3163824" cy="276606"/>
          </a:xfrm>
          <a:prstGeom prst="rect">
            <a:avLst/>
          </a:prstGeom>
          <a:noFill/>
          <a:ln/>
        </p:spPr>
        <p:txBody>
          <a:bodyPr wrap="square" lIns="0" tIns="0" rIns="0" bIns="0" rtlCol="0" anchor="t"/>
          <a:lstStyle/>
          <a:p>
            <a:pPr algn="l" indent="0" marL="0">
              <a:buNone/>
            </a:pPr>
            <a:r>
              <a:rPr lang="en-US" sz="1800" b="1" dirty="0">
                <a:solidFill>
                  <a:srgbClr val="182B42"/>
                </a:solidFill>
                <a:latin typeface="DejaVu Sans" pitchFamily="34" charset="0"/>
                <a:ea typeface="DejaVu Sans" pitchFamily="34" charset="-122"/>
                <a:cs typeface="DejaVu Sans" pitchFamily="34" charset="-120"/>
              </a:rPr>
              <a:t>Decisions need control</a:t>
            </a:r>
            <a:endParaRPr lang="en-US" sz="1800" dirty="0"/>
          </a:p>
        </p:txBody>
      </p:sp>
      <p:sp>
        <p:nvSpPr>
          <p:cNvPr id="24" name="Text 22"/>
          <p:cNvSpPr/>
          <p:nvPr/>
        </p:nvSpPr>
        <p:spPr>
          <a:xfrm>
            <a:off x="8284464" y="3017520"/>
            <a:ext cx="3163824"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Budgets, deadlines and</a:t>
            </a:r>
            <a:endParaRPr lang="en-US" sz="1700" dirty="0"/>
          </a:p>
        </p:txBody>
      </p:sp>
      <p:sp>
        <p:nvSpPr>
          <p:cNvPr id="25" name="Text 23"/>
          <p:cNvSpPr/>
          <p:nvPr/>
        </p:nvSpPr>
        <p:spPr>
          <a:xfrm>
            <a:off x="8284464" y="3280918"/>
            <a:ext cx="3163824"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approvals must stay</a:t>
            </a:r>
            <a:endParaRPr lang="en-US" sz="1700" dirty="0"/>
          </a:p>
        </p:txBody>
      </p:sp>
      <p:sp>
        <p:nvSpPr>
          <p:cNvPr id="26" name="Text 24"/>
          <p:cNvSpPr/>
          <p:nvPr/>
        </p:nvSpPr>
        <p:spPr>
          <a:xfrm>
            <a:off x="8284464" y="3544316"/>
            <a:ext cx="3163824"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consistent with the latest</a:t>
            </a:r>
            <a:endParaRPr lang="en-US" sz="1700" dirty="0"/>
          </a:p>
        </p:txBody>
      </p:sp>
      <p:sp>
        <p:nvSpPr>
          <p:cNvPr id="27" name="Text 25"/>
          <p:cNvSpPr/>
          <p:nvPr/>
        </p:nvSpPr>
        <p:spPr>
          <a:xfrm>
            <a:off x="8284464" y="3807714"/>
            <a:ext cx="3163824"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business state.</a:t>
            </a:r>
            <a:endParaRPr lang="en-US" sz="1700" dirty="0"/>
          </a:p>
        </p:txBody>
      </p:sp>
      <p:sp>
        <p:nvSpPr>
          <p:cNvPr id="28" name="Shape 26"/>
          <p:cNvSpPr/>
          <p:nvPr/>
        </p:nvSpPr>
        <p:spPr>
          <a:xfrm>
            <a:off x="548640" y="5166360"/>
            <a:ext cx="11100816" cy="749808"/>
          </a:xfrm>
          <a:prstGeom prst="rect">
            <a:avLst/>
          </a:prstGeom>
          <a:solidFill>
            <a:srgbClr val="132235"/>
          </a:solidFill>
          <a:ln w="12700">
            <a:solidFill>
              <a:srgbClr val="132235"/>
            </a:solidFill>
            <a:prstDash val="solid"/>
          </a:ln>
        </p:spPr>
      </p:sp>
      <p:sp>
        <p:nvSpPr>
          <p:cNvPr id="29" name="Text 27"/>
          <p:cNvSpPr/>
          <p:nvPr/>
        </p:nvSpPr>
        <p:spPr>
          <a:xfrm>
            <a:off x="786384" y="5394960"/>
            <a:ext cx="10588752" cy="268923"/>
          </a:xfrm>
          <a:prstGeom prst="rect">
            <a:avLst/>
          </a:prstGeom>
          <a:noFill/>
          <a:ln/>
        </p:spPr>
        <p:txBody>
          <a:bodyPr wrap="square" lIns="0" tIns="0" rIns="0" bIns="0" rtlCol="0" anchor="t"/>
          <a:lstStyle/>
          <a:p>
            <a:pPr algn="l" indent="0" marL="0">
              <a:buNone/>
            </a:pPr>
            <a:r>
              <a:rPr lang="en-US" sz="1750" b="1" dirty="0">
                <a:solidFill>
                  <a:srgbClr val="FFFFFF"/>
                </a:solidFill>
                <a:latin typeface="DejaVu Sans" pitchFamily="34" charset="0"/>
                <a:ea typeface="DejaVu Sans" pitchFamily="34" charset="-122"/>
                <a:cs typeface="DejaVu Sans" pitchFamily="34" charset="-120"/>
              </a:rPr>
              <a:t>The gap: one accountable workflow across inventory, procurement and verification.</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548640" y="338328"/>
            <a:ext cx="10332720" cy="153670"/>
          </a:xfrm>
          <a:prstGeom prst="rect">
            <a:avLst/>
          </a:prstGeom>
          <a:noFill/>
          <a:ln/>
        </p:spPr>
        <p:txBody>
          <a:bodyPr wrap="square" lIns="0" tIns="0" rIns="0" bIns="0" rtlCol="0" anchor="t"/>
          <a:lstStyle/>
          <a:p>
            <a:pPr algn="l" indent="0" marL="0">
              <a:buNone/>
            </a:pPr>
            <a:r>
              <a:rPr lang="en-US" sz="1000" b="1" dirty="0">
                <a:solidFill>
                  <a:srgbClr val="087F80"/>
                </a:solidFill>
                <a:latin typeface="DejaVu Sans" pitchFamily="34" charset="0"/>
                <a:ea typeface="DejaVu Sans" pitchFamily="34" charset="-122"/>
                <a:cs typeface="DejaVu Sans" pitchFamily="34" charset="-120"/>
              </a:rPr>
              <a:t>THE SOLUTION</a:t>
            </a:r>
            <a:endParaRPr lang="en-US" sz="1000" dirty="0"/>
          </a:p>
        </p:txBody>
      </p:sp>
      <p:sp>
        <p:nvSpPr>
          <p:cNvPr id="3" name="Text 1"/>
          <p:cNvSpPr/>
          <p:nvPr/>
        </p:nvSpPr>
        <p:spPr>
          <a:xfrm>
            <a:off x="548640" y="758952"/>
            <a:ext cx="11064240" cy="445643"/>
          </a:xfrm>
          <a:prstGeom prst="rect">
            <a:avLst/>
          </a:prstGeom>
          <a:noFill/>
          <a:ln/>
        </p:spPr>
        <p:txBody>
          <a:bodyPr wrap="square" lIns="0" tIns="0" rIns="0" bIns="0" rtlCol="0" anchor="t"/>
          <a:lstStyle/>
          <a:p>
            <a:pPr algn="l" indent="0" marL="0">
              <a:buNone/>
            </a:pPr>
            <a:r>
              <a:rPr lang="en-US" sz="2900" b="1" dirty="0">
                <a:solidFill>
                  <a:srgbClr val="182B42"/>
                </a:solidFill>
                <a:latin typeface="DejaVu Sans" pitchFamily="34" charset="0"/>
                <a:ea typeface="DejaVu Sans" pitchFamily="34" charset="-122"/>
                <a:cs typeface="DejaVu Sans" pitchFamily="34" charset="-120"/>
              </a:rPr>
              <a:t>One goal in. A verified recovery plan out.</a:t>
            </a:r>
            <a:endParaRPr lang="en-US" sz="2900" dirty="0"/>
          </a:p>
        </p:txBody>
      </p:sp>
      <p:sp>
        <p:nvSpPr>
          <p:cNvPr id="4" name="Shape 2"/>
          <p:cNvSpPr/>
          <p:nvPr/>
        </p:nvSpPr>
        <p:spPr>
          <a:xfrm>
            <a:off x="548640" y="6345936"/>
            <a:ext cx="11091672" cy="0"/>
          </a:xfrm>
          <a:prstGeom prst="line">
            <a:avLst/>
          </a:prstGeom>
          <a:noFill/>
          <a:ln w="10160">
            <a:solidFill>
              <a:srgbClr val="DCE5EC"/>
            </a:solidFill>
            <a:prstDash val="solid"/>
          </a:ln>
        </p:spPr>
      </p:sp>
      <p:sp>
        <p:nvSpPr>
          <p:cNvPr id="5" name="Text 3"/>
          <p:cNvSpPr/>
          <p:nvPr/>
        </p:nvSpPr>
        <p:spPr>
          <a:xfrm>
            <a:off x="548640" y="6455664"/>
            <a:ext cx="9966960" cy="122936"/>
          </a:xfrm>
          <a:prstGeom prst="rect">
            <a:avLst/>
          </a:prstGeom>
          <a:noFill/>
          <a:ln/>
        </p:spPr>
        <p:txBody>
          <a:bodyPr wrap="square" lIns="0" tIns="0" rIns="0" bIns="0" rtlCol="0" anchor="t"/>
          <a:lstStyle/>
          <a:p>
            <a:pPr algn="l" indent="0" marL="0">
              <a:buNone/>
            </a:pPr>
            <a:r>
              <a:rPr lang="en-US" sz="800" dirty="0">
                <a:solidFill>
                  <a:srgbClr val="617487"/>
                </a:solidFill>
                <a:latin typeface="DejaVu Sans" pitchFamily="34" charset="0"/>
                <a:ea typeface="DejaVu Sans" pitchFamily="34" charset="-122"/>
                <a:cs typeface="DejaVu Sans" pitchFamily="34" charset="-120"/>
              </a:rPr>
              <a:t>StockPilot • Hackathon pitch</a:t>
            </a:r>
            <a:endParaRPr lang="en-US" sz="800" dirty="0"/>
          </a:p>
        </p:txBody>
      </p:sp>
      <p:sp>
        <p:nvSpPr>
          <p:cNvPr id="6" name="Text 4"/>
          <p:cNvSpPr/>
          <p:nvPr/>
        </p:nvSpPr>
        <p:spPr>
          <a:xfrm>
            <a:off x="10287000" y="6428232"/>
            <a:ext cx="1353312" cy="138303"/>
          </a:xfrm>
          <a:prstGeom prst="rect">
            <a:avLst/>
          </a:prstGeom>
          <a:noFill/>
          <a:ln/>
        </p:spPr>
        <p:txBody>
          <a:bodyPr wrap="square" lIns="0" tIns="0" rIns="0" bIns="0" rtlCol="0" anchor="t"/>
          <a:lstStyle/>
          <a:p>
            <a:pPr algn="r" indent="0" marL="0">
              <a:buNone/>
            </a:pPr>
            <a:r>
              <a:rPr lang="en-US" sz="900" dirty="0">
                <a:solidFill>
                  <a:srgbClr val="617487"/>
                </a:solidFill>
                <a:latin typeface="DejaVu Sans" pitchFamily="34" charset="0"/>
                <a:ea typeface="DejaVu Sans" pitchFamily="34" charset="-122"/>
                <a:cs typeface="DejaVu Sans" pitchFamily="34" charset="-120"/>
              </a:rPr>
              <a:t>03 / 15</a:t>
            </a:r>
            <a:endParaRPr lang="en-US" sz="900" dirty="0"/>
          </a:p>
        </p:txBody>
      </p:sp>
      <p:sp>
        <p:nvSpPr>
          <p:cNvPr id="7" name="Shape 5"/>
          <p:cNvSpPr/>
          <p:nvPr/>
        </p:nvSpPr>
        <p:spPr>
          <a:xfrm>
            <a:off x="548640" y="1719072"/>
            <a:ext cx="11100816" cy="1399032"/>
          </a:xfrm>
          <a:prstGeom prst="rect">
            <a:avLst/>
          </a:prstGeom>
          <a:solidFill>
            <a:srgbClr val="FFFFFF"/>
          </a:solidFill>
          <a:ln w="8890">
            <a:solidFill>
              <a:srgbClr val="DCE5EC"/>
            </a:solidFill>
            <a:prstDash val="solid"/>
          </a:ln>
        </p:spPr>
      </p:sp>
      <p:sp>
        <p:nvSpPr>
          <p:cNvPr id="8" name="Text 6"/>
          <p:cNvSpPr/>
          <p:nvPr/>
        </p:nvSpPr>
        <p:spPr>
          <a:xfrm>
            <a:off x="813816" y="1993392"/>
            <a:ext cx="10469880" cy="299657"/>
          </a:xfrm>
          <a:prstGeom prst="rect">
            <a:avLst/>
          </a:prstGeom>
          <a:noFill/>
          <a:ln/>
        </p:spPr>
        <p:txBody>
          <a:bodyPr wrap="square" lIns="0" tIns="0" rIns="0" bIns="0" rtlCol="0" anchor="t"/>
          <a:lstStyle/>
          <a:p>
            <a:pPr algn="l" indent="0" marL="0">
              <a:buNone/>
            </a:pPr>
            <a:r>
              <a:rPr lang="en-US" sz="1950" b="1" dirty="0">
                <a:solidFill>
                  <a:srgbClr val="182B42"/>
                </a:solidFill>
                <a:latin typeface="DejaVu Sans" pitchFamily="34" charset="0"/>
                <a:ea typeface="DejaVu Sans" pitchFamily="34" charset="-122"/>
                <a:cs typeface="DejaVu Sans" pitchFamily="34" charset="-120"/>
              </a:rPr>
              <a:t>“Recover both urgent sensor orders within four days. Reserve available</a:t>
            </a:r>
            <a:endParaRPr lang="en-US" sz="1950" dirty="0"/>
          </a:p>
        </p:txBody>
      </p:sp>
      <p:sp>
        <p:nvSpPr>
          <p:cNvPr id="9" name="Text 7"/>
          <p:cNvSpPr/>
          <p:nvPr/>
        </p:nvSpPr>
        <p:spPr>
          <a:xfrm>
            <a:off x="813816" y="2295525"/>
            <a:ext cx="10469880" cy="299657"/>
          </a:xfrm>
          <a:prstGeom prst="rect">
            <a:avLst/>
          </a:prstGeom>
          <a:noFill/>
          <a:ln/>
        </p:spPr>
        <p:txBody>
          <a:bodyPr wrap="square" lIns="0" tIns="0" rIns="0" bIns="0" rtlCol="0" anchor="t"/>
          <a:lstStyle/>
          <a:p>
            <a:pPr algn="l" indent="0" marL="0">
              <a:buNone/>
            </a:pPr>
            <a:r>
              <a:rPr lang="en-US" sz="1950" b="1" dirty="0">
                <a:solidFill>
                  <a:srgbClr val="182B42"/>
                </a:solidFill>
                <a:latin typeface="DejaVu Sans" pitchFamily="34" charset="0"/>
                <a:ea typeface="DejaVu Sans" pitchFamily="34" charset="-122"/>
                <a:cs typeface="DejaVu Sans" pitchFamily="34" charset="-120"/>
              </a:rPr>
              <a:t>stock,</a:t>
            </a:r>
            <a:endParaRPr lang="en-US" sz="1950" dirty="0"/>
          </a:p>
        </p:txBody>
      </p:sp>
      <p:sp>
        <p:nvSpPr>
          <p:cNvPr id="10" name="Text 8"/>
          <p:cNvSpPr/>
          <p:nvPr/>
        </p:nvSpPr>
        <p:spPr>
          <a:xfrm>
            <a:off x="813816" y="2597658"/>
            <a:ext cx="10469880" cy="299657"/>
          </a:xfrm>
          <a:prstGeom prst="rect">
            <a:avLst/>
          </a:prstGeom>
          <a:noFill/>
          <a:ln/>
        </p:spPr>
        <p:txBody>
          <a:bodyPr wrap="square" lIns="0" tIns="0" rIns="0" bIns="0" rtlCol="0" anchor="t"/>
          <a:lstStyle/>
          <a:p>
            <a:pPr algn="l" indent="0" marL="0">
              <a:buNone/>
            </a:pPr>
            <a:r>
              <a:rPr lang="en-US" sz="1950" b="1" dirty="0">
                <a:solidFill>
                  <a:srgbClr val="182B42"/>
                </a:solidFill>
                <a:latin typeface="DejaVu Sans" pitchFamily="34" charset="0"/>
                <a:ea typeface="DejaVu Sans" pitchFamily="34" charset="-122"/>
                <a:cs typeface="DejaVu Sans" pitchFamily="34" charset="-120"/>
              </a:rPr>
              <a:t>purchase only the shortfall, verify allocations and publish a report.”</a:t>
            </a:r>
            <a:endParaRPr lang="en-US" sz="1950" dirty="0"/>
          </a:p>
        </p:txBody>
      </p:sp>
      <p:sp>
        <p:nvSpPr>
          <p:cNvPr id="11" name="Shape 9"/>
          <p:cNvSpPr/>
          <p:nvPr/>
        </p:nvSpPr>
        <p:spPr>
          <a:xfrm>
            <a:off x="594360" y="3392424"/>
            <a:ext cx="2331720" cy="329184"/>
          </a:xfrm>
          <a:prstGeom prst="roundRect">
            <a:avLst/>
          </a:prstGeom>
          <a:solidFill>
            <a:srgbClr val="E9F4F1"/>
          </a:solidFill>
          <a:ln w="12700">
            <a:solidFill>
              <a:srgbClr val="E9F4F1"/>
            </a:solidFill>
            <a:prstDash val="solid"/>
          </a:ln>
        </p:spPr>
      </p:sp>
      <p:sp>
        <p:nvSpPr>
          <p:cNvPr id="12" name="Text 10"/>
          <p:cNvSpPr/>
          <p:nvPr/>
        </p:nvSpPr>
        <p:spPr>
          <a:xfrm>
            <a:off x="667512" y="3451860"/>
            <a:ext cx="2185416" cy="153670"/>
          </a:xfrm>
          <a:prstGeom prst="rect">
            <a:avLst/>
          </a:prstGeom>
          <a:noFill/>
          <a:ln/>
        </p:spPr>
        <p:txBody>
          <a:bodyPr wrap="square" lIns="0" tIns="0" rIns="0" bIns="0" rtlCol="0" anchor="t"/>
          <a:lstStyle/>
          <a:p>
            <a:pPr algn="ctr" indent="0" marL="0">
              <a:buNone/>
            </a:pPr>
            <a:r>
              <a:rPr lang="en-US" sz="1000" b="1" dirty="0">
                <a:solidFill>
                  <a:srgbClr val="166C5C"/>
                </a:solidFill>
                <a:latin typeface="DejaVu Sans" pitchFamily="34" charset="0"/>
                <a:ea typeface="DejaVu Sans" pitchFamily="34" charset="-122"/>
                <a:cs typeface="DejaVu Sans" pitchFamily="34" charset="-120"/>
              </a:rPr>
              <a:t>SCOPE: TWO ORDERS</a:t>
            </a:r>
            <a:endParaRPr lang="en-US" sz="1000" dirty="0"/>
          </a:p>
        </p:txBody>
      </p:sp>
      <p:sp>
        <p:nvSpPr>
          <p:cNvPr id="13" name="Shape 11"/>
          <p:cNvSpPr/>
          <p:nvPr/>
        </p:nvSpPr>
        <p:spPr>
          <a:xfrm>
            <a:off x="3108960" y="3392424"/>
            <a:ext cx="2057400" cy="329184"/>
          </a:xfrm>
          <a:prstGeom prst="roundRect">
            <a:avLst/>
          </a:prstGeom>
          <a:solidFill>
            <a:srgbClr val="FFF1E1"/>
          </a:solidFill>
          <a:ln w="12700">
            <a:solidFill>
              <a:srgbClr val="FFF1E1"/>
            </a:solidFill>
            <a:prstDash val="solid"/>
          </a:ln>
        </p:spPr>
      </p:sp>
      <p:sp>
        <p:nvSpPr>
          <p:cNvPr id="14" name="Text 12"/>
          <p:cNvSpPr/>
          <p:nvPr/>
        </p:nvSpPr>
        <p:spPr>
          <a:xfrm>
            <a:off x="3182112" y="3451860"/>
            <a:ext cx="1911096" cy="153670"/>
          </a:xfrm>
          <a:prstGeom prst="rect">
            <a:avLst/>
          </a:prstGeom>
          <a:noFill/>
          <a:ln/>
        </p:spPr>
        <p:txBody>
          <a:bodyPr wrap="square" lIns="0" tIns="0" rIns="0" bIns="0" rtlCol="0" anchor="t"/>
          <a:lstStyle/>
          <a:p>
            <a:pPr algn="ctr" indent="0" marL="0">
              <a:buNone/>
            </a:pPr>
            <a:r>
              <a:rPr lang="en-US" sz="1000" b="1" dirty="0">
                <a:solidFill>
                  <a:srgbClr val="182B42"/>
                </a:solidFill>
                <a:latin typeface="DejaVu Sans" pitchFamily="34" charset="0"/>
                <a:ea typeface="DejaVu Sans" pitchFamily="34" charset="-122"/>
                <a:cs typeface="DejaVu Sans" pitchFamily="34" charset="-120"/>
              </a:rPr>
              <a:t>BUDGET: $1,500</a:t>
            </a:r>
            <a:endParaRPr lang="en-US" sz="1000" dirty="0"/>
          </a:p>
        </p:txBody>
      </p:sp>
      <p:sp>
        <p:nvSpPr>
          <p:cNvPr id="15" name="Shape 13"/>
          <p:cNvSpPr/>
          <p:nvPr/>
        </p:nvSpPr>
        <p:spPr>
          <a:xfrm>
            <a:off x="5349240" y="3392424"/>
            <a:ext cx="2377440" cy="329184"/>
          </a:xfrm>
          <a:prstGeom prst="roundRect">
            <a:avLst/>
          </a:prstGeom>
          <a:solidFill>
            <a:srgbClr val="E9F4F1"/>
          </a:solidFill>
          <a:ln w="12700">
            <a:solidFill>
              <a:srgbClr val="E9F4F1"/>
            </a:solidFill>
            <a:prstDash val="solid"/>
          </a:ln>
        </p:spPr>
      </p:sp>
      <p:sp>
        <p:nvSpPr>
          <p:cNvPr id="16" name="Text 14"/>
          <p:cNvSpPr/>
          <p:nvPr/>
        </p:nvSpPr>
        <p:spPr>
          <a:xfrm>
            <a:off x="5422392" y="3451860"/>
            <a:ext cx="2231136" cy="153670"/>
          </a:xfrm>
          <a:prstGeom prst="rect">
            <a:avLst/>
          </a:prstGeom>
          <a:noFill/>
          <a:ln/>
        </p:spPr>
        <p:txBody>
          <a:bodyPr wrap="square" lIns="0" tIns="0" rIns="0" bIns="0" rtlCol="0" anchor="t"/>
          <a:lstStyle/>
          <a:p>
            <a:pPr algn="ctr" indent="0" marL="0">
              <a:buNone/>
            </a:pPr>
            <a:r>
              <a:rPr lang="en-US" sz="1000" b="1" dirty="0">
                <a:solidFill>
                  <a:srgbClr val="166C5C"/>
                </a:solidFill>
                <a:latin typeface="DejaVu Sans" pitchFamily="34" charset="0"/>
                <a:ea typeface="DejaVu Sans" pitchFamily="34" charset="-122"/>
                <a:cs typeface="DejaVu Sans" pitchFamily="34" charset="-120"/>
              </a:rPr>
              <a:t>DEADLINE: 4 DAYS</a:t>
            </a:r>
            <a:endParaRPr lang="en-US" sz="1000" dirty="0"/>
          </a:p>
        </p:txBody>
      </p:sp>
      <p:sp>
        <p:nvSpPr>
          <p:cNvPr id="17" name="Shape 15"/>
          <p:cNvSpPr/>
          <p:nvPr/>
        </p:nvSpPr>
        <p:spPr>
          <a:xfrm>
            <a:off x="548640" y="4142232"/>
            <a:ext cx="2560320" cy="1234440"/>
          </a:xfrm>
          <a:prstGeom prst="rect">
            <a:avLst/>
          </a:prstGeom>
          <a:solidFill>
            <a:srgbClr val="132235"/>
          </a:solidFill>
          <a:ln w="12700">
            <a:solidFill>
              <a:srgbClr val="132235"/>
            </a:solidFill>
            <a:prstDash val="solid"/>
          </a:ln>
        </p:spPr>
      </p:sp>
      <p:sp>
        <p:nvSpPr>
          <p:cNvPr id="18" name="Text 16"/>
          <p:cNvSpPr/>
          <p:nvPr/>
        </p:nvSpPr>
        <p:spPr>
          <a:xfrm>
            <a:off x="713232" y="4343400"/>
            <a:ext cx="2231136" cy="322707"/>
          </a:xfrm>
          <a:prstGeom prst="rect">
            <a:avLst/>
          </a:prstGeom>
          <a:noFill/>
          <a:ln/>
        </p:spPr>
        <p:txBody>
          <a:bodyPr wrap="square" lIns="0" tIns="0" rIns="0" bIns="0" rtlCol="0" anchor="t"/>
          <a:lstStyle/>
          <a:p>
            <a:pPr algn="l" indent="0" marL="0">
              <a:buNone/>
            </a:pPr>
            <a:r>
              <a:rPr lang="en-US" sz="2100" b="1" dirty="0">
                <a:solidFill>
                  <a:srgbClr val="FFFFFF"/>
                </a:solidFill>
                <a:latin typeface="DejaVu Sans" pitchFamily="34" charset="0"/>
                <a:ea typeface="DejaVu Sans" pitchFamily="34" charset="-122"/>
                <a:cs typeface="DejaVu Sans" pitchFamily="34" charset="-120"/>
              </a:rPr>
              <a:t>Understand</a:t>
            </a:r>
            <a:endParaRPr lang="en-US" sz="2100" dirty="0"/>
          </a:p>
        </p:txBody>
      </p:sp>
      <p:sp>
        <p:nvSpPr>
          <p:cNvPr id="19" name="Text 17"/>
          <p:cNvSpPr/>
          <p:nvPr/>
        </p:nvSpPr>
        <p:spPr>
          <a:xfrm>
            <a:off x="713232" y="4882896"/>
            <a:ext cx="2231136" cy="184404"/>
          </a:xfrm>
          <a:prstGeom prst="rect">
            <a:avLst/>
          </a:prstGeom>
          <a:noFill/>
          <a:ln/>
        </p:spPr>
        <p:txBody>
          <a:bodyPr wrap="square" lIns="0" tIns="0" rIns="0" bIns="0" rtlCol="0" anchor="t"/>
          <a:lstStyle/>
          <a:p>
            <a:pPr algn="l" indent="0" marL="0">
              <a:buNone/>
            </a:pPr>
            <a:r>
              <a:rPr lang="en-US" sz="1200" dirty="0">
                <a:solidFill>
                  <a:srgbClr val="B8CBDC"/>
                </a:solidFill>
                <a:latin typeface="DejaVu Sans" pitchFamily="34" charset="0"/>
                <a:ea typeface="DejaVu Sans" pitchFamily="34" charset="-122"/>
                <a:cs typeface="DejaVu Sans" pitchFamily="34" charset="-120"/>
              </a:rPr>
              <a:t>Read current records</a:t>
            </a:r>
            <a:endParaRPr lang="en-US" sz="1200" dirty="0"/>
          </a:p>
        </p:txBody>
      </p:sp>
      <p:sp>
        <p:nvSpPr>
          <p:cNvPr id="20" name="Shape 18"/>
          <p:cNvSpPr/>
          <p:nvPr/>
        </p:nvSpPr>
        <p:spPr>
          <a:xfrm>
            <a:off x="3154680" y="4754880"/>
            <a:ext cx="210312" cy="0"/>
          </a:xfrm>
          <a:prstGeom prst="line">
            <a:avLst/>
          </a:prstGeom>
          <a:noFill/>
          <a:ln w="19050">
            <a:solidFill>
              <a:srgbClr val="087F80"/>
            </a:solidFill>
            <a:prstDash val="solid"/>
            <a:tailEnd type="triangle"/>
          </a:ln>
        </p:spPr>
      </p:sp>
      <p:sp>
        <p:nvSpPr>
          <p:cNvPr id="21" name="Shape 19"/>
          <p:cNvSpPr/>
          <p:nvPr/>
        </p:nvSpPr>
        <p:spPr>
          <a:xfrm>
            <a:off x="3401568" y="4142232"/>
            <a:ext cx="2560320" cy="1234440"/>
          </a:xfrm>
          <a:prstGeom prst="rect">
            <a:avLst/>
          </a:prstGeom>
          <a:solidFill>
            <a:srgbClr val="132235"/>
          </a:solidFill>
          <a:ln w="12700">
            <a:solidFill>
              <a:srgbClr val="132235"/>
            </a:solidFill>
            <a:prstDash val="solid"/>
          </a:ln>
        </p:spPr>
      </p:sp>
      <p:sp>
        <p:nvSpPr>
          <p:cNvPr id="22" name="Text 20"/>
          <p:cNvSpPr/>
          <p:nvPr/>
        </p:nvSpPr>
        <p:spPr>
          <a:xfrm>
            <a:off x="3566160" y="4343400"/>
            <a:ext cx="2231136" cy="322707"/>
          </a:xfrm>
          <a:prstGeom prst="rect">
            <a:avLst/>
          </a:prstGeom>
          <a:noFill/>
          <a:ln/>
        </p:spPr>
        <p:txBody>
          <a:bodyPr wrap="square" lIns="0" tIns="0" rIns="0" bIns="0" rtlCol="0" anchor="t"/>
          <a:lstStyle/>
          <a:p>
            <a:pPr algn="l" indent="0" marL="0">
              <a:buNone/>
            </a:pPr>
            <a:r>
              <a:rPr lang="en-US" sz="2100" b="1" dirty="0">
                <a:solidFill>
                  <a:srgbClr val="FFFFFF"/>
                </a:solidFill>
                <a:latin typeface="DejaVu Sans" pitchFamily="34" charset="0"/>
                <a:ea typeface="DejaVu Sans" pitchFamily="34" charset="-122"/>
                <a:cs typeface="DejaVu Sans" pitchFamily="34" charset="-120"/>
              </a:rPr>
              <a:t>Plan</a:t>
            </a:r>
            <a:endParaRPr lang="en-US" sz="2100" dirty="0"/>
          </a:p>
        </p:txBody>
      </p:sp>
      <p:sp>
        <p:nvSpPr>
          <p:cNvPr id="23" name="Text 21"/>
          <p:cNvSpPr/>
          <p:nvPr/>
        </p:nvSpPr>
        <p:spPr>
          <a:xfrm>
            <a:off x="3566160" y="4882896"/>
            <a:ext cx="2231136" cy="184404"/>
          </a:xfrm>
          <a:prstGeom prst="rect">
            <a:avLst/>
          </a:prstGeom>
          <a:noFill/>
          <a:ln/>
        </p:spPr>
        <p:txBody>
          <a:bodyPr wrap="square" lIns="0" tIns="0" rIns="0" bIns="0" rtlCol="0" anchor="t"/>
          <a:lstStyle/>
          <a:p>
            <a:pPr algn="l" indent="0" marL="0">
              <a:buNone/>
            </a:pPr>
            <a:r>
              <a:rPr lang="en-US" sz="1200" dirty="0">
                <a:solidFill>
                  <a:srgbClr val="B8CBDC"/>
                </a:solidFill>
                <a:latin typeface="DejaVu Sans" pitchFamily="34" charset="0"/>
                <a:ea typeface="DejaVu Sans" pitchFamily="34" charset="-122"/>
                <a:cs typeface="DejaVu Sans" pitchFamily="34" charset="-120"/>
              </a:rPr>
              <a:t>Delegate specialist work</a:t>
            </a:r>
            <a:endParaRPr lang="en-US" sz="1200" dirty="0"/>
          </a:p>
        </p:txBody>
      </p:sp>
      <p:sp>
        <p:nvSpPr>
          <p:cNvPr id="24" name="Shape 22"/>
          <p:cNvSpPr/>
          <p:nvPr/>
        </p:nvSpPr>
        <p:spPr>
          <a:xfrm>
            <a:off x="6007608" y="4754880"/>
            <a:ext cx="210312" cy="0"/>
          </a:xfrm>
          <a:prstGeom prst="line">
            <a:avLst/>
          </a:prstGeom>
          <a:noFill/>
          <a:ln w="19050">
            <a:solidFill>
              <a:srgbClr val="087F80"/>
            </a:solidFill>
            <a:prstDash val="solid"/>
            <a:tailEnd type="triangle"/>
          </a:ln>
        </p:spPr>
      </p:sp>
      <p:sp>
        <p:nvSpPr>
          <p:cNvPr id="25" name="Shape 23"/>
          <p:cNvSpPr/>
          <p:nvPr/>
        </p:nvSpPr>
        <p:spPr>
          <a:xfrm>
            <a:off x="6254496" y="4142232"/>
            <a:ext cx="2560320" cy="1234440"/>
          </a:xfrm>
          <a:prstGeom prst="rect">
            <a:avLst/>
          </a:prstGeom>
          <a:solidFill>
            <a:srgbClr val="132235"/>
          </a:solidFill>
          <a:ln w="12700">
            <a:solidFill>
              <a:srgbClr val="132235"/>
            </a:solidFill>
            <a:prstDash val="solid"/>
          </a:ln>
        </p:spPr>
      </p:sp>
      <p:sp>
        <p:nvSpPr>
          <p:cNvPr id="26" name="Text 24"/>
          <p:cNvSpPr/>
          <p:nvPr/>
        </p:nvSpPr>
        <p:spPr>
          <a:xfrm>
            <a:off x="6419088" y="4343400"/>
            <a:ext cx="2231136" cy="322707"/>
          </a:xfrm>
          <a:prstGeom prst="rect">
            <a:avLst/>
          </a:prstGeom>
          <a:noFill/>
          <a:ln/>
        </p:spPr>
        <p:txBody>
          <a:bodyPr wrap="square" lIns="0" tIns="0" rIns="0" bIns="0" rtlCol="0" anchor="t"/>
          <a:lstStyle/>
          <a:p>
            <a:pPr algn="l" indent="0" marL="0">
              <a:buNone/>
            </a:pPr>
            <a:r>
              <a:rPr lang="en-US" sz="2100" b="1" dirty="0">
                <a:solidFill>
                  <a:srgbClr val="FFFFFF"/>
                </a:solidFill>
                <a:latin typeface="DejaVu Sans" pitchFamily="34" charset="0"/>
                <a:ea typeface="DejaVu Sans" pitchFamily="34" charset="-122"/>
                <a:cs typeface="DejaVu Sans" pitchFamily="34" charset="-120"/>
              </a:rPr>
              <a:t>Act</a:t>
            </a:r>
            <a:endParaRPr lang="en-US" sz="2100" dirty="0"/>
          </a:p>
        </p:txBody>
      </p:sp>
      <p:sp>
        <p:nvSpPr>
          <p:cNvPr id="27" name="Text 25"/>
          <p:cNvSpPr/>
          <p:nvPr/>
        </p:nvSpPr>
        <p:spPr>
          <a:xfrm>
            <a:off x="6419088" y="4882896"/>
            <a:ext cx="2231136" cy="184404"/>
          </a:xfrm>
          <a:prstGeom prst="rect">
            <a:avLst/>
          </a:prstGeom>
          <a:noFill/>
          <a:ln/>
        </p:spPr>
        <p:txBody>
          <a:bodyPr wrap="square" lIns="0" tIns="0" rIns="0" bIns="0" rtlCol="0" anchor="t"/>
          <a:lstStyle/>
          <a:p>
            <a:pPr algn="l" indent="0" marL="0">
              <a:buNone/>
            </a:pPr>
            <a:r>
              <a:rPr lang="en-US" sz="1200" dirty="0">
                <a:solidFill>
                  <a:srgbClr val="B8CBDC"/>
                </a:solidFill>
                <a:latin typeface="DejaVu Sans" pitchFamily="34" charset="0"/>
                <a:ea typeface="DejaVu Sans" pitchFamily="34" charset="-122"/>
                <a:cs typeface="DejaVu Sans" pitchFamily="34" charset="-120"/>
              </a:rPr>
              <a:t>Use controlled tools</a:t>
            </a:r>
            <a:endParaRPr lang="en-US" sz="1200" dirty="0"/>
          </a:p>
        </p:txBody>
      </p:sp>
      <p:sp>
        <p:nvSpPr>
          <p:cNvPr id="28" name="Shape 26"/>
          <p:cNvSpPr/>
          <p:nvPr/>
        </p:nvSpPr>
        <p:spPr>
          <a:xfrm>
            <a:off x="8860536" y="4754880"/>
            <a:ext cx="210312" cy="0"/>
          </a:xfrm>
          <a:prstGeom prst="line">
            <a:avLst/>
          </a:prstGeom>
          <a:noFill/>
          <a:ln w="19050">
            <a:solidFill>
              <a:srgbClr val="087F80"/>
            </a:solidFill>
            <a:prstDash val="solid"/>
            <a:tailEnd type="triangle"/>
          </a:ln>
        </p:spPr>
      </p:sp>
      <p:sp>
        <p:nvSpPr>
          <p:cNvPr id="29" name="Shape 27"/>
          <p:cNvSpPr/>
          <p:nvPr/>
        </p:nvSpPr>
        <p:spPr>
          <a:xfrm>
            <a:off x="9107424" y="4142232"/>
            <a:ext cx="2560320" cy="1234440"/>
          </a:xfrm>
          <a:prstGeom prst="rect">
            <a:avLst/>
          </a:prstGeom>
          <a:solidFill>
            <a:srgbClr val="132235"/>
          </a:solidFill>
          <a:ln w="12700">
            <a:solidFill>
              <a:srgbClr val="132235"/>
            </a:solidFill>
            <a:prstDash val="solid"/>
          </a:ln>
        </p:spPr>
      </p:sp>
      <p:sp>
        <p:nvSpPr>
          <p:cNvPr id="30" name="Text 28"/>
          <p:cNvSpPr/>
          <p:nvPr/>
        </p:nvSpPr>
        <p:spPr>
          <a:xfrm>
            <a:off x="9272016" y="4343400"/>
            <a:ext cx="2231136" cy="322707"/>
          </a:xfrm>
          <a:prstGeom prst="rect">
            <a:avLst/>
          </a:prstGeom>
          <a:noFill/>
          <a:ln/>
        </p:spPr>
        <p:txBody>
          <a:bodyPr wrap="square" lIns="0" tIns="0" rIns="0" bIns="0" rtlCol="0" anchor="t"/>
          <a:lstStyle/>
          <a:p>
            <a:pPr algn="l" indent="0" marL="0">
              <a:buNone/>
            </a:pPr>
            <a:r>
              <a:rPr lang="en-US" sz="2100" b="1" dirty="0">
                <a:solidFill>
                  <a:srgbClr val="FFFFFF"/>
                </a:solidFill>
                <a:latin typeface="DejaVu Sans" pitchFamily="34" charset="0"/>
                <a:ea typeface="DejaVu Sans" pitchFamily="34" charset="-122"/>
                <a:cs typeface="DejaVu Sans" pitchFamily="34" charset="-120"/>
              </a:rPr>
              <a:t>Prove</a:t>
            </a:r>
            <a:endParaRPr lang="en-US" sz="2100" dirty="0"/>
          </a:p>
        </p:txBody>
      </p:sp>
      <p:sp>
        <p:nvSpPr>
          <p:cNvPr id="31" name="Text 29"/>
          <p:cNvSpPr/>
          <p:nvPr/>
        </p:nvSpPr>
        <p:spPr>
          <a:xfrm>
            <a:off x="9272016" y="4882896"/>
            <a:ext cx="2231136" cy="184404"/>
          </a:xfrm>
          <a:prstGeom prst="rect">
            <a:avLst/>
          </a:prstGeom>
          <a:noFill/>
          <a:ln/>
        </p:spPr>
        <p:txBody>
          <a:bodyPr wrap="square" lIns="0" tIns="0" rIns="0" bIns="0" rtlCol="0" anchor="t"/>
          <a:lstStyle/>
          <a:p>
            <a:pPr algn="l" indent="0" marL="0">
              <a:buNone/>
            </a:pPr>
            <a:r>
              <a:rPr lang="en-US" sz="1200" dirty="0">
                <a:solidFill>
                  <a:srgbClr val="B8CBDC"/>
                </a:solidFill>
                <a:latin typeface="DejaVu Sans" pitchFamily="34" charset="0"/>
                <a:ea typeface="DejaVu Sans" pitchFamily="34" charset="-122"/>
                <a:cs typeface="DejaVu Sans" pitchFamily="34" charset="-120"/>
              </a:rPr>
              <a:t>Verify and report</a:t>
            </a:r>
            <a:endParaRPr lang="en-US" sz="1200" dirty="0"/>
          </a:p>
        </p:txBody>
      </p:sp>
      <p:sp>
        <p:nvSpPr>
          <p:cNvPr id="32" name="Text 30"/>
          <p:cNvSpPr/>
          <p:nvPr/>
        </p:nvSpPr>
        <p:spPr>
          <a:xfrm>
            <a:off x="585216" y="5751576"/>
            <a:ext cx="10972800" cy="230505"/>
          </a:xfrm>
          <a:prstGeom prst="rect">
            <a:avLst/>
          </a:prstGeom>
          <a:noFill/>
          <a:ln/>
        </p:spPr>
        <p:txBody>
          <a:bodyPr wrap="square" lIns="0" tIns="0" rIns="0" bIns="0" rtlCol="0" anchor="t"/>
          <a:lstStyle/>
          <a:p>
            <a:pPr algn="l" indent="0" marL="0">
              <a:buNone/>
            </a:pPr>
            <a:r>
              <a:rPr lang="en-US" sz="1500" dirty="0">
                <a:solidFill>
                  <a:srgbClr val="617487"/>
                </a:solidFill>
                <a:latin typeface="DejaVu Sans" pitchFamily="34" charset="0"/>
                <a:ea typeface="DejaVu Sans" pitchFamily="34" charset="-122"/>
                <a:cs typeface="DejaVu Sans" pitchFamily="34" charset="-120"/>
              </a:rPr>
              <a:t>The goal guides planning. Explicit scope, budget and deadline remain authoritative.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548640" y="338328"/>
            <a:ext cx="10332720" cy="153670"/>
          </a:xfrm>
          <a:prstGeom prst="rect">
            <a:avLst/>
          </a:prstGeom>
          <a:noFill/>
          <a:ln/>
        </p:spPr>
        <p:txBody>
          <a:bodyPr wrap="square" lIns="0" tIns="0" rIns="0" bIns="0" rtlCol="0" anchor="t"/>
          <a:lstStyle/>
          <a:p>
            <a:pPr algn="l" indent="0" marL="0">
              <a:buNone/>
            </a:pPr>
            <a:r>
              <a:rPr lang="en-US" sz="1000" b="1" dirty="0">
                <a:solidFill>
                  <a:srgbClr val="087F80"/>
                </a:solidFill>
                <a:latin typeface="DejaVu Sans" pitchFamily="34" charset="0"/>
                <a:ea typeface="DejaVu Sans" pitchFamily="34" charset="-122"/>
                <a:cs typeface="DejaVu Sans" pitchFamily="34" charset="-120"/>
              </a:rPr>
              <a:t>AGENTIC ARCHITECTURE</a:t>
            </a:r>
            <a:endParaRPr lang="en-US" sz="1000" dirty="0"/>
          </a:p>
        </p:txBody>
      </p:sp>
      <p:sp>
        <p:nvSpPr>
          <p:cNvPr id="3" name="Text 1"/>
          <p:cNvSpPr/>
          <p:nvPr/>
        </p:nvSpPr>
        <p:spPr>
          <a:xfrm>
            <a:off x="548640" y="758952"/>
            <a:ext cx="11064240" cy="445643"/>
          </a:xfrm>
          <a:prstGeom prst="rect">
            <a:avLst/>
          </a:prstGeom>
          <a:noFill/>
          <a:ln/>
        </p:spPr>
        <p:txBody>
          <a:bodyPr wrap="square" lIns="0" tIns="0" rIns="0" bIns="0" rtlCol="0" anchor="t"/>
          <a:lstStyle/>
          <a:p>
            <a:pPr algn="l" indent="0" marL="0">
              <a:buNone/>
            </a:pPr>
            <a:r>
              <a:rPr lang="en-US" sz="2900" b="1" dirty="0">
                <a:solidFill>
                  <a:srgbClr val="182B42"/>
                </a:solidFill>
                <a:latin typeface="DejaVu Sans" pitchFamily="34" charset="0"/>
                <a:ea typeface="DejaVu Sans" pitchFamily="34" charset="-122"/>
                <a:cs typeface="DejaVu Sans" pitchFamily="34" charset="-120"/>
              </a:rPr>
              <a:t>Six roles. One coordinated workflow.</a:t>
            </a:r>
            <a:endParaRPr lang="en-US" sz="2900" dirty="0"/>
          </a:p>
        </p:txBody>
      </p:sp>
      <p:sp>
        <p:nvSpPr>
          <p:cNvPr id="4" name="Shape 2"/>
          <p:cNvSpPr/>
          <p:nvPr/>
        </p:nvSpPr>
        <p:spPr>
          <a:xfrm>
            <a:off x="548640" y="6345936"/>
            <a:ext cx="11091672" cy="0"/>
          </a:xfrm>
          <a:prstGeom prst="line">
            <a:avLst/>
          </a:prstGeom>
          <a:noFill/>
          <a:ln w="10160">
            <a:solidFill>
              <a:srgbClr val="DCE5EC"/>
            </a:solidFill>
            <a:prstDash val="solid"/>
          </a:ln>
        </p:spPr>
      </p:sp>
      <p:sp>
        <p:nvSpPr>
          <p:cNvPr id="5" name="Text 3"/>
          <p:cNvSpPr/>
          <p:nvPr/>
        </p:nvSpPr>
        <p:spPr>
          <a:xfrm>
            <a:off x="548640" y="6455664"/>
            <a:ext cx="9966960" cy="122936"/>
          </a:xfrm>
          <a:prstGeom prst="rect">
            <a:avLst/>
          </a:prstGeom>
          <a:noFill/>
          <a:ln/>
        </p:spPr>
        <p:txBody>
          <a:bodyPr wrap="square" lIns="0" tIns="0" rIns="0" bIns="0" rtlCol="0" anchor="t"/>
          <a:lstStyle/>
          <a:p>
            <a:pPr algn="l" indent="0" marL="0">
              <a:buNone/>
            </a:pPr>
            <a:r>
              <a:rPr lang="en-US" sz="800" dirty="0">
                <a:solidFill>
                  <a:srgbClr val="617487"/>
                </a:solidFill>
                <a:latin typeface="DejaVu Sans" pitchFamily="34" charset="0"/>
                <a:ea typeface="DejaVu Sans" pitchFamily="34" charset="-122"/>
                <a:cs typeface="DejaVu Sans" pitchFamily="34" charset="-120"/>
              </a:rPr>
              <a:t>StockPilot • Hackathon pitch</a:t>
            </a:r>
            <a:endParaRPr lang="en-US" sz="800" dirty="0"/>
          </a:p>
        </p:txBody>
      </p:sp>
      <p:sp>
        <p:nvSpPr>
          <p:cNvPr id="6" name="Text 4"/>
          <p:cNvSpPr/>
          <p:nvPr/>
        </p:nvSpPr>
        <p:spPr>
          <a:xfrm>
            <a:off x="10287000" y="6428232"/>
            <a:ext cx="1353312" cy="138303"/>
          </a:xfrm>
          <a:prstGeom prst="rect">
            <a:avLst/>
          </a:prstGeom>
          <a:noFill/>
          <a:ln/>
        </p:spPr>
        <p:txBody>
          <a:bodyPr wrap="square" lIns="0" tIns="0" rIns="0" bIns="0" rtlCol="0" anchor="t"/>
          <a:lstStyle/>
          <a:p>
            <a:pPr algn="r" indent="0" marL="0">
              <a:buNone/>
            </a:pPr>
            <a:r>
              <a:rPr lang="en-US" sz="900" dirty="0">
                <a:solidFill>
                  <a:srgbClr val="617487"/>
                </a:solidFill>
                <a:latin typeface="DejaVu Sans" pitchFamily="34" charset="0"/>
                <a:ea typeface="DejaVu Sans" pitchFamily="34" charset="-122"/>
                <a:cs typeface="DejaVu Sans" pitchFamily="34" charset="-120"/>
              </a:rPr>
              <a:t>04 / 15</a:t>
            </a:r>
            <a:endParaRPr lang="en-US" sz="900" dirty="0"/>
          </a:p>
        </p:txBody>
      </p:sp>
      <p:sp>
        <p:nvSpPr>
          <p:cNvPr id="7" name="Shape 5"/>
          <p:cNvSpPr/>
          <p:nvPr/>
        </p:nvSpPr>
        <p:spPr>
          <a:xfrm>
            <a:off x="3136392" y="1709928"/>
            <a:ext cx="5916168" cy="960120"/>
          </a:xfrm>
          <a:prstGeom prst="rect">
            <a:avLst/>
          </a:prstGeom>
          <a:solidFill>
            <a:srgbClr val="132235"/>
          </a:solidFill>
          <a:ln w="12700">
            <a:solidFill>
              <a:srgbClr val="132235"/>
            </a:solidFill>
            <a:prstDash val="solid"/>
          </a:ln>
        </p:spPr>
      </p:sp>
      <p:sp>
        <p:nvSpPr>
          <p:cNvPr id="8" name="Text 6"/>
          <p:cNvSpPr/>
          <p:nvPr/>
        </p:nvSpPr>
        <p:spPr>
          <a:xfrm>
            <a:off x="3383280" y="1865376"/>
            <a:ext cx="5422392" cy="315023"/>
          </a:xfrm>
          <a:prstGeom prst="rect">
            <a:avLst/>
          </a:prstGeom>
          <a:noFill/>
          <a:ln/>
        </p:spPr>
        <p:txBody>
          <a:bodyPr wrap="square" lIns="0" tIns="0" rIns="0" bIns="0" rtlCol="0" anchor="t"/>
          <a:lstStyle/>
          <a:p>
            <a:pPr algn="ctr" indent="0" marL="0">
              <a:buNone/>
            </a:pPr>
            <a:r>
              <a:rPr lang="en-US" sz="2050" b="1" dirty="0">
                <a:solidFill>
                  <a:srgbClr val="FFFFFF"/>
                </a:solidFill>
                <a:latin typeface="DejaVu Sans" pitchFamily="34" charset="0"/>
                <a:ea typeface="DejaVu Sans" pitchFamily="34" charset="-122"/>
                <a:cs typeface="DejaVu Sans" pitchFamily="34" charset="-120"/>
              </a:rPr>
              <a:t>Orchestrator</a:t>
            </a:r>
            <a:endParaRPr lang="en-US" sz="2050" dirty="0"/>
          </a:p>
        </p:txBody>
      </p:sp>
      <p:sp>
        <p:nvSpPr>
          <p:cNvPr id="9" name="Text 7"/>
          <p:cNvSpPr/>
          <p:nvPr/>
        </p:nvSpPr>
        <p:spPr>
          <a:xfrm>
            <a:off x="3383280" y="2340864"/>
            <a:ext cx="5422392" cy="184404"/>
          </a:xfrm>
          <a:prstGeom prst="rect">
            <a:avLst/>
          </a:prstGeom>
          <a:noFill/>
          <a:ln/>
        </p:spPr>
        <p:txBody>
          <a:bodyPr wrap="square" lIns="0" tIns="0" rIns="0" bIns="0" rtlCol="0" anchor="t"/>
          <a:lstStyle/>
          <a:p>
            <a:pPr algn="ctr" indent="0" marL="0">
              <a:buNone/>
            </a:pPr>
            <a:r>
              <a:rPr lang="en-US" sz="1200" dirty="0">
                <a:solidFill>
                  <a:srgbClr val="B8CBDC"/>
                </a:solidFill>
                <a:latin typeface="DejaVu Sans" pitchFamily="34" charset="0"/>
                <a:ea typeface="DejaVu Sans" pitchFamily="34" charset="-122"/>
                <a:cs typeface="DejaVu Sans" pitchFamily="34" charset="-120"/>
              </a:rPr>
              <a:t>Interprets the goal • Delegates • Revises the plan</a:t>
            </a:r>
            <a:endParaRPr lang="en-US" sz="1200" dirty="0"/>
          </a:p>
        </p:txBody>
      </p:sp>
      <p:sp>
        <p:nvSpPr>
          <p:cNvPr id="10" name="Shape 8"/>
          <p:cNvSpPr/>
          <p:nvPr/>
        </p:nvSpPr>
        <p:spPr>
          <a:xfrm>
            <a:off x="6099048" y="2706624"/>
            <a:ext cx="0" cy="256032"/>
          </a:xfrm>
          <a:prstGeom prst="line">
            <a:avLst/>
          </a:prstGeom>
          <a:noFill/>
          <a:ln w="19050">
            <a:solidFill>
              <a:srgbClr val="087F80"/>
            </a:solidFill>
            <a:prstDash val="solid"/>
          </a:ln>
        </p:spPr>
      </p:sp>
      <p:sp>
        <p:nvSpPr>
          <p:cNvPr id="11" name="Shape 9"/>
          <p:cNvSpPr/>
          <p:nvPr/>
        </p:nvSpPr>
        <p:spPr>
          <a:xfrm>
            <a:off x="1600200" y="2962656"/>
            <a:ext cx="9006840" cy="0"/>
          </a:xfrm>
          <a:prstGeom prst="line">
            <a:avLst/>
          </a:prstGeom>
          <a:noFill/>
          <a:ln w="19050">
            <a:solidFill>
              <a:srgbClr val="087F80"/>
            </a:solidFill>
            <a:prstDash val="solid"/>
          </a:ln>
        </p:spPr>
      </p:sp>
      <p:sp>
        <p:nvSpPr>
          <p:cNvPr id="12" name="Shape 10"/>
          <p:cNvSpPr/>
          <p:nvPr/>
        </p:nvSpPr>
        <p:spPr>
          <a:xfrm>
            <a:off x="1600200" y="2962656"/>
            <a:ext cx="0" cy="265176"/>
          </a:xfrm>
          <a:prstGeom prst="line">
            <a:avLst/>
          </a:prstGeom>
          <a:noFill/>
          <a:ln w="19050">
            <a:solidFill>
              <a:srgbClr val="087F80"/>
            </a:solidFill>
            <a:prstDash val="solid"/>
            <a:tailEnd type="triangle"/>
          </a:ln>
        </p:spPr>
      </p:sp>
      <p:sp>
        <p:nvSpPr>
          <p:cNvPr id="13" name="Shape 11"/>
          <p:cNvSpPr/>
          <p:nvPr/>
        </p:nvSpPr>
        <p:spPr>
          <a:xfrm>
            <a:off x="548640" y="3255264"/>
            <a:ext cx="2103120" cy="2066544"/>
          </a:xfrm>
          <a:prstGeom prst="rect">
            <a:avLst/>
          </a:prstGeom>
          <a:solidFill>
            <a:srgbClr val="FFFFFF"/>
          </a:solidFill>
          <a:ln w="8890">
            <a:solidFill>
              <a:srgbClr val="DCE5EC"/>
            </a:solidFill>
            <a:prstDash val="solid"/>
          </a:ln>
        </p:spPr>
      </p:sp>
      <p:sp>
        <p:nvSpPr>
          <p:cNvPr id="14" name="Shape 12"/>
          <p:cNvSpPr/>
          <p:nvPr/>
        </p:nvSpPr>
        <p:spPr>
          <a:xfrm>
            <a:off x="548640" y="3255264"/>
            <a:ext cx="41148" cy="2066544"/>
          </a:xfrm>
          <a:prstGeom prst="rect">
            <a:avLst/>
          </a:prstGeom>
          <a:solidFill>
            <a:srgbClr val="087F80"/>
          </a:solidFill>
          <a:ln w="12700">
            <a:solidFill>
              <a:srgbClr val="087F80"/>
            </a:solidFill>
            <a:prstDash val="solid"/>
          </a:ln>
        </p:spPr>
      </p:sp>
      <p:sp>
        <p:nvSpPr>
          <p:cNvPr id="15" name="Text 13"/>
          <p:cNvSpPr/>
          <p:nvPr/>
        </p:nvSpPr>
        <p:spPr>
          <a:xfrm>
            <a:off x="749808" y="3438144"/>
            <a:ext cx="1700784" cy="238189"/>
          </a:xfrm>
          <a:prstGeom prst="rect">
            <a:avLst/>
          </a:prstGeom>
          <a:noFill/>
          <a:ln/>
        </p:spPr>
        <p:txBody>
          <a:bodyPr wrap="square" lIns="0" tIns="0" rIns="0" bIns="0" rtlCol="0" anchor="t"/>
          <a:lstStyle/>
          <a:p>
            <a:pPr algn="l" indent="0" marL="0">
              <a:buNone/>
            </a:pPr>
            <a:r>
              <a:rPr lang="en-US" sz="1550" b="1" dirty="0">
                <a:solidFill>
                  <a:srgbClr val="182B42"/>
                </a:solidFill>
                <a:latin typeface="DejaVu Sans" pitchFamily="34" charset="0"/>
                <a:ea typeface="DejaVu Sans" pitchFamily="34" charset="-122"/>
                <a:cs typeface="DejaVu Sans" pitchFamily="34" charset="-120"/>
              </a:rPr>
              <a:t>Research</a:t>
            </a:r>
            <a:endParaRPr lang="en-US" sz="1550" dirty="0"/>
          </a:p>
        </p:txBody>
      </p:sp>
      <p:sp>
        <p:nvSpPr>
          <p:cNvPr id="16" name="Text 14"/>
          <p:cNvSpPr/>
          <p:nvPr/>
        </p:nvSpPr>
        <p:spPr>
          <a:xfrm>
            <a:off x="749808" y="4123944"/>
            <a:ext cx="1700784" cy="215138"/>
          </a:xfrm>
          <a:prstGeom prst="rect">
            <a:avLst/>
          </a:prstGeom>
          <a:noFill/>
          <a:ln/>
        </p:spPr>
        <p:txBody>
          <a:bodyPr wrap="square" lIns="0" tIns="0" rIns="0" bIns="0" rtlCol="0" anchor="t"/>
          <a:lstStyle/>
          <a:p>
            <a:pPr algn="l" indent="0" marL="0">
              <a:buNone/>
            </a:pPr>
            <a:r>
              <a:rPr lang="en-US" sz="1400" dirty="0">
                <a:solidFill>
                  <a:srgbClr val="617487"/>
                </a:solidFill>
                <a:latin typeface="DejaVu Sans" pitchFamily="34" charset="0"/>
                <a:ea typeface="DejaVu Sans" pitchFamily="34" charset="-122"/>
                <a:cs typeface="DejaVu Sans" pitchFamily="34" charset="-120"/>
              </a:rPr>
              <a:t>Read inventory,</a:t>
            </a:r>
            <a:endParaRPr lang="en-US" sz="1400" dirty="0"/>
          </a:p>
        </p:txBody>
      </p:sp>
      <p:sp>
        <p:nvSpPr>
          <p:cNvPr id="17" name="Text 15"/>
          <p:cNvSpPr/>
          <p:nvPr/>
        </p:nvSpPr>
        <p:spPr>
          <a:xfrm>
            <a:off x="749808" y="4340860"/>
            <a:ext cx="1700784" cy="215138"/>
          </a:xfrm>
          <a:prstGeom prst="rect">
            <a:avLst/>
          </a:prstGeom>
          <a:noFill/>
          <a:ln/>
        </p:spPr>
        <p:txBody>
          <a:bodyPr wrap="square" lIns="0" tIns="0" rIns="0" bIns="0" rtlCol="0" anchor="t"/>
          <a:lstStyle/>
          <a:p>
            <a:pPr algn="l" indent="0" marL="0">
              <a:buNone/>
            </a:pPr>
            <a:r>
              <a:rPr lang="en-US" sz="1400" dirty="0">
                <a:solidFill>
                  <a:srgbClr val="617487"/>
                </a:solidFill>
                <a:latin typeface="DejaVu Sans" pitchFamily="34" charset="0"/>
                <a:ea typeface="DejaVu Sans" pitchFamily="34" charset="-122"/>
                <a:cs typeface="DejaVu Sans" pitchFamily="34" charset="-120"/>
              </a:rPr>
              <a:t>orders, suppliers</a:t>
            </a:r>
            <a:endParaRPr lang="en-US" sz="1400" dirty="0"/>
          </a:p>
        </p:txBody>
      </p:sp>
      <p:sp>
        <p:nvSpPr>
          <p:cNvPr id="18" name="Text 16"/>
          <p:cNvSpPr/>
          <p:nvPr/>
        </p:nvSpPr>
        <p:spPr>
          <a:xfrm>
            <a:off x="749808" y="4557776"/>
            <a:ext cx="1700784" cy="215138"/>
          </a:xfrm>
          <a:prstGeom prst="rect">
            <a:avLst/>
          </a:prstGeom>
          <a:noFill/>
          <a:ln/>
        </p:spPr>
        <p:txBody>
          <a:bodyPr wrap="square" lIns="0" tIns="0" rIns="0" bIns="0" rtlCol="0" anchor="t"/>
          <a:lstStyle/>
          <a:p>
            <a:pPr algn="l" indent="0" marL="0">
              <a:buNone/>
            </a:pPr>
            <a:r>
              <a:rPr lang="en-US" sz="1400" dirty="0">
                <a:solidFill>
                  <a:srgbClr val="617487"/>
                </a:solidFill>
                <a:latin typeface="DejaVu Sans" pitchFamily="34" charset="0"/>
                <a:ea typeface="DejaVu Sans" pitchFamily="34" charset="-122"/>
                <a:cs typeface="DejaVu Sans" pitchFamily="34" charset="-120"/>
              </a:rPr>
              <a:t>and memory.</a:t>
            </a:r>
            <a:endParaRPr lang="en-US" sz="1400" dirty="0"/>
          </a:p>
        </p:txBody>
      </p:sp>
      <p:sp>
        <p:nvSpPr>
          <p:cNvPr id="19" name="Shape 17"/>
          <p:cNvSpPr/>
          <p:nvPr/>
        </p:nvSpPr>
        <p:spPr>
          <a:xfrm>
            <a:off x="3849624" y="2962656"/>
            <a:ext cx="0" cy="265176"/>
          </a:xfrm>
          <a:prstGeom prst="line">
            <a:avLst/>
          </a:prstGeom>
          <a:noFill/>
          <a:ln w="19050">
            <a:solidFill>
              <a:srgbClr val="087F80"/>
            </a:solidFill>
            <a:prstDash val="solid"/>
            <a:tailEnd type="triangle"/>
          </a:ln>
        </p:spPr>
      </p:sp>
      <p:sp>
        <p:nvSpPr>
          <p:cNvPr id="20" name="Shape 18"/>
          <p:cNvSpPr/>
          <p:nvPr/>
        </p:nvSpPr>
        <p:spPr>
          <a:xfrm>
            <a:off x="2798064" y="3255264"/>
            <a:ext cx="2103120" cy="2066544"/>
          </a:xfrm>
          <a:prstGeom prst="rect">
            <a:avLst/>
          </a:prstGeom>
          <a:solidFill>
            <a:srgbClr val="FFFFFF"/>
          </a:solidFill>
          <a:ln w="8890">
            <a:solidFill>
              <a:srgbClr val="DCE5EC"/>
            </a:solidFill>
            <a:prstDash val="solid"/>
          </a:ln>
        </p:spPr>
      </p:sp>
      <p:sp>
        <p:nvSpPr>
          <p:cNvPr id="21" name="Shape 19"/>
          <p:cNvSpPr/>
          <p:nvPr/>
        </p:nvSpPr>
        <p:spPr>
          <a:xfrm>
            <a:off x="2798064" y="3255264"/>
            <a:ext cx="41148" cy="2066544"/>
          </a:xfrm>
          <a:prstGeom prst="rect">
            <a:avLst/>
          </a:prstGeom>
          <a:solidFill>
            <a:srgbClr val="087F80"/>
          </a:solidFill>
          <a:ln w="12700">
            <a:solidFill>
              <a:srgbClr val="087F80"/>
            </a:solidFill>
            <a:prstDash val="solid"/>
          </a:ln>
        </p:spPr>
      </p:sp>
      <p:sp>
        <p:nvSpPr>
          <p:cNvPr id="22" name="Text 20"/>
          <p:cNvSpPr/>
          <p:nvPr/>
        </p:nvSpPr>
        <p:spPr>
          <a:xfrm>
            <a:off x="2999232" y="3438144"/>
            <a:ext cx="1700784" cy="238189"/>
          </a:xfrm>
          <a:prstGeom prst="rect">
            <a:avLst/>
          </a:prstGeom>
          <a:noFill/>
          <a:ln/>
        </p:spPr>
        <p:txBody>
          <a:bodyPr wrap="square" lIns="0" tIns="0" rIns="0" bIns="0" rtlCol="0" anchor="t"/>
          <a:lstStyle/>
          <a:p>
            <a:pPr algn="l" indent="0" marL="0">
              <a:buNone/>
            </a:pPr>
            <a:r>
              <a:rPr lang="en-US" sz="1550" b="1" dirty="0">
                <a:solidFill>
                  <a:srgbClr val="182B42"/>
                </a:solidFill>
                <a:latin typeface="DejaVu Sans" pitchFamily="34" charset="0"/>
                <a:ea typeface="DejaVu Sans" pitchFamily="34" charset="-122"/>
                <a:cs typeface="DejaVu Sans" pitchFamily="34" charset="-120"/>
              </a:rPr>
              <a:t>Analysis</a:t>
            </a:r>
            <a:endParaRPr lang="en-US" sz="1550" dirty="0"/>
          </a:p>
        </p:txBody>
      </p:sp>
      <p:sp>
        <p:nvSpPr>
          <p:cNvPr id="23" name="Text 21"/>
          <p:cNvSpPr/>
          <p:nvPr/>
        </p:nvSpPr>
        <p:spPr>
          <a:xfrm>
            <a:off x="2999232" y="4123944"/>
            <a:ext cx="1700784" cy="215138"/>
          </a:xfrm>
          <a:prstGeom prst="rect">
            <a:avLst/>
          </a:prstGeom>
          <a:noFill/>
          <a:ln/>
        </p:spPr>
        <p:txBody>
          <a:bodyPr wrap="square" lIns="0" tIns="0" rIns="0" bIns="0" rtlCol="0" anchor="t"/>
          <a:lstStyle/>
          <a:p>
            <a:pPr algn="l" indent="0" marL="0">
              <a:buNone/>
            </a:pPr>
            <a:r>
              <a:rPr lang="en-US" sz="1400" dirty="0">
                <a:solidFill>
                  <a:srgbClr val="617487"/>
                </a:solidFill>
                <a:latin typeface="DejaVu Sans" pitchFamily="34" charset="0"/>
                <a:ea typeface="DejaVu Sans" pitchFamily="34" charset="-122"/>
                <a:cs typeface="DejaVu Sans" pitchFamily="34" charset="-120"/>
              </a:rPr>
              <a:t>Compare cost,</a:t>
            </a:r>
            <a:endParaRPr lang="en-US" sz="1400" dirty="0"/>
          </a:p>
        </p:txBody>
      </p:sp>
      <p:sp>
        <p:nvSpPr>
          <p:cNvPr id="24" name="Text 22"/>
          <p:cNvSpPr/>
          <p:nvPr/>
        </p:nvSpPr>
        <p:spPr>
          <a:xfrm>
            <a:off x="2999232" y="4340860"/>
            <a:ext cx="1700784" cy="215138"/>
          </a:xfrm>
          <a:prstGeom prst="rect">
            <a:avLst/>
          </a:prstGeom>
          <a:noFill/>
          <a:ln/>
        </p:spPr>
        <p:txBody>
          <a:bodyPr wrap="square" lIns="0" tIns="0" rIns="0" bIns="0" rtlCol="0" anchor="t"/>
          <a:lstStyle/>
          <a:p>
            <a:pPr algn="l" indent="0" marL="0">
              <a:buNone/>
            </a:pPr>
            <a:r>
              <a:rPr lang="en-US" sz="1400" dirty="0">
                <a:solidFill>
                  <a:srgbClr val="617487"/>
                </a:solidFill>
                <a:latin typeface="DejaVu Sans" pitchFamily="34" charset="0"/>
                <a:ea typeface="DejaVu Sans" pitchFamily="34" charset="-122"/>
                <a:cs typeface="DejaVu Sans" pitchFamily="34" charset="-120"/>
              </a:rPr>
              <a:t>availability and</a:t>
            </a:r>
            <a:endParaRPr lang="en-US" sz="1400" dirty="0"/>
          </a:p>
        </p:txBody>
      </p:sp>
      <p:sp>
        <p:nvSpPr>
          <p:cNvPr id="25" name="Text 23"/>
          <p:cNvSpPr/>
          <p:nvPr/>
        </p:nvSpPr>
        <p:spPr>
          <a:xfrm>
            <a:off x="2999232" y="4557776"/>
            <a:ext cx="1700784" cy="215138"/>
          </a:xfrm>
          <a:prstGeom prst="rect">
            <a:avLst/>
          </a:prstGeom>
          <a:noFill/>
          <a:ln/>
        </p:spPr>
        <p:txBody>
          <a:bodyPr wrap="square" lIns="0" tIns="0" rIns="0" bIns="0" rtlCol="0" anchor="t"/>
          <a:lstStyle/>
          <a:p>
            <a:pPr algn="l" indent="0" marL="0">
              <a:buNone/>
            </a:pPr>
            <a:r>
              <a:rPr lang="en-US" sz="1400" dirty="0">
                <a:solidFill>
                  <a:srgbClr val="617487"/>
                </a:solidFill>
                <a:latin typeface="DejaVu Sans" pitchFamily="34" charset="0"/>
                <a:ea typeface="DejaVu Sans" pitchFamily="34" charset="-122"/>
                <a:cs typeface="DejaVu Sans" pitchFamily="34" charset="-120"/>
              </a:rPr>
              <a:t>arrival feasibility.</a:t>
            </a:r>
            <a:endParaRPr lang="en-US" sz="1400" dirty="0"/>
          </a:p>
        </p:txBody>
      </p:sp>
      <p:sp>
        <p:nvSpPr>
          <p:cNvPr id="26" name="Shape 24"/>
          <p:cNvSpPr/>
          <p:nvPr/>
        </p:nvSpPr>
        <p:spPr>
          <a:xfrm>
            <a:off x="6099048" y="2962656"/>
            <a:ext cx="0" cy="265176"/>
          </a:xfrm>
          <a:prstGeom prst="line">
            <a:avLst/>
          </a:prstGeom>
          <a:noFill/>
          <a:ln w="19050">
            <a:solidFill>
              <a:srgbClr val="087F80"/>
            </a:solidFill>
            <a:prstDash val="solid"/>
            <a:tailEnd type="triangle"/>
          </a:ln>
        </p:spPr>
      </p:sp>
      <p:sp>
        <p:nvSpPr>
          <p:cNvPr id="27" name="Shape 25"/>
          <p:cNvSpPr/>
          <p:nvPr/>
        </p:nvSpPr>
        <p:spPr>
          <a:xfrm>
            <a:off x="5047488" y="3255264"/>
            <a:ext cx="2103120" cy="2066544"/>
          </a:xfrm>
          <a:prstGeom prst="rect">
            <a:avLst/>
          </a:prstGeom>
          <a:solidFill>
            <a:srgbClr val="FFFFFF"/>
          </a:solidFill>
          <a:ln w="8890">
            <a:solidFill>
              <a:srgbClr val="DCE5EC"/>
            </a:solidFill>
            <a:prstDash val="solid"/>
          </a:ln>
        </p:spPr>
      </p:sp>
      <p:sp>
        <p:nvSpPr>
          <p:cNvPr id="28" name="Shape 26"/>
          <p:cNvSpPr/>
          <p:nvPr/>
        </p:nvSpPr>
        <p:spPr>
          <a:xfrm>
            <a:off x="5047488" y="3255264"/>
            <a:ext cx="41148" cy="2066544"/>
          </a:xfrm>
          <a:prstGeom prst="rect">
            <a:avLst/>
          </a:prstGeom>
          <a:solidFill>
            <a:srgbClr val="F2AD65"/>
          </a:solidFill>
          <a:ln w="12700">
            <a:solidFill>
              <a:srgbClr val="F2AD65"/>
            </a:solidFill>
            <a:prstDash val="solid"/>
          </a:ln>
        </p:spPr>
      </p:sp>
      <p:sp>
        <p:nvSpPr>
          <p:cNvPr id="29" name="Text 27"/>
          <p:cNvSpPr/>
          <p:nvPr/>
        </p:nvSpPr>
        <p:spPr>
          <a:xfrm>
            <a:off x="5248656" y="3438144"/>
            <a:ext cx="1700784" cy="238189"/>
          </a:xfrm>
          <a:prstGeom prst="rect">
            <a:avLst/>
          </a:prstGeom>
          <a:noFill/>
          <a:ln/>
        </p:spPr>
        <p:txBody>
          <a:bodyPr wrap="square" lIns="0" tIns="0" rIns="0" bIns="0" rtlCol="0" anchor="t"/>
          <a:lstStyle/>
          <a:p>
            <a:pPr algn="l" indent="0" marL="0">
              <a:buNone/>
            </a:pPr>
            <a:r>
              <a:rPr lang="en-US" sz="1550" b="1" dirty="0">
                <a:solidFill>
                  <a:srgbClr val="182B42"/>
                </a:solidFill>
                <a:latin typeface="DejaVu Sans" pitchFamily="34" charset="0"/>
                <a:ea typeface="DejaVu Sans" pitchFamily="34" charset="-122"/>
                <a:cs typeface="DejaVu Sans" pitchFamily="34" charset="-120"/>
              </a:rPr>
              <a:t>Execution</a:t>
            </a:r>
            <a:endParaRPr lang="en-US" sz="1550" dirty="0"/>
          </a:p>
        </p:txBody>
      </p:sp>
      <p:sp>
        <p:nvSpPr>
          <p:cNvPr id="30" name="Text 28"/>
          <p:cNvSpPr/>
          <p:nvPr/>
        </p:nvSpPr>
        <p:spPr>
          <a:xfrm>
            <a:off x="5248656" y="4123944"/>
            <a:ext cx="1700784" cy="215138"/>
          </a:xfrm>
          <a:prstGeom prst="rect">
            <a:avLst/>
          </a:prstGeom>
          <a:noFill/>
          <a:ln/>
        </p:spPr>
        <p:txBody>
          <a:bodyPr wrap="square" lIns="0" tIns="0" rIns="0" bIns="0" rtlCol="0" anchor="t"/>
          <a:lstStyle/>
          <a:p>
            <a:pPr algn="l" indent="0" marL="0">
              <a:buNone/>
            </a:pPr>
            <a:r>
              <a:rPr lang="en-US" sz="1400" dirty="0">
                <a:solidFill>
                  <a:srgbClr val="617487"/>
                </a:solidFill>
                <a:latin typeface="DejaVu Sans" pitchFamily="34" charset="0"/>
                <a:ea typeface="DejaVu Sans" pitchFamily="34" charset="-122"/>
                <a:cs typeface="DejaVu Sans" pitchFamily="34" charset="-120"/>
              </a:rPr>
              <a:t>Reserve, purchase</a:t>
            </a:r>
            <a:endParaRPr lang="en-US" sz="1400" dirty="0"/>
          </a:p>
        </p:txBody>
      </p:sp>
      <p:sp>
        <p:nvSpPr>
          <p:cNvPr id="31" name="Text 29"/>
          <p:cNvSpPr/>
          <p:nvPr/>
        </p:nvSpPr>
        <p:spPr>
          <a:xfrm>
            <a:off x="5248656" y="4340860"/>
            <a:ext cx="1700784" cy="215138"/>
          </a:xfrm>
          <a:prstGeom prst="rect">
            <a:avLst/>
          </a:prstGeom>
          <a:noFill/>
          <a:ln/>
        </p:spPr>
        <p:txBody>
          <a:bodyPr wrap="square" lIns="0" tIns="0" rIns="0" bIns="0" rtlCol="0" anchor="t"/>
          <a:lstStyle/>
          <a:p>
            <a:pPr algn="l" indent="0" marL="0">
              <a:buNone/>
            </a:pPr>
            <a:r>
              <a:rPr lang="en-US" sz="1400" dirty="0">
                <a:solidFill>
                  <a:srgbClr val="617487"/>
                </a:solidFill>
                <a:latin typeface="DejaVu Sans" pitchFamily="34" charset="0"/>
                <a:ea typeface="DejaVu Sans" pitchFamily="34" charset="-122"/>
                <a:cs typeface="DejaVu Sans" pitchFamily="34" charset="-120"/>
              </a:rPr>
              <a:t>and allocate within</a:t>
            </a:r>
            <a:endParaRPr lang="en-US" sz="1400" dirty="0"/>
          </a:p>
        </p:txBody>
      </p:sp>
      <p:sp>
        <p:nvSpPr>
          <p:cNvPr id="32" name="Text 30"/>
          <p:cNvSpPr/>
          <p:nvPr/>
        </p:nvSpPr>
        <p:spPr>
          <a:xfrm>
            <a:off x="5248656" y="4557776"/>
            <a:ext cx="1700784" cy="215138"/>
          </a:xfrm>
          <a:prstGeom prst="rect">
            <a:avLst/>
          </a:prstGeom>
          <a:noFill/>
          <a:ln/>
        </p:spPr>
        <p:txBody>
          <a:bodyPr wrap="square" lIns="0" tIns="0" rIns="0" bIns="0" rtlCol="0" anchor="t"/>
          <a:lstStyle/>
          <a:p>
            <a:pPr algn="l" indent="0" marL="0">
              <a:buNone/>
            </a:pPr>
            <a:r>
              <a:rPr lang="en-US" sz="1400" dirty="0">
                <a:solidFill>
                  <a:srgbClr val="617487"/>
                </a:solidFill>
                <a:latin typeface="DejaVu Sans" pitchFamily="34" charset="0"/>
                <a:ea typeface="DejaVu Sans" pitchFamily="34" charset="-122"/>
                <a:cs typeface="DejaVu Sans" pitchFamily="34" charset="-120"/>
              </a:rPr>
              <a:t>policy.</a:t>
            </a:r>
            <a:endParaRPr lang="en-US" sz="1400" dirty="0"/>
          </a:p>
        </p:txBody>
      </p:sp>
      <p:sp>
        <p:nvSpPr>
          <p:cNvPr id="33" name="Shape 31"/>
          <p:cNvSpPr/>
          <p:nvPr/>
        </p:nvSpPr>
        <p:spPr>
          <a:xfrm>
            <a:off x="8348472" y="2962656"/>
            <a:ext cx="0" cy="265176"/>
          </a:xfrm>
          <a:prstGeom prst="line">
            <a:avLst/>
          </a:prstGeom>
          <a:noFill/>
          <a:ln w="19050">
            <a:solidFill>
              <a:srgbClr val="087F80"/>
            </a:solidFill>
            <a:prstDash val="solid"/>
            <a:tailEnd type="triangle"/>
          </a:ln>
        </p:spPr>
      </p:sp>
      <p:sp>
        <p:nvSpPr>
          <p:cNvPr id="34" name="Shape 32"/>
          <p:cNvSpPr/>
          <p:nvPr/>
        </p:nvSpPr>
        <p:spPr>
          <a:xfrm>
            <a:off x="7296912" y="3255264"/>
            <a:ext cx="2103120" cy="2066544"/>
          </a:xfrm>
          <a:prstGeom prst="rect">
            <a:avLst/>
          </a:prstGeom>
          <a:solidFill>
            <a:srgbClr val="FFFFFF"/>
          </a:solidFill>
          <a:ln w="8890">
            <a:solidFill>
              <a:srgbClr val="DCE5EC"/>
            </a:solidFill>
            <a:prstDash val="solid"/>
          </a:ln>
        </p:spPr>
      </p:sp>
      <p:sp>
        <p:nvSpPr>
          <p:cNvPr id="35" name="Shape 33"/>
          <p:cNvSpPr/>
          <p:nvPr/>
        </p:nvSpPr>
        <p:spPr>
          <a:xfrm>
            <a:off x="7296912" y="3255264"/>
            <a:ext cx="41148" cy="2066544"/>
          </a:xfrm>
          <a:prstGeom prst="rect">
            <a:avLst/>
          </a:prstGeom>
          <a:solidFill>
            <a:srgbClr val="087F80"/>
          </a:solidFill>
          <a:ln w="12700">
            <a:solidFill>
              <a:srgbClr val="087F80"/>
            </a:solidFill>
            <a:prstDash val="solid"/>
          </a:ln>
        </p:spPr>
      </p:sp>
      <p:sp>
        <p:nvSpPr>
          <p:cNvPr id="36" name="Text 34"/>
          <p:cNvSpPr/>
          <p:nvPr/>
        </p:nvSpPr>
        <p:spPr>
          <a:xfrm>
            <a:off x="7498080" y="3438144"/>
            <a:ext cx="1700784" cy="238189"/>
          </a:xfrm>
          <a:prstGeom prst="rect">
            <a:avLst/>
          </a:prstGeom>
          <a:noFill/>
          <a:ln/>
        </p:spPr>
        <p:txBody>
          <a:bodyPr wrap="square" lIns="0" tIns="0" rIns="0" bIns="0" rtlCol="0" anchor="t"/>
          <a:lstStyle/>
          <a:p>
            <a:pPr algn="l" indent="0" marL="0">
              <a:buNone/>
            </a:pPr>
            <a:r>
              <a:rPr lang="en-US" sz="1550" b="1" dirty="0">
                <a:solidFill>
                  <a:srgbClr val="182B42"/>
                </a:solidFill>
                <a:latin typeface="DejaVu Sans" pitchFamily="34" charset="0"/>
                <a:ea typeface="DejaVu Sans" pitchFamily="34" charset="-122"/>
                <a:cs typeface="DejaVu Sans" pitchFamily="34" charset="-120"/>
              </a:rPr>
              <a:t>Verification</a:t>
            </a:r>
            <a:endParaRPr lang="en-US" sz="1550" dirty="0"/>
          </a:p>
        </p:txBody>
      </p:sp>
      <p:sp>
        <p:nvSpPr>
          <p:cNvPr id="37" name="Text 35"/>
          <p:cNvSpPr/>
          <p:nvPr/>
        </p:nvSpPr>
        <p:spPr>
          <a:xfrm>
            <a:off x="7498080" y="4123944"/>
            <a:ext cx="1700784" cy="215138"/>
          </a:xfrm>
          <a:prstGeom prst="rect">
            <a:avLst/>
          </a:prstGeom>
          <a:noFill/>
          <a:ln/>
        </p:spPr>
        <p:txBody>
          <a:bodyPr wrap="square" lIns="0" tIns="0" rIns="0" bIns="0" rtlCol="0" anchor="t"/>
          <a:lstStyle/>
          <a:p>
            <a:pPr algn="l" indent="0" marL="0">
              <a:buNone/>
            </a:pPr>
            <a:r>
              <a:rPr lang="en-US" sz="1400" dirty="0">
                <a:solidFill>
                  <a:srgbClr val="617487"/>
                </a:solidFill>
                <a:latin typeface="DejaVu Sans" pitchFamily="34" charset="0"/>
                <a:ea typeface="DejaVu Sans" pitchFamily="34" charset="-122"/>
                <a:cs typeface="DejaVu Sans" pitchFamily="34" charset="-120"/>
              </a:rPr>
              <a:t>Check evidence</a:t>
            </a:r>
            <a:endParaRPr lang="en-US" sz="1400" dirty="0"/>
          </a:p>
        </p:txBody>
      </p:sp>
      <p:sp>
        <p:nvSpPr>
          <p:cNvPr id="38" name="Text 36"/>
          <p:cNvSpPr/>
          <p:nvPr/>
        </p:nvSpPr>
        <p:spPr>
          <a:xfrm>
            <a:off x="7498080" y="4340860"/>
            <a:ext cx="1700784" cy="215138"/>
          </a:xfrm>
          <a:prstGeom prst="rect">
            <a:avLst/>
          </a:prstGeom>
          <a:noFill/>
          <a:ln/>
        </p:spPr>
        <p:txBody>
          <a:bodyPr wrap="square" lIns="0" tIns="0" rIns="0" bIns="0" rtlCol="0" anchor="t"/>
          <a:lstStyle/>
          <a:p>
            <a:pPr algn="l" indent="0" marL="0">
              <a:buNone/>
            </a:pPr>
            <a:r>
              <a:rPr lang="en-US" sz="1400" dirty="0">
                <a:solidFill>
                  <a:srgbClr val="617487"/>
                </a:solidFill>
                <a:latin typeface="DejaVu Sans" pitchFamily="34" charset="0"/>
                <a:ea typeface="DejaVu Sans" pitchFamily="34" charset="-122"/>
                <a:cs typeface="DejaVu Sans" pitchFamily="34" charset="-120"/>
              </a:rPr>
              <a:t>and block invalid</a:t>
            </a:r>
            <a:endParaRPr lang="en-US" sz="1400" dirty="0"/>
          </a:p>
        </p:txBody>
      </p:sp>
      <p:sp>
        <p:nvSpPr>
          <p:cNvPr id="39" name="Text 37"/>
          <p:cNvSpPr/>
          <p:nvPr/>
        </p:nvSpPr>
        <p:spPr>
          <a:xfrm>
            <a:off x="7498080" y="4557776"/>
            <a:ext cx="1700784" cy="215138"/>
          </a:xfrm>
          <a:prstGeom prst="rect">
            <a:avLst/>
          </a:prstGeom>
          <a:noFill/>
          <a:ln/>
        </p:spPr>
        <p:txBody>
          <a:bodyPr wrap="square" lIns="0" tIns="0" rIns="0" bIns="0" rtlCol="0" anchor="t"/>
          <a:lstStyle/>
          <a:p>
            <a:pPr algn="l" indent="0" marL="0">
              <a:buNone/>
            </a:pPr>
            <a:r>
              <a:rPr lang="en-US" sz="1400" dirty="0">
                <a:solidFill>
                  <a:srgbClr val="617487"/>
                </a:solidFill>
                <a:latin typeface="DejaVu Sans" pitchFamily="34" charset="0"/>
                <a:ea typeface="DejaVu Sans" pitchFamily="34" charset="-122"/>
                <a:cs typeface="DejaVu Sans" pitchFamily="34" charset="-120"/>
              </a:rPr>
              <a:t>completion.</a:t>
            </a:r>
            <a:endParaRPr lang="en-US" sz="1400" dirty="0"/>
          </a:p>
        </p:txBody>
      </p:sp>
      <p:sp>
        <p:nvSpPr>
          <p:cNvPr id="40" name="Shape 38"/>
          <p:cNvSpPr/>
          <p:nvPr/>
        </p:nvSpPr>
        <p:spPr>
          <a:xfrm>
            <a:off x="10597896" y="2962656"/>
            <a:ext cx="0" cy="265176"/>
          </a:xfrm>
          <a:prstGeom prst="line">
            <a:avLst/>
          </a:prstGeom>
          <a:noFill/>
          <a:ln w="19050">
            <a:solidFill>
              <a:srgbClr val="087F80"/>
            </a:solidFill>
            <a:prstDash val="solid"/>
            <a:tailEnd type="triangle"/>
          </a:ln>
        </p:spPr>
      </p:sp>
      <p:sp>
        <p:nvSpPr>
          <p:cNvPr id="41" name="Shape 39"/>
          <p:cNvSpPr/>
          <p:nvPr/>
        </p:nvSpPr>
        <p:spPr>
          <a:xfrm>
            <a:off x="9546336" y="3255264"/>
            <a:ext cx="2103120" cy="2066544"/>
          </a:xfrm>
          <a:prstGeom prst="rect">
            <a:avLst/>
          </a:prstGeom>
          <a:solidFill>
            <a:srgbClr val="FFFFFF"/>
          </a:solidFill>
          <a:ln w="8890">
            <a:solidFill>
              <a:srgbClr val="DCE5EC"/>
            </a:solidFill>
            <a:prstDash val="solid"/>
          </a:ln>
        </p:spPr>
      </p:sp>
      <p:sp>
        <p:nvSpPr>
          <p:cNvPr id="42" name="Shape 40"/>
          <p:cNvSpPr/>
          <p:nvPr/>
        </p:nvSpPr>
        <p:spPr>
          <a:xfrm>
            <a:off x="9546336" y="3255264"/>
            <a:ext cx="41148" cy="2066544"/>
          </a:xfrm>
          <a:prstGeom prst="rect">
            <a:avLst/>
          </a:prstGeom>
          <a:solidFill>
            <a:srgbClr val="087F80"/>
          </a:solidFill>
          <a:ln w="12700">
            <a:solidFill>
              <a:srgbClr val="087F80"/>
            </a:solidFill>
            <a:prstDash val="solid"/>
          </a:ln>
        </p:spPr>
      </p:sp>
      <p:sp>
        <p:nvSpPr>
          <p:cNvPr id="43" name="Text 41"/>
          <p:cNvSpPr/>
          <p:nvPr/>
        </p:nvSpPr>
        <p:spPr>
          <a:xfrm>
            <a:off x="9747504" y="3438144"/>
            <a:ext cx="1700784" cy="230505"/>
          </a:xfrm>
          <a:prstGeom prst="rect">
            <a:avLst/>
          </a:prstGeom>
          <a:noFill/>
          <a:ln/>
        </p:spPr>
        <p:txBody>
          <a:bodyPr wrap="square" lIns="0" tIns="0" rIns="0" bIns="0" rtlCol="0" anchor="t"/>
          <a:lstStyle/>
          <a:p>
            <a:pPr algn="l" indent="0" marL="0">
              <a:buNone/>
            </a:pPr>
            <a:r>
              <a:rPr lang="en-US" sz="1500" b="1" dirty="0">
                <a:solidFill>
                  <a:srgbClr val="182B42"/>
                </a:solidFill>
                <a:latin typeface="DejaVu Sans" pitchFamily="34" charset="0"/>
                <a:ea typeface="DejaVu Sans" pitchFamily="34" charset="-122"/>
                <a:cs typeface="DejaVu Sans" pitchFamily="34" charset="-120"/>
              </a:rPr>
              <a:t>Communication</a:t>
            </a:r>
            <a:endParaRPr lang="en-US" sz="1500" dirty="0"/>
          </a:p>
        </p:txBody>
      </p:sp>
      <p:sp>
        <p:nvSpPr>
          <p:cNvPr id="44" name="Text 42"/>
          <p:cNvSpPr/>
          <p:nvPr/>
        </p:nvSpPr>
        <p:spPr>
          <a:xfrm>
            <a:off x="9747504" y="4123944"/>
            <a:ext cx="1700784" cy="215138"/>
          </a:xfrm>
          <a:prstGeom prst="rect">
            <a:avLst/>
          </a:prstGeom>
          <a:noFill/>
          <a:ln/>
        </p:spPr>
        <p:txBody>
          <a:bodyPr wrap="square" lIns="0" tIns="0" rIns="0" bIns="0" rtlCol="0" anchor="t"/>
          <a:lstStyle/>
          <a:p>
            <a:pPr algn="l" indent="0" marL="0">
              <a:buNone/>
            </a:pPr>
            <a:r>
              <a:rPr lang="en-US" sz="1400" dirty="0">
                <a:solidFill>
                  <a:srgbClr val="617487"/>
                </a:solidFill>
                <a:latin typeface="DejaVu Sans" pitchFamily="34" charset="0"/>
                <a:ea typeface="DejaVu Sans" pitchFamily="34" charset="-122"/>
                <a:cs typeface="DejaVu Sans" pitchFamily="34" charset="-120"/>
              </a:rPr>
              <a:t>Publish the final</a:t>
            </a:r>
            <a:endParaRPr lang="en-US" sz="1400" dirty="0"/>
          </a:p>
        </p:txBody>
      </p:sp>
      <p:sp>
        <p:nvSpPr>
          <p:cNvPr id="45" name="Text 43"/>
          <p:cNvSpPr/>
          <p:nvPr/>
        </p:nvSpPr>
        <p:spPr>
          <a:xfrm>
            <a:off x="9747504" y="4340860"/>
            <a:ext cx="1700784" cy="215138"/>
          </a:xfrm>
          <a:prstGeom prst="rect">
            <a:avLst/>
          </a:prstGeom>
          <a:noFill/>
          <a:ln/>
        </p:spPr>
        <p:txBody>
          <a:bodyPr wrap="square" lIns="0" tIns="0" rIns="0" bIns="0" rtlCol="0" anchor="t"/>
          <a:lstStyle/>
          <a:p>
            <a:pPr algn="l" indent="0" marL="0">
              <a:buNone/>
            </a:pPr>
            <a:r>
              <a:rPr lang="en-US" sz="1400" dirty="0">
                <a:solidFill>
                  <a:srgbClr val="617487"/>
                </a:solidFill>
                <a:latin typeface="DejaVu Sans" pitchFamily="34" charset="0"/>
                <a:ea typeface="DejaVu Sans" pitchFamily="34" charset="-122"/>
                <a:cs typeface="DejaVu Sans" pitchFamily="34" charset="-120"/>
              </a:rPr>
              <a:t>operations report.</a:t>
            </a:r>
            <a:endParaRPr lang="en-US" sz="1400" dirty="0"/>
          </a:p>
        </p:txBody>
      </p:sp>
      <p:sp>
        <p:nvSpPr>
          <p:cNvPr id="46" name="Text 44"/>
          <p:cNvSpPr/>
          <p:nvPr/>
        </p:nvSpPr>
        <p:spPr>
          <a:xfrm>
            <a:off x="621792" y="5715000"/>
            <a:ext cx="10881360" cy="261239"/>
          </a:xfrm>
          <a:prstGeom prst="rect">
            <a:avLst/>
          </a:prstGeom>
          <a:noFill/>
          <a:ln/>
        </p:spPr>
        <p:txBody>
          <a:bodyPr wrap="square" lIns="0" tIns="0" rIns="0" bIns="0" rtlCol="0" anchor="t"/>
          <a:lstStyle/>
          <a:p>
            <a:pPr algn="ctr" indent="0" marL="0">
              <a:buNone/>
            </a:pPr>
            <a:r>
              <a:rPr lang="en-US" sz="1700" dirty="0">
                <a:solidFill>
                  <a:srgbClr val="617487"/>
                </a:solidFill>
                <a:latin typeface="DejaVu Sans" pitchFamily="34" charset="0"/>
                <a:ea typeface="DejaVu Sans" pitchFamily="34" charset="-122"/>
                <a:cs typeface="DejaVu Sans" pitchFamily="34" charset="-120"/>
              </a:rPr>
              <a:t>Scoped Gemini invocations + structured contracts + durable, sequential handoffs.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548640" y="338328"/>
            <a:ext cx="10332720" cy="153670"/>
          </a:xfrm>
          <a:prstGeom prst="rect">
            <a:avLst/>
          </a:prstGeom>
          <a:noFill/>
          <a:ln/>
        </p:spPr>
        <p:txBody>
          <a:bodyPr wrap="square" lIns="0" tIns="0" rIns="0" bIns="0" rtlCol="0" anchor="t"/>
          <a:lstStyle/>
          <a:p>
            <a:pPr algn="l" indent="0" marL="0">
              <a:buNone/>
            </a:pPr>
            <a:r>
              <a:rPr lang="en-US" sz="1000" b="1" dirty="0">
                <a:solidFill>
                  <a:srgbClr val="087F80"/>
                </a:solidFill>
                <a:latin typeface="DejaVu Sans" pitchFamily="34" charset="0"/>
                <a:ea typeface="DejaVu Sans" pitchFamily="34" charset="-122"/>
                <a:cs typeface="DejaVu Sans" pitchFamily="34" charset="-120"/>
              </a:rPr>
              <a:t>HOW IT WORKS</a:t>
            </a:r>
            <a:endParaRPr lang="en-US" sz="1000" dirty="0"/>
          </a:p>
        </p:txBody>
      </p:sp>
      <p:sp>
        <p:nvSpPr>
          <p:cNvPr id="3" name="Text 1"/>
          <p:cNvSpPr/>
          <p:nvPr/>
        </p:nvSpPr>
        <p:spPr>
          <a:xfrm>
            <a:off x="548640" y="758952"/>
            <a:ext cx="11064240" cy="445643"/>
          </a:xfrm>
          <a:prstGeom prst="rect">
            <a:avLst/>
          </a:prstGeom>
          <a:noFill/>
          <a:ln/>
        </p:spPr>
        <p:txBody>
          <a:bodyPr wrap="square" lIns="0" tIns="0" rIns="0" bIns="0" rtlCol="0" anchor="t"/>
          <a:lstStyle/>
          <a:p>
            <a:pPr algn="l" indent="0" marL="0">
              <a:buNone/>
            </a:pPr>
            <a:r>
              <a:rPr lang="en-US" sz="2900" b="1" dirty="0">
                <a:solidFill>
                  <a:srgbClr val="182B42"/>
                </a:solidFill>
                <a:latin typeface="DejaVu Sans" pitchFamily="34" charset="0"/>
                <a:ea typeface="DejaVu Sans" pitchFamily="34" charset="-122"/>
                <a:cs typeface="DejaVu Sans" pitchFamily="34" charset="-120"/>
              </a:rPr>
              <a:t>From goal to action — with a recovery loop.</a:t>
            </a:r>
            <a:endParaRPr lang="en-US" sz="2900" dirty="0"/>
          </a:p>
        </p:txBody>
      </p:sp>
      <p:sp>
        <p:nvSpPr>
          <p:cNvPr id="4" name="Shape 2"/>
          <p:cNvSpPr/>
          <p:nvPr/>
        </p:nvSpPr>
        <p:spPr>
          <a:xfrm>
            <a:off x="548640" y="6345936"/>
            <a:ext cx="11091672" cy="0"/>
          </a:xfrm>
          <a:prstGeom prst="line">
            <a:avLst/>
          </a:prstGeom>
          <a:noFill/>
          <a:ln w="10160">
            <a:solidFill>
              <a:srgbClr val="DCE5EC"/>
            </a:solidFill>
            <a:prstDash val="solid"/>
          </a:ln>
        </p:spPr>
      </p:sp>
      <p:sp>
        <p:nvSpPr>
          <p:cNvPr id="5" name="Text 3"/>
          <p:cNvSpPr/>
          <p:nvPr/>
        </p:nvSpPr>
        <p:spPr>
          <a:xfrm>
            <a:off x="548640" y="6455664"/>
            <a:ext cx="9966960" cy="122936"/>
          </a:xfrm>
          <a:prstGeom prst="rect">
            <a:avLst/>
          </a:prstGeom>
          <a:noFill/>
          <a:ln/>
        </p:spPr>
        <p:txBody>
          <a:bodyPr wrap="square" lIns="0" tIns="0" rIns="0" bIns="0" rtlCol="0" anchor="t"/>
          <a:lstStyle/>
          <a:p>
            <a:pPr algn="l" indent="0" marL="0">
              <a:buNone/>
            </a:pPr>
            <a:r>
              <a:rPr lang="en-US" sz="800" dirty="0">
                <a:solidFill>
                  <a:srgbClr val="617487"/>
                </a:solidFill>
                <a:latin typeface="DejaVu Sans" pitchFamily="34" charset="0"/>
                <a:ea typeface="DejaVu Sans" pitchFamily="34" charset="-122"/>
                <a:cs typeface="DejaVu Sans" pitchFamily="34" charset="-120"/>
              </a:rPr>
              <a:t>StockPilot • Hackathon pitch</a:t>
            </a:r>
            <a:endParaRPr lang="en-US" sz="800" dirty="0"/>
          </a:p>
        </p:txBody>
      </p:sp>
      <p:sp>
        <p:nvSpPr>
          <p:cNvPr id="6" name="Text 4"/>
          <p:cNvSpPr/>
          <p:nvPr/>
        </p:nvSpPr>
        <p:spPr>
          <a:xfrm>
            <a:off x="10287000" y="6428232"/>
            <a:ext cx="1353312" cy="138303"/>
          </a:xfrm>
          <a:prstGeom prst="rect">
            <a:avLst/>
          </a:prstGeom>
          <a:noFill/>
          <a:ln/>
        </p:spPr>
        <p:txBody>
          <a:bodyPr wrap="square" lIns="0" tIns="0" rIns="0" bIns="0" rtlCol="0" anchor="t"/>
          <a:lstStyle/>
          <a:p>
            <a:pPr algn="r" indent="0" marL="0">
              <a:buNone/>
            </a:pPr>
            <a:r>
              <a:rPr lang="en-US" sz="900" dirty="0">
                <a:solidFill>
                  <a:srgbClr val="617487"/>
                </a:solidFill>
                <a:latin typeface="DejaVu Sans" pitchFamily="34" charset="0"/>
                <a:ea typeface="DejaVu Sans" pitchFamily="34" charset="-122"/>
                <a:cs typeface="DejaVu Sans" pitchFamily="34" charset="-120"/>
              </a:rPr>
              <a:t>05 / 15</a:t>
            </a:r>
            <a:endParaRPr lang="en-US" sz="900" dirty="0"/>
          </a:p>
        </p:txBody>
      </p:sp>
      <p:sp>
        <p:nvSpPr>
          <p:cNvPr id="7" name="Shape 5"/>
          <p:cNvSpPr/>
          <p:nvPr/>
        </p:nvSpPr>
        <p:spPr>
          <a:xfrm>
            <a:off x="548640" y="1874520"/>
            <a:ext cx="2542032" cy="1481328"/>
          </a:xfrm>
          <a:prstGeom prst="rect">
            <a:avLst/>
          </a:prstGeom>
          <a:solidFill>
            <a:srgbClr val="FFFFFF"/>
          </a:solidFill>
          <a:ln w="8890">
            <a:solidFill>
              <a:srgbClr val="DCE5EC"/>
            </a:solidFill>
            <a:prstDash val="solid"/>
          </a:ln>
        </p:spPr>
      </p:sp>
      <p:sp>
        <p:nvSpPr>
          <p:cNvPr id="8" name="Text 6"/>
          <p:cNvSpPr/>
          <p:nvPr/>
        </p:nvSpPr>
        <p:spPr>
          <a:xfrm>
            <a:off x="722376" y="2039112"/>
            <a:ext cx="420624" cy="276606"/>
          </a:xfrm>
          <a:prstGeom prst="rect">
            <a:avLst/>
          </a:prstGeom>
          <a:noFill/>
          <a:ln/>
        </p:spPr>
        <p:txBody>
          <a:bodyPr wrap="square" lIns="0" tIns="0" rIns="0" bIns="0" rtlCol="0" anchor="t"/>
          <a:lstStyle/>
          <a:p>
            <a:pPr algn="l" indent="0" marL="0">
              <a:buNone/>
            </a:pPr>
            <a:r>
              <a:rPr lang="en-US" sz="1800" b="1" dirty="0">
                <a:solidFill>
                  <a:srgbClr val="087F80"/>
                </a:solidFill>
                <a:latin typeface="DejaVu Sans" pitchFamily="34" charset="0"/>
                <a:ea typeface="DejaVu Sans" pitchFamily="34" charset="-122"/>
                <a:cs typeface="DejaVu Sans" pitchFamily="34" charset="-120"/>
              </a:rPr>
              <a:t>01</a:t>
            </a:r>
            <a:endParaRPr lang="en-US" sz="1800" dirty="0"/>
          </a:p>
        </p:txBody>
      </p:sp>
      <p:sp>
        <p:nvSpPr>
          <p:cNvPr id="9" name="Text 7"/>
          <p:cNvSpPr/>
          <p:nvPr/>
        </p:nvSpPr>
        <p:spPr>
          <a:xfrm>
            <a:off x="722376" y="2468880"/>
            <a:ext cx="2194560" cy="238189"/>
          </a:xfrm>
          <a:prstGeom prst="rect">
            <a:avLst/>
          </a:prstGeom>
          <a:noFill/>
          <a:ln/>
        </p:spPr>
        <p:txBody>
          <a:bodyPr wrap="square" lIns="0" tIns="0" rIns="0" bIns="0" rtlCol="0" anchor="t"/>
          <a:lstStyle/>
          <a:p>
            <a:pPr algn="l" indent="0" marL="0">
              <a:buNone/>
            </a:pPr>
            <a:r>
              <a:rPr lang="en-US" sz="1550" b="1" dirty="0">
                <a:solidFill>
                  <a:srgbClr val="182B42"/>
                </a:solidFill>
                <a:latin typeface="DejaVu Sans" pitchFamily="34" charset="0"/>
                <a:ea typeface="DejaVu Sans" pitchFamily="34" charset="-122"/>
                <a:cs typeface="DejaVu Sans" pitchFamily="34" charset="-120"/>
              </a:rPr>
              <a:t>Set the goal</a:t>
            </a:r>
            <a:endParaRPr lang="en-US" sz="1550" dirty="0"/>
          </a:p>
        </p:txBody>
      </p:sp>
      <p:sp>
        <p:nvSpPr>
          <p:cNvPr id="10" name="Text 8"/>
          <p:cNvSpPr/>
          <p:nvPr/>
        </p:nvSpPr>
        <p:spPr>
          <a:xfrm>
            <a:off x="722376" y="2907792"/>
            <a:ext cx="2194560" cy="176721"/>
          </a:xfrm>
          <a:prstGeom prst="rect">
            <a:avLst/>
          </a:prstGeom>
          <a:noFill/>
          <a:ln/>
        </p:spPr>
        <p:txBody>
          <a:bodyPr wrap="square" lIns="0" tIns="0" rIns="0" bIns="0" rtlCol="0" anchor="t"/>
          <a:lstStyle/>
          <a:p>
            <a:pPr algn="l" indent="0" marL="0">
              <a:buNone/>
            </a:pPr>
            <a:r>
              <a:rPr lang="en-US" sz="1150" dirty="0">
                <a:solidFill>
                  <a:srgbClr val="617487"/>
                </a:solidFill>
                <a:latin typeface="DejaVu Sans" pitchFamily="34" charset="0"/>
                <a:ea typeface="DejaVu Sans" pitchFamily="34" charset="-122"/>
                <a:cs typeface="DejaVu Sans" pitchFamily="34" charset="-120"/>
              </a:rPr>
              <a:t>Orders, budget and deadline</a:t>
            </a:r>
            <a:endParaRPr lang="en-US" sz="1150" dirty="0"/>
          </a:p>
        </p:txBody>
      </p:sp>
      <p:sp>
        <p:nvSpPr>
          <p:cNvPr id="11" name="Shape 9"/>
          <p:cNvSpPr/>
          <p:nvPr/>
        </p:nvSpPr>
        <p:spPr>
          <a:xfrm>
            <a:off x="3401568" y="1874520"/>
            <a:ext cx="2542032" cy="1481328"/>
          </a:xfrm>
          <a:prstGeom prst="rect">
            <a:avLst/>
          </a:prstGeom>
          <a:solidFill>
            <a:srgbClr val="FFFFFF"/>
          </a:solidFill>
          <a:ln w="8890">
            <a:solidFill>
              <a:srgbClr val="DCE5EC"/>
            </a:solidFill>
            <a:prstDash val="solid"/>
          </a:ln>
        </p:spPr>
      </p:sp>
      <p:sp>
        <p:nvSpPr>
          <p:cNvPr id="12" name="Text 10"/>
          <p:cNvSpPr/>
          <p:nvPr/>
        </p:nvSpPr>
        <p:spPr>
          <a:xfrm>
            <a:off x="3575304" y="2039112"/>
            <a:ext cx="420624" cy="276606"/>
          </a:xfrm>
          <a:prstGeom prst="rect">
            <a:avLst/>
          </a:prstGeom>
          <a:noFill/>
          <a:ln/>
        </p:spPr>
        <p:txBody>
          <a:bodyPr wrap="square" lIns="0" tIns="0" rIns="0" bIns="0" rtlCol="0" anchor="t"/>
          <a:lstStyle/>
          <a:p>
            <a:pPr algn="l" indent="0" marL="0">
              <a:buNone/>
            </a:pPr>
            <a:r>
              <a:rPr lang="en-US" sz="1800" b="1" dirty="0">
                <a:solidFill>
                  <a:srgbClr val="087F80"/>
                </a:solidFill>
                <a:latin typeface="DejaVu Sans" pitchFamily="34" charset="0"/>
                <a:ea typeface="DejaVu Sans" pitchFamily="34" charset="-122"/>
                <a:cs typeface="DejaVu Sans" pitchFamily="34" charset="-120"/>
              </a:rPr>
              <a:t>02</a:t>
            </a:r>
            <a:endParaRPr lang="en-US" sz="1800" dirty="0"/>
          </a:p>
        </p:txBody>
      </p:sp>
      <p:sp>
        <p:nvSpPr>
          <p:cNvPr id="13" name="Text 11"/>
          <p:cNvSpPr/>
          <p:nvPr/>
        </p:nvSpPr>
        <p:spPr>
          <a:xfrm>
            <a:off x="3575304" y="2468880"/>
            <a:ext cx="2194560" cy="238189"/>
          </a:xfrm>
          <a:prstGeom prst="rect">
            <a:avLst/>
          </a:prstGeom>
          <a:noFill/>
          <a:ln/>
        </p:spPr>
        <p:txBody>
          <a:bodyPr wrap="square" lIns="0" tIns="0" rIns="0" bIns="0" rtlCol="0" anchor="t"/>
          <a:lstStyle/>
          <a:p>
            <a:pPr algn="l" indent="0" marL="0">
              <a:buNone/>
            </a:pPr>
            <a:r>
              <a:rPr lang="en-US" sz="1550" b="1" dirty="0">
                <a:solidFill>
                  <a:srgbClr val="182B42"/>
                </a:solidFill>
                <a:latin typeface="DejaVu Sans" pitchFamily="34" charset="0"/>
                <a:ea typeface="DejaVu Sans" pitchFamily="34" charset="-122"/>
                <a:cs typeface="DejaVu Sans" pitchFamily="34" charset="-120"/>
              </a:rPr>
              <a:t>Create a plan</a:t>
            </a:r>
            <a:endParaRPr lang="en-US" sz="1550" dirty="0"/>
          </a:p>
        </p:txBody>
      </p:sp>
      <p:sp>
        <p:nvSpPr>
          <p:cNvPr id="14" name="Text 12"/>
          <p:cNvSpPr/>
          <p:nvPr/>
        </p:nvSpPr>
        <p:spPr>
          <a:xfrm>
            <a:off x="3575304" y="2907792"/>
            <a:ext cx="2194560" cy="169037"/>
          </a:xfrm>
          <a:prstGeom prst="rect">
            <a:avLst/>
          </a:prstGeom>
          <a:noFill/>
          <a:ln/>
        </p:spPr>
        <p:txBody>
          <a:bodyPr wrap="square" lIns="0" tIns="0" rIns="0" bIns="0" rtlCol="0" anchor="t"/>
          <a:lstStyle/>
          <a:p>
            <a:pPr algn="l" indent="0" marL="0">
              <a:buNone/>
            </a:pPr>
            <a:r>
              <a:rPr lang="en-US" sz="1100" dirty="0">
                <a:solidFill>
                  <a:srgbClr val="617487"/>
                </a:solidFill>
                <a:latin typeface="DejaVu Sans" pitchFamily="34" charset="0"/>
                <a:ea typeface="DejaVu Sans" pitchFamily="34" charset="-122"/>
                <a:cs typeface="DejaVu Sans" pitchFamily="34" charset="-120"/>
              </a:rPr>
              <a:t>Delegate scoped specialist</a:t>
            </a:r>
            <a:endParaRPr lang="en-US" sz="1100" dirty="0"/>
          </a:p>
        </p:txBody>
      </p:sp>
      <p:sp>
        <p:nvSpPr>
          <p:cNvPr id="15" name="Text 13"/>
          <p:cNvSpPr/>
          <p:nvPr/>
        </p:nvSpPr>
        <p:spPr>
          <a:xfrm>
            <a:off x="3575304" y="3078226"/>
            <a:ext cx="2194560" cy="169037"/>
          </a:xfrm>
          <a:prstGeom prst="rect">
            <a:avLst/>
          </a:prstGeom>
          <a:noFill/>
          <a:ln/>
        </p:spPr>
        <p:txBody>
          <a:bodyPr wrap="square" lIns="0" tIns="0" rIns="0" bIns="0" rtlCol="0" anchor="t"/>
          <a:lstStyle/>
          <a:p>
            <a:pPr algn="l" indent="0" marL="0">
              <a:buNone/>
            </a:pPr>
            <a:r>
              <a:rPr lang="en-US" sz="1100" dirty="0">
                <a:solidFill>
                  <a:srgbClr val="617487"/>
                </a:solidFill>
                <a:latin typeface="DejaVu Sans" pitchFamily="34" charset="0"/>
                <a:ea typeface="DejaVu Sans" pitchFamily="34" charset="-122"/>
                <a:cs typeface="DejaVu Sans" pitchFamily="34" charset="-120"/>
              </a:rPr>
              <a:t>steps</a:t>
            </a:r>
            <a:endParaRPr lang="en-US" sz="1100" dirty="0"/>
          </a:p>
        </p:txBody>
      </p:sp>
      <p:sp>
        <p:nvSpPr>
          <p:cNvPr id="16" name="Shape 14"/>
          <p:cNvSpPr/>
          <p:nvPr/>
        </p:nvSpPr>
        <p:spPr>
          <a:xfrm>
            <a:off x="6254496" y="1874520"/>
            <a:ext cx="2542032" cy="1481328"/>
          </a:xfrm>
          <a:prstGeom prst="rect">
            <a:avLst/>
          </a:prstGeom>
          <a:solidFill>
            <a:srgbClr val="FFFFFF"/>
          </a:solidFill>
          <a:ln w="8890">
            <a:solidFill>
              <a:srgbClr val="DCE5EC"/>
            </a:solidFill>
            <a:prstDash val="solid"/>
          </a:ln>
        </p:spPr>
      </p:sp>
      <p:sp>
        <p:nvSpPr>
          <p:cNvPr id="17" name="Text 15"/>
          <p:cNvSpPr/>
          <p:nvPr/>
        </p:nvSpPr>
        <p:spPr>
          <a:xfrm>
            <a:off x="6428232" y="2039112"/>
            <a:ext cx="420624" cy="276606"/>
          </a:xfrm>
          <a:prstGeom prst="rect">
            <a:avLst/>
          </a:prstGeom>
          <a:noFill/>
          <a:ln/>
        </p:spPr>
        <p:txBody>
          <a:bodyPr wrap="square" lIns="0" tIns="0" rIns="0" bIns="0" rtlCol="0" anchor="t"/>
          <a:lstStyle/>
          <a:p>
            <a:pPr algn="l" indent="0" marL="0">
              <a:buNone/>
            </a:pPr>
            <a:r>
              <a:rPr lang="en-US" sz="1800" b="1" dirty="0">
                <a:solidFill>
                  <a:srgbClr val="087F80"/>
                </a:solidFill>
                <a:latin typeface="DejaVu Sans" pitchFamily="34" charset="0"/>
                <a:ea typeface="DejaVu Sans" pitchFamily="34" charset="-122"/>
                <a:cs typeface="DejaVu Sans" pitchFamily="34" charset="-120"/>
              </a:rPr>
              <a:t>03</a:t>
            </a:r>
            <a:endParaRPr lang="en-US" sz="1800" dirty="0"/>
          </a:p>
        </p:txBody>
      </p:sp>
      <p:sp>
        <p:nvSpPr>
          <p:cNvPr id="18" name="Text 16"/>
          <p:cNvSpPr/>
          <p:nvPr/>
        </p:nvSpPr>
        <p:spPr>
          <a:xfrm>
            <a:off x="6428232" y="2468880"/>
            <a:ext cx="2194560" cy="238189"/>
          </a:xfrm>
          <a:prstGeom prst="rect">
            <a:avLst/>
          </a:prstGeom>
          <a:noFill/>
          <a:ln/>
        </p:spPr>
        <p:txBody>
          <a:bodyPr wrap="square" lIns="0" tIns="0" rIns="0" bIns="0" rtlCol="0" anchor="t"/>
          <a:lstStyle/>
          <a:p>
            <a:pPr algn="l" indent="0" marL="0">
              <a:buNone/>
            </a:pPr>
            <a:r>
              <a:rPr lang="en-US" sz="1550" b="1" dirty="0">
                <a:solidFill>
                  <a:srgbClr val="182B42"/>
                </a:solidFill>
                <a:latin typeface="DejaVu Sans" pitchFamily="34" charset="0"/>
                <a:ea typeface="DejaVu Sans" pitchFamily="34" charset="-122"/>
                <a:cs typeface="DejaVu Sans" pitchFamily="34" charset="-120"/>
              </a:rPr>
              <a:t>Run real tools</a:t>
            </a:r>
            <a:endParaRPr lang="en-US" sz="1550" dirty="0"/>
          </a:p>
        </p:txBody>
      </p:sp>
      <p:sp>
        <p:nvSpPr>
          <p:cNvPr id="19" name="Text 17"/>
          <p:cNvSpPr/>
          <p:nvPr/>
        </p:nvSpPr>
        <p:spPr>
          <a:xfrm>
            <a:off x="6428232" y="2907792"/>
            <a:ext cx="2194560" cy="176721"/>
          </a:xfrm>
          <a:prstGeom prst="rect">
            <a:avLst/>
          </a:prstGeom>
          <a:noFill/>
          <a:ln/>
        </p:spPr>
        <p:txBody>
          <a:bodyPr wrap="square" lIns="0" tIns="0" rIns="0" bIns="0" rtlCol="0" anchor="t"/>
          <a:lstStyle/>
          <a:p>
            <a:pPr algn="l" indent="0" marL="0">
              <a:buNone/>
            </a:pPr>
            <a:r>
              <a:rPr lang="en-US" sz="1150" dirty="0">
                <a:solidFill>
                  <a:srgbClr val="617487"/>
                </a:solidFill>
                <a:latin typeface="DejaVu Sans" pitchFamily="34" charset="0"/>
                <a:ea typeface="DejaVu Sans" pitchFamily="34" charset="-122"/>
                <a:cs typeface="DejaVu Sans" pitchFamily="34" charset="-120"/>
              </a:rPr>
              <a:t>Read, reserve and compare</a:t>
            </a:r>
            <a:endParaRPr lang="en-US" sz="1150" dirty="0"/>
          </a:p>
        </p:txBody>
      </p:sp>
      <p:sp>
        <p:nvSpPr>
          <p:cNvPr id="20" name="Shape 18"/>
          <p:cNvSpPr/>
          <p:nvPr/>
        </p:nvSpPr>
        <p:spPr>
          <a:xfrm>
            <a:off x="9107424" y="1874520"/>
            <a:ext cx="2542032" cy="1481328"/>
          </a:xfrm>
          <a:prstGeom prst="rect">
            <a:avLst/>
          </a:prstGeom>
          <a:solidFill>
            <a:srgbClr val="FFFFFF"/>
          </a:solidFill>
          <a:ln w="8890">
            <a:solidFill>
              <a:srgbClr val="DCE5EC"/>
            </a:solidFill>
            <a:prstDash val="solid"/>
          </a:ln>
        </p:spPr>
      </p:sp>
      <p:sp>
        <p:nvSpPr>
          <p:cNvPr id="21" name="Text 19"/>
          <p:cNvSpPr/>
          <p:nvPr/>
        </p:nvSpPr>
        <p:spPr>
          <a:xfrm>
            <a:off x="9281160" y="2039112"/>
            <a:ext cx="420624" cy="276606"/>
          </a:xfrm>
          <a:prstGeom prst="rect">
            <a:avLst/>
          </a:prstGeom>
          <a:noFill/>
          <a:ln/>
        </p:spPr>
        <p:txBody>
          <a:bodyPr wrap="square" lIns="0" tIns="0" rIns="0" bIns="0" rtlCol="0" anchor="t"/>
          <a:lstStyle/>
          <a:p>
            <a:pPr algn="l" indent="0" marL="0">
              <a:buNone/>
            </a:pPr>
            <a:r>
              <a:rPr lang="en-US" sz="1800" b="1" dirty="0">
                <a:solidFill>
                  <a:srgbClr val="F2AD65"/>
                </a:solidFill>
                <a:latin typeface="DejaVu Sans" pitchFamily="34" charset="0"/>
                <a:ea typeface="DejaVu Sans" pitchFamily="34" charset="-122"/>
                <a:cs typeface="DejaVu Sans" pitchFamily="34" charset="-120"/>
              </a:rPr>
              <a:t>04</a:t>
            </a:r>
            <a:endParaRPr lang="en-US" sz="1800" dirty="0"/>
          </a:p>
        </p:txBody>
      </p:sp>
      <p:sp>
        <p:nvSpPr>
          <p:cNvPr id="22" name="Text 20"/>
          <p:cNvSpPr/>
          <p:nvPr/>
        </p:nvSpPr>
        <p:spPr>
          <a:xfrm>
            <a:off x="9281160" y="2468880"/>
            <a:ext cx="2194560" cy="238189"/>
          </a:xfrm>
          <a:prstGeom prst="rect">
            <a:avLst/>
          </a:prstGeom>
          <a:noFill/>
          <a:ln/>
        </p:spPr>
        <p:txBody>
          <a:bodyPr wrap="square" lIns="0" tIns="0" rIns="0" bIns="0" rtlCol="0" anchor="t"/>
          <a:lstStyle/>
          <a:p>
            <a:pPr algn="l" indent="0" marL="0">
              <a:buNone/>
            </a:pPr>
            <a:r>
              <a:rPr lang="en-US" sz="1550" b="1" dirty="0">
                <a:solidFill>
                  <a:srgbClr val="182B42"/>
                </a:solidFill>
                <a:latin typeface="DejaVu Sans" pitchFamily="34" charset="0"/>
                <a:ea typeface="DejaVu Sans" pitchFamily="34" charset="-122"/>
                <a:cs typeface="DejaVu Sans" pitchFamily="34" charset="-120"/>
              </a:rPr>
              <a:t>Pause for approval</a:t>
            </a:r>
            <a:endParaRPr lang="en-US" sz="1550" dirty="0"/>
          </a:p>
        </p:txBody>
      </p:sp>
      <p:sp>
        <p:nvSpPr>
          <p:cNvPr id="23" name="Text 21"/>
          <p:cNvSpPr/>
          <p:nvPr/>
        </p:nvSpPr>
        <p:spPr>
          <a:xfrm>
            <a:off x="9281160" y="2907792"/>
            <a:ext cx="2194560" cy="169037"/>
          </a:xfrm>
          <a:prstGeom prst="rect">
            <a:avLst/>
          </a:prstGeom>
          <a:noFill/>
          <a:ln/>
        </p:spPr>
        <p:txBody>
          <a:bodyPr wrap="square" lIns="0" tIns="0" rIns="0" bIns="0" rtlCol="0" anchor="t"/>
          <a:lstStyle/>
          <a:p>
            <a:pPr algn="l" indent="0" marL="0">
              <a:buNone/>
            </a:pPr>
            <a:r>
              <a:rPr lang="en-US" sz="1100" dirty="0">
                <a:solidFill>
                  <a:srgbClr val="617487"/>
                </a:solidFill>
                <a:latin typeface="DejaVu Sans" pitchFamily="34" charset="0"/>
                <a:ea typeface="DejaVu Sans" pitchFamily="34" charset="-122"/>
                <a:cs typeface="DejaVu Sans" pitchFamily="34" charset="-120"/>
              </a:rPr>
              <a:t>Bind the exact purchase</a:t>
            </a:r>
            <a:endParaRPr lang="en-US" sz="1100" dirty="0"/>
          </a:p>
        </p:txBody>
      </p:sp>
      <p:sp>
        <p:nvSpPr>
          <p:cNvPr id="24" name="Text 22"/>
          <p:cNvSpPr/>
          <p:nvPr/>
        </p:nvSpPr>
        <p:spPr>
          <a:xfrm>
            <a:off x="9281160" y="3078226"/>
            <a:ext cx="2194560" cy="169037"/>
          </a:xfrm>
          <a:prstGeom prst="rect">
            <a:avLst/>
          </a:prstGeom>
          <a:noFill/>
          <a:ln/>
        </p:spPr>
        <p:txBody>
          <a:bodyPr wrap="square" lIns="0" tIns="0" rIns="0" bIns="0" rtlCol="0" anchor="t"/>
          <a:lstStyle/>
          <a:p>
            <a:pPr algn="l" indent="0" marL="0">
              <a:buNone/>
            </a:pPr>
            <a:r>
              <a:rPr lang="en-US" sz="1100" dirty="0">
                <a:solidFill>
                  <a:srgbClr val="617487"/>
                </a:solidFill>
                <a:latin typeface="DejaVu Sans" pitchFamily="34" charset="0"/>
                <a:ea typeface="DejaVu Sans" pitchFamily="34" charset="-122"/>
                <a:cs typeface="DejaVu Sans" pitchFamily="34" charset="-120"/>
              </a:rPr>
              <a:t>request</a:t>
            </a:r>
            <a:endParaRPr lang="en-US" sz="1100" dirty="0"/>
          </a:p>
        </p:txBody>
      </p:sp>
      <p:sp>
        <p:nvSpPr>
          <p:cNvPr id="25" name="Shape 23"/>
          <p:cNvSpPr/>
          <p:nvPr/>
        </p:nvSpPr>
        <p:spPr>
          <a:xfrm>
            <a:off x="9107424" y="4050792"/>
            <a:ext cx="2542032" cy="1481328"/>
          </a:xfrm>
          <a:prstGeom prst="rect">
            <a:avLst/>
          </a:prstGeom>
          <a:solidFill>
            <a:srgbClr val="FBEDEE"/>
          </a:solidFill>
          <a:ln w="8890">
            <a:solidFill>
              <a:srgbClr val="DCE5EC"/>
            </a:solidFill>
            <a:prstDash val="solid"/>
          </a:ln>
        </p:spPr>
      </p:sp>
      <p:sp>
        <p:nvSpPr>
          <p:cNvPr id="26" name="Text 24"/>
          <p:cNvSpPr/>
          <p:nvPr/>
        </p:nvSpPr>
        <p:spPr>
          <a:xfrm>
            <a:off x="9281160" y="4215384"/>
            <a:ext cx="420624" cy="276606"/>
          </a:xfrm>
          <a:prstGeom prst="rect">
            <a:avLst/>
          </a:prstGeom>
          <a:noFill/>
          <a:ln/>
        </p:spPr>
        <p:txBody>
          <a:bodyPr wrap="square" lIns="0" tIns="0" rIns="0" bIns="0" rtlCol="0" anchor="t"/>
          <a:lstStyle/>
          <a:p>
            <a:pPr algn="l" indent="0" marL="0">
              <a:buNone/>
            </a:pPr>
            <a:r>
              <a:rPr lang="en-US" sz="1800" b="1" dirty="0">
                <a:solidFill>
                  <a:srgbClr val="B13F43"/>
                </a:solidFill>
                <a:latin typeface="DejaVu Sans" pitchFamily="34" charset="0"/>
                <a:ea typeface="DejaVu Sans" pitchFamily="34" charset="-122"/>
                <a:cs typeface="DejaVu Sans" pitchFamily="34" charset="-120"/>
              </a:rPr>
              <a:t>05</a:t>
            </a:r>
            <a:endParaRPr lang="en-US" sz="1800" dirty="0"/>
          </a:p>
        </p:txBody>
      </p:sp>
      <p:sp>
        <p:nvSpPr>
          <p:cNvPr id="27" name="Text 25"/>
          <p:cNvSpPr/>
          <p:nvPr/>
        </p:nvSpPr>
        <p:spPr>
          <a:xfrm>
            <a:off x="9281160" y="4645152"/>
            <a:ext cx="2194560" cy="238189"/>
          </a:xfrm>
          <a:prstGeom prst="rect">
            <a:avLst/>
          </a:prstGeom>
          <a:noFill/>
          <a:ln/>
        </p:spPr>
        <p:txBody>
          <a:bodyPr wrap="square" lIns="0" tIns="0" rIns="0" bIns="0" rtlCol="0" anchor="t"/>
          <a:lstStyle/>
          <a:p>
            <a:pPr algn="l" indent="0" marL="0">
              <a:buNone/>
            </a:pPr>
            <a:r>
              <a:rPr lang="en-US" sz="1550" b="1" dirty="0">
                <a:solidFill>
                  <a:srgbClr val="182B42"/>
                </a:solidFill>
                <a:latin typeface="DejaVu Sans" pitchFamily="34" charset="0"/>
                <a:ea typeface="DejaVu Sans" pitchFamily="34" charset="-122"/>
                <a:cs typeface="DejaVu Sans" pitchFamily="34" charset="-120"/>
              </a:rPr>
              <a:t>Observe a change</a:t>
            </a:r>
            <a:endParaRPr lang="en-US" sz="1550" dirty="0"/>
          </a:p>
        </p:txBody>
      </p:sp>
      <p:sp>
        <p:nvSpPr>
          <p:cNvPr id="28" name="Text 26"/>
          <p:cNvSpPr/>
          <p:nvPr/>
        </p:nvSpPr>
        <p:spPr>
          <a:xfrm>
            <a:off x="9281160" y="5084064"/>
            <a:ext cx="2194560" cy="169037"/>
          </a:xfrm>
          <a:prstGeom prst="rect">
            <a:avLst/>
          </a:prstGeom>
          <a:noFill/>
          <a:ln/>
        </p:spPr>
        <p:txBody>
          <a:bodyPr wrap="square" lIns="0" tIns="0" rIns="0" bIns="0" rtlCol="0" anchor="t"/>
          <a:lstStyle/>
          <a:p>
            <a:pPr algn="l" indent="0" marL="0">
              <a:buNone/>
            </a:pPr>
            <a:r>
              <a:rPr lang="en-US" sz="1100" dirty="0">
                <a:solidFill>
                  <a:srgbClr val="617487"/>
                </a:solidFill>
                <a:latin typeface="DejaVu Sans" pitchFamily="34" charset="0"/>
                <a:ea typeface="DejaVu Sans" pitchFamily="34" charset="-122"/>
                <a:cs typeface="DejaVu Sans" pitchFamily="34" charset="-120"/>
              </a:rPr>
              <a:t>Stale supplier quote is rejected</a:t>
            </a:r>
            <a:endParaRPr lang="en-US" sz="1100" dirty="0"/>
          </a:p>
        </p:txBody>
      </p:sp>
      <p:sp>
        <p:nvSpPr>
          <p:cNvPr id="29" name="Shape 27"/>
          <p:cNvSpPr/>
          <p:nvPr/>
        </p:nvSpPr>
        <p:spPr>
          <a:xfrm>
            <a:off x="6254496" y="4050792"/>
            <a:ext cx="2542032" cy="1481328"/>
          </a:xfrm>
          <a:prstGeom prst="rect">
            <a:avLst/>
          </a:prstGeom>
          <a:solidFill>
            <a:srgbClr val="FFFFFF"/>
          </a:solidFill>
          <a:ln w="8890">
            <a:solidFill>
              <a:srgbClr val="DCE5EC"/>
            </a:solidFill>
            <a:prstDash val="solid"/>
          </a:ln>
        </p:spPr>
      </p:sp>
      <p:sp>
        <p:nvSpPr>
          <p:cNvPr id="30" name="Text 28"/>
          <p:cNvSpPr/>
          <p:nvPr/>
        </p:nvSpPr>
        <p:spPr>
          <a:xfrm>
            <a:off x="6428232" y="4215384"/>
            <a:ext cx="420624" cy="276606"/>
          </a:xfrm>
          <a:prstGeom prst="rect">
            <a:avLst/>
          </a:prstGeom>
          <a:noFill/>
          <a:ln/>
        </p:spPr>
        <p:txBody>
          <a:bodyPr wrap="square" lIns="0" tIns="0" rIns="0" bIns="0" rtlCol="0" anchor="t"/>
          <a:lstStyle/>
          <a:p>
            <a:pPr algn="l" indent="0" marL="0">
              <a:buNone/>
            </a:pPr>
            <a:r>
              <a:rPr lang="en-US" sz="1800" b="1" dirty="0">
                <a:solidFill>
                  <a:srgbClr val="087F80"/>
                </a:solidFill>
                <a:latin typeface="DejaVu Sans" pitchFamily="34" charset="0"/>
                <a:ea typeface="DejaVu Sans" pitchFamily="34" charset="-122"/>
                <a:cs typeface="DejaVu Sans" pitchFamily="34" charset="-120"/>
              </a:rPr>
              <a:t>06</a:t>
            </a:r>
            <a:endParaRPr lang="en-US" sz="1800" dirty="0"/>
          </a:p>
        </p:txBody>
      </p:sp>
      <p:sp>
        <p:nvSpPr>
          <p:cNvPr id="31" name="Text 29"/>
          <p:cNvSpPr/>
          <p:nvPr/>
        </p:nvSpPr>
        <p:spPr>
          <a:xfrm>
            <a:off x="6428232" y="4645152"/>
            <a:ext cx="2194560" cy="238189"/>
          </a:xfrm>
          <a:prstGeom prst="rect">
            <a:avLst/>
          </a:prstGeom>
          <a:noFill/>
          <a:ln/>
        </p:spPr>
        <p:txBody>
          <a:bodyPr wrap="square" lIns="0" tIns="0" rIns="0" bIns="0" rtlCol="0" anchor="t"/>
          <a:lstStyle/>
          <a:p>
            <a:pPr algn="l" indent="0" marL="0">
              <a:buNone/>
            </a:pPr>
            <a:r>
              <a:rPr lang="en-US" sz="1550" b="1" dirty="0">
                <a:solidFill>
                  <a:srgbClr val="182B42"/>
                </a:solidFill>
                <a:latin typeface="DejaVu Sans" pitchFamily="34" charset="0"/>
                <a:ea typeface="DejaVu Sans" pitchFamily="34" charset="-122"/>
                <a:cs typeface="DejaVu Sans" pitchFamily="34" charset="-120"/>
              </a:rPr>
              <a:t>Revise the plan</a:t>
            </a:r>
            <a:endParaRPr lang="en-US" sz="1550" dirty="0"/>
          </a:p>
        </p:txBody>
      </p:sp>
      <p:sp>
        <p:nvSpPr>
          <p:cNvPr id="32" name="Text 30"/>
          <p:cNvSpPr/>
          <p:nvPr/>
        </p:nvSpPr>
        <p:spPr>
          <a:xfrm>
            <a:off x="6428232" y="5084064"/>
            <a:ext cx="2194560" cy="169037"/>
          </a:xfrm>
          <a:prstGeom prst="rect">
            <a:avLst/>
          </a:prstGeom>
          <a:noFill/>
          <a:ln/>
        </p:spPr>
        <p:txBody>
          <a:bodyPr wrap="square" lIns="0" tIns="0" rIns="0" bIns="0" rtlCol="0" anchor="t"/>
          <a:lstStyle/>
          <a:p>
            <a:pPr algn="l" indent="0" marL="0">
              <a:buNone/>
            </a:pPr>
            <a:r>
              <a:rPr lang="en-US" sz="1100" dirty="0">
                <a:solidFill>
                  <a:srgbClr val="617487"/>
                </a:solidFill>
                <a:latin typeface="DejaVu Sans" pitchFamily="34" charset="0"/>
                <a:ea typeface="DejaVu Sans" pitchFamily="34" charset="-122"/>
                <a:cs typeface="DejaVu Sans" pitchFamily="34" charset="-120"/>
              </a:rPr>
              <a:t>Use current state and memory</a:t>
            </a:r>
            <a:endParaRPr lang="en-US" sz="1100" dirty="0"/>
          </a:p>
        </p:txBody>
      </p:sp>
      <p:sp>
        <p:nvSpPr>
          <p:cNvPr id="33" name="Shape 31"/>
          <p:cNvSpPr/>
          <p:nvPr/>
        </p:nvSpPr>
        <p:spPr>
          <a:xfrm>
            <a:off x="3401568" y="4050792"/>
            <a:ext cx="2542032" cy="1481328"/>
          </a:xfrm>
          <a:prstGeom prst="rect">
            <a:avLst/>
          </a:prstGeom>
          <a:solidFill>
            <a:srgbClr val="FFFFFF"/>
          </a:solidFill>
          <a:ln w="8890">
            <a:solidFill>
              <a:srgbClr val="DCE5EC"/>
            </a:solidFill>
            <a:prstDash val="solid"/>
          </a:ln>
        </p:spPr>
      </p:sp>
      <p:sp>
        <p:nvSpPr>
          <p:cNvPr id="34" name="Text 32"/>
          <p:cNvSpPr/>
          <p:nvPr/>
        </p:nvSpPr>
        <p:spPr>
          <a:xfrm>
            <a:off x="3575304" y="4215384"/>
            <a:ext cx="420624" cy="276606"/>
          </a:xfrm>
          <a:prstGeom prst="rect">
            <a:avLst/>
          </a:prstGeom>
          <a:noFill/>
          <a:ln/>
        </p:spPr>
        <p:txBody>
          <a:bodyPr wrap="square" lIns="0" tIns="0" rIns="0" bIns="0" rtlCol="0" anchor="t"/>
          <a:lstStyle/>
          <a:p>
            <a:pPr algn="l" indent="0" marL="0">
              <a:buNone/>
            </a:pPr>
            <a:r>
              <a:rPr lang="en-US" sz="1800" b="1" dirty="0">
                <a:solidFill>
                  <a:srgbClr val="087F80"/>
                </a:solidFill>
                <a:latin typeface="DejaVu Sans" pitchFamily="34" charset="0"/>
                <a:ea typeface="DejaVu Sans" pitchFamily="34" charset="-122"/>
                <a:cs typeface="DejaVu Sans" pitchFamily="34" charset="-120"/>
              </a:rPr>
              <a:t>07</a:t>
            </a:r>
            <a:endParaRPr lang="en-US" sz="1800" dirty="0"/>
          </a:p>
        </p:txBody>
      </p:sp>
      <p:sp>
        <p:nvSpPr>
          <p:cNvPr id="35" name="Text 33"/>
          <p:cNvSpPr/>
          <p:nvPr/>
        </p:nvSpPr>
        <p:spPr>
          <a:xfrm>
            <a:off x="3575304" y="4645152"/>
            <a:ext cx="2194560" cy="238189"/>
          </a:xfrm>
          <a:prstGeom prst="rect">
            <a:avLst/>
          </a:prstGeom>
          <a:noFill/>
          <a:ln/>
        </p:spPr>
        <p:txBody>
          <a:bodyPr wrap="square" lIns="0" tIns="0" rIns="0" bIns="0" rtlCol="0" anchor="t"/>
          <a:lstStyle/>
          <a:p>
            <a:pPr algn="l" indent="0" marL="0">
              <a:buNone/>
            </a:pPr>
            <a:r>
              <a:rPr lang="en-US" sz="1550" b="1" dirty="0">
                <a:solidFill>
                  <a:srgbClr val="182B42"/>
                </a:solidFill>
                <a:latin typeface="DejaVu Sans" pitchFamily="34" charset="0"/>
                <a:ea typeface="DejaVu Sans" pitchFamily="34" charset="-122"/>
                <a:cs typeface="DejaVu Sans" pitchFamily="34" charset="-120"/>
              </a:rPr>
              <a:t>Verify the outcome</a:t>
            </a:r>
            <a:endParaRPr lang="en-US" sz="1550" dirty="0"/>
          </a:p>
        </p:txBody>
      </p:sp>
      <p:sp>
        <p:nvSpPr>
          <p:cNvPr id="36" name="Text 34"/>
          <p:cNvSpPr/>
          <p:nvPr/>
        </p:nvSpPr>
        <p:spPr>
          <a:xfrm>
            <a:off x="3575304" y="5084064"/>
            <a:ext cx="2194560" cy="176721"/>
          </a:xfrm>
          <a:prstGeom prst="rect">
            <a:avLst/>
          </a:prstGeom>
          <a:noFill/>
          <a:ln/>
        </p:spPr>
        <p:txBody>
          <a:bodyPr wrap="square" lIns="0" tIns="0" rIns="0" bIns="0" rtlCol="0" anchor="t"/>
          <a:lstStyle/>
          <a:p>
            <a:pPr algn="l" indent="0" marL="0">
              <a:buNone/>
            </a:pPr>
            <a:r>
              <a:rPr lang="en-US" sz="1150" dirty="0">
                <a:solidFill>
                  <a:srgbClr val="617487"/>
                </a:solidFill>
                <a:latin typeface="DejaVu Sans" pitchFamily="34" charset="0"/>
                <a:ea typeface="DejaVu Sans" pitchFamily="34" charset="-122"/>
                <a:cs typeface="DejaVu Sans" pitchFamily="34" charset="-120"/>
              </a:rPr>
              <a:t>Allocations, spend and arrival</a:t>
            </a:r>
            <a:endParaRPr lang="en-US" sz="1150" dirty="0"/>
          </a:p>
        </p:txBody>
      </p:sp>
      <p:sp>
        <p:nvSpPr>
          <p:cNvPr id="37" name="Shape 35"/>
          <p:cNvSpPr/>
          <p:nvPr/>
        </p:nvSpPr>
        <p:spPr>
          <a:xfrm>
            <a:off x="548640" y="4050792"/>
            <a:ext cx="2542032" cy="1481328"/>
          </a:xfrm>
          <a:prstGeom prst="rect">
            <a:avLst/>
          </a:prstGeom>
          <a:solidFill>
            <a:srgbClr val="FFFFFF"/>
          </a:solidFill>
          <a:ln w="8890">
            <a:solidFill>
              <a:srgbClr val="DCE5EC"/>
            </a:solidFill>
            <a:prstDash val="solid"/>
          </a:ln>
        </p:spPr>
      </p:sp>
      <p:sp>
        <p:nvSpPr>
          <p:cNvPr id="38" name="Text 36"/>
          <p:cNvSpPr/>
          <p:nvPr/>
        </p:nvSpPr>
        <p:spPr>
          <a:xfrm>
            <a:off x="722376" y="4215384"/>
            <a:ext cx="420624" cy="276606"/>
          </a:xfrm>
          <a:prstGeom prst="rect">
            <a:avLst/>
          </a:prstGeom>
          <a:noFill/>
          <a:ln/>
        </p:spPr>
        <p:txBody>
          <a:bodyPr wrap="square" lIns="0" tIns="0" rIns="0" bIns="0" rtlCol="0" anchor="t"/>
          <a:lstStyle/>
          <a:p>
            <a:pPr algn="l" indent="0" marL="0">
              <a:buNone/>
            </a:pPr>
            <a:r>
              <a:rPr lang="en-US" sz="1800" b="1" dirty="0">
                <a:solidFill>
                  <a:srgbClr val="087F80"/>
                </a:solidFill>
                <a:latin typeface="DejaVu Sans" pitchFamily="34" charset="0"/>
                <a:ea typeface="DejaVu Sans" pitchFamily="34" charset="-122"/>
                <a:cs typeface="DejaVu Sans" pitchFamily="34" charset="-120"/>
              </a:rPr>
              <a:t>08</a:t>
            </a:r>
            <a:endParaRPr lang="en-US" sz="1800" dirty="0"/>
          </a:p>
        </p:txBody>
      </p:sp>
      <p:sp>
        <p:nvSpPr>
          <p:cNvPr id="39" name="Text 37"/>
          <p:cNvSpPr/>
          <p:nvPr/>
        </p:nvSpPr>
        <p:spPr>
          <a:xfrm>
            <a:off x="722376" y="4645152"/>
            <a:ext cx="2194560" cy="238189"/>
          </a:xfrm>
          <a:prstGeom prst="rect">
            <a:avLst/>
          </a:prstGeom>
          <a:noFill/>
          <a:ln/>
        </p:spPr>
        <p:txBody>
          <a:bodyPr wrap="square" lIns="0" tIns="0" rIns="0" bIns="0" rtlCol="0" anchor="t"/>
          <a:lstStyle/>
          <a:p>
            <a:pPr algn="l" indent="0" marL="0">
              <a:buNone/>
            </a:pPr>
            <a:r>
              <a:rPr lang="en-US" sz="1550" b="1" dirty="0">
                <a:solidFill>
                  <a:srgbClr val="182B42"/>
                </a:solidFill>
                <a:latin typeface="DejaVu Sans" pitchFamily="34" charset="0"/>
                <a:ea typeface="DejaVu Sans" pitchFamily="34" charset="-122"/>
                <a:cs typeface="DejaVu Sans" pitchFamily="34" charset="-120"/>
              </a:rPr>
              <a:t>Publish evidence</a:t>
            </a:r>
            <a:endParaRPr lang="en-US" sz="1550" dirty="0"/>
          </a:p>
        </p:txBody>
      </p:sp>
      <p:sp>
        <p:nvSpPr>
          <p:cNvPr id="40" name="Text 38"/>
          <p:cNvSpPr/>
          <p:nvPr/>
        </p:nvSpPr>
        <p:spPr>
          <a:xfrm>
            <a:off x="722376" y="5084064"/>
            <a:ext cx="2194560" cy="176721"/>
          </a:xfrm>
          <a:prstGeom prst="rect">
            <a:avLst/>
          </a:prstGeom>
          <a:noFill/>
          <a:ln/>
        </p:spPr>
        <p:txBody>
          <a:bodyPr wrap="square" lIns="0" tIns="0" rIns="0" bIns="0" rtlCol="0" anchor="t"/>
          <a:lstStyle/>
          <a:p>
            <a:pPr algn="l" indent="0" marL="0">
              <a:buNone/>
            </a:pPr>
            <a:r>
              <a:rPr lang="en-US" sz="1150" dirty="0">
                <a:solidFill>
                  <a:srgbClr val="617487"/>
                </a:solidFill>
                <a:latin typeface="DejaVu Sans" pitchFamily="34" charset="0"/>
                <a:ea typeface="DejaVu Sans" pitchFamily="34" charset="-122"/>
                <a:cs typeface="DejaVu Sans" pitchFamily="34" charset="-120"/>
              </a:rPr>
              <a:t>Report, audit and completion</a:t>
            </a:r>
            <a:endParaRPr lang="en-US" sz="1150" dirty="0"/>
          </a:p>
        </p:txBody>
      </p:sp>
      <p:sp>
        <p:nvSpPr>
          <p:cNvPr id="41" name="Shape 39"/>
          <p:cNvSpPr/>
          <p:nvPr/>
        </p:nvSpPr>
        <p:spPr>
          <a:xfrm>
            <a:off x="3127248" y="2615184"/>
            <a:ext cx="228600" cy="0"/>
          </a:xfrm>
          <a:prstGeom prst="line">
            <a:avLst/>
          </a:prstGeom>
          <a:noFill/>
          <a:ln w="19050">
            <a:solidFill>
              <a:srgbClr val="087F80"/>
            </a:solidFill>
            <a:prstDash val="solid"/>
            <a:tailEnd type="triangle"/>
          </a:ln>
        </p:spPr>
      </p:sp>
      <p:sp>
        <p:nvSpPr>
          <p:cNvPr id="42" name="Shape 40"/>
          <p:cNvSpPr/>
          <p:nvPr/>
        </p:nvSpPr>
        <p:spPr>
          <a:xfrm flipH="1">
            <a:off x="3127248" y="4800600"/>
            <a:ext cx="228600" cy="0"/>
          </a:xfrm>
          <a:prstGeom prst="line">
            <a:avLst/>
          </a:prstGeom>
          <a:noFill/>
          <a:ln w="19050">
            <a:solidFill>
              <a:srgbClr val="087F80"/>
            </a:solidFill>
            <a:prstDash val="solid"/>
            <a:tailEnd type="triangle"/>
          </a:ln>
        </p:spPr>
      </p:sp>
      <p:sp>
        <p:nvSpPr>
          <p:cNvPr id="43" name="Shape 41"/>
          <p:cNvSpPr/>
          <p:nvPr/>
        </p:nvSpPr>
        <p:spPr>
          <a:xfrm>
            <a:off x="5980176" y="2615184"/>
            <a:ext cx="228600" cy="0"/>
          </a:xfrm>
          <a:prstGeom prst="line">
            <a:avLst/>
          </a:prstGeom>
          <a:noFill/>
          <a:ln w="19050">
            <a:solidFill>
              <a:srgbClr val="087F80"/>
            </a:solidFill>
            <a:prstDash val="solid"/>
            <a:tailEnd type="triangle"/>
          </a:ln>
        </p:spPr>
      </p:sp>
      <p:sp>
        <p:nvSpPr>
          <p:cNvPr id="44" name="Shape 42"/>
          <p:cNvSpPr/>
          <p:nvPr/>
        </p:nvSpPr>
        <p:spPr>
          <a:xfrm flipH="1">
            <a:off x="5980176" y="4800600"/>
            <a:ext cx="228600" cy="0"/>
          </a:xfrm>
          <a:prstGeom prst="line">
            <a:avLst/>
          </a:prstGeom>
          <a:noFill/>
          <a:ln w="19050">
            <a:solidFill>
              <a:srgbClr val="087F80"/>
            </a:solidFill>
            <a:prstDash val="solid"/>
            <a:tailEnd type="triangle"/>
          </a:ln>
        </p:spPr>
      </p:sp>
      <p:sp>
        <p:nvSpPr>
          <p:cNvPr id="45" name="Shape 43"/>
          <p:cNvSpPr/>
          <p:nvPr/>
        </p:nvSpPr>
        <p:spPr>
          <a:xfrm>
            <a:off x="8833104" y="2615184"/>
            <a:ext cx="228600" cy="0"/>
          </a:xfrm>
          <a:prstGeom prst="line">
            <a:avLst/>
          </a:prstGeom>
          <a:noFill/>
          <a:ln w="19050">
            <a:solidFill>
              <a:srgbClr val="087F80"/>
            </a:solidFill>
            <a:prstDash val="solid"/>
            <a:tailEnd type="triangle"/>
          </a:ln>
        </p:spPr>
      </p:sp>
      <p:sp>
        <p:nvSpPr>
          <p:cNvPr id="46" name="Shape 44"/>
          <p:cNvSpPr/>
          <p:nvPr/>
        </p:nvSpPr>
        <p:spPr>
          <a:xfrm flipH="1">
            <a:off x="8833104" y="4800600"/>
            <a:ext cx="228600" cy="0"/>
          </a:xfrm>
          <a:prstGeom prst="line">
            <a:avLst/>
          </a:prstGeom>
          <a:noFill/>
          <a:ln w="19050">
            <a:solidFill>
              <a:srgbClr val="087F80"/>
            </a:solidFill>
            <a:prstDash val="solid"/>
            <a:tailEnd type="triangle"/>
          </a:ln>
        </p:spPr>
      </p:sp>
      <p:sp>
        <p:nvSpPr>
          <p:cNvPr id="47" name="Shape 45"/>
          <p:cNvSpPr/>
          <p:nvPr/>
        </p:nvSpPr>
        <p:spPr>
          <a:xfrm>
            <a:off x="10378440" y="3401568"/>
            <a:ext cx="0" cy="576072"/>
          </a:xfrm>
          <a:prstGeom prst="line">
            <a:avLst/>
          </a:prstGeom>
          <a:noFill/>
          <a:ln w="19050">
            <a:solidFill>
              <a:srgbClr val="B13F43"/>
            </a:solidFill>
            <a:prstDash val="solid"/>
            <a:tailEnd type="triangle"/>
          </a:ln>
        </p:spPr>
      </p:sp>
      <p:sp>
        <p:nvSpPr>
          <p:cNvPr id="48" name="Text 46"/>
          <p:cNvSpPr/>
          <p:nvPr/>
        </p:nvSpPr>
        <p:spPr>
          <a:xfrm>
            <a:off x="603504" y="5879592"/>
            <a:ext cx="10972800" cy="215138"/>
          </a:xfrm>
          <a:prstGeom prst="rect">
            <a:avLst/>
          </a:prstGeom>
          <a:noFill/>
          <a:ln/>
        </p:spPr>
        <p:txBody>
          <a:bodyPr wrap="square" lIns="0" tIns="0" rIns="0" bIns="0" rtlCol="0" anchor="t"/>
          <a:lstStyle/>
          <a:p>
            <a:pPr algn="l" indent="0" marL="0">
              <a:buNone/>
            </a:pPr>
            <a:r>
              <a:rPr lang="en-US" sz="1400" dirty="0">
                <a:solidFill>
                  <a:srgbClr val="617487"/>
                </a:solidFill>
                <a:latin typeface="DejaVu Sans" pitchFamily="34" charset="0"/>
                <a:ea typeface="DejaVu Sans" pitchFamily="34" charset="-122"/>
                <a:cs typeface="DejaVu Sans" pitchFamily="34" charset="-120"/>
              </a:rPr>
              <a:t>Changed-state failures feed fresh observations into a new plan; committed actions persist.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548640" y="338328"/>
            <a:ext cx="10332720" cy="153670"/>
          </a:xfrm>
          <a:prstGeom prst="rect">
            <a:avLst/>
          </a:prstGeom>
          <a:noFill/>
          <a:ln/>
        </p:spPr>
        <p:txBody>
          <a:bodyPr wrap="square" lIns="0" tIns="0" rIns="0" bIns="0" rtlCol="0" anchor="t"/>
          <a:lstStyle/>
          <a:p>
            <a:pPr algn="l" indent="0" marL="0">
              <a:buNone/>
            </a:pPr>
            <a:r>
              <a:rPr lang="en-US" sz="1000" b="1" dirty="0">
                <a:solidFill>
                  <a:srgbClr val="087F80"/>
                </a:solidFill>
                <a:latin typeface="DejaVu Sans" pitchFamily="34" charset="0"/>
                <a:ea typeface="DejaVu Sans" pitchFamily="34" charset="-122"/>
                <a:cs typeface="DejaVu Sans" pitchFamily="34" charset="-120"/>
              </a:rPr>
              <a:t>TECHNICAL ARCHITECTURE</a:t>
            </a:r>
            <a:endParaRPr lang="en-US" sz="1000" dirty="0"/>
          </a:p>
        </p:txBody>
      </p:sp>
      <p:sp>
        <p:nvSpPr>
          <p:cNvPr id="3" name="Text 1"/>
          <p:cNvSpPr/>
          <p:nvPr/>
        </p:nvSpPr>
        <p:spPr>
          <a:xfrm>
            <a:off x="548640" y="758952"/>
            <a:ext cx="11064240" cy="445643"/>
          </a:xfrm>
          <a:prstGeom prst="rect">
            <a:avLst/>
          </a:prstGeom>
          <a:noFill/>
          <a:ln/>
        </p:spPr>
        <p:txBody>
          <a:bodyPr wrap="square" lIns="0" tIns="0" rIns="0" bIns="0" rtlCol="0" anchor="t"/>
          <a:lstStyle/>
          <a:p>
            <a:pPr algn="l" indent="0" marL="0">
              <a:buNone/>
            </a:pPr>
            <a:r>
              <a:rPr lang="en-US" sz="2900" b="1" dirty="0">
                <a:solidFill>
                  <a:srgbClr val="182B42"/>
                </a:solidFill>
                <a:latin typeface="DejaVu Sans" pitchFamily="34" charset="0"/>
                <a:ea typeface="DejaVu Sans" pitchFamily="34" charset="-122"/>
                <a:cs typeface="DejaVu Sans" pitchFamily="34" charset="-120"/>
              </a:rPr>
              <a:t>AI reasoning meets a durable execution engine.</a:t>
            </a:r>
            <a:endParaRPr lang="en-US" sz="2900" dirty="0"/>
          </a:p>
        </p:txBody>
      </p:sp>
      <p:sp>
        <p:nvSpPr>
          <p:cNvPr id="4" name="Shape 2"/>
          <p:cNvSpPr/>
          <p:nvPr/>
        </p:nvSpPr>
        <p:spPr>
          <a:xfrm>
            <a:off x="548640" y="6345936"/>
            <a:ext cx="11091672" cy="0"/>
          </a:xfrm>
          <a:prstGeom prst="line">
            <a:avLst/>
          </a:prstGeom>
          <a:noFill/>
          <a:ln w="10160">
            <a:solidFill>
              <a:srgbClr val="DCE5EC"/>
            </a:solidFill>
            <a:prstDash val="solid"/>
          </a:ln>
        </p:spPr>
      </p:sp>
      <p:sp>
        <p:nvSpPr>
          <p:cNvPr id="5" name="Text 3"/>
          <p:cNvSpPr/>
          <p:nvPr/>
        </p:nvSpPr>
        <p:spPr>
          <a:xfrm>
            <a:off x="548640" y="6455664"/>
            <a:ext cx="9966960" cy="122936"/>
          </a:xfrm>
          <a:prstGeom prst="rect">
            <a:avLst/>
          </a:prstGeom>
          <a:noFill/>
          <a:ln/>
        </p:spPr>
        <p:txBody>
          <a:bodyPr wrap="square" lIns="0" tIns="0" rIns="0" bIns="0" rtlCol="0" anchor="t"/>
          <a:lstStyle/>
          <a:p>
            <a:pPr algn="l" indent="0" marL="0">
              <a:buNone/>
            </a:pPr>
            <a:r>
              <a:rPr lang="en-US" sz="800" dirty="0">
                <a:solidFill>
                  <a:srgbClr val="617487"/>
                </a:solidFill>
                <a:latin typeface="DejaVu Sans" pitchFamily="34" charset="0"/>
                <a:ea typeface="DejaVu Sans" pitchFamily="34" charset="-122"/>
                <a:cs typeface="DejaVu Sans" pitchFamily="34" charset="-120"/>
              </a:rPr>
              <a:t>StockPilot • Hackathon pitch</a:t>
            </a:r>
            <a:endParaRPr lang="en-US" sz="800" dirty="0"/>
          </a:p>
        </p:txBody>
      </p:sp>
      <p:sp>
        <p:nvSpPr>
          <p:cNvPr id="6" name="Text 4"/>
          <p:cNvSpPr/>
          <p:nvPr/>
        </p:nvSpPr>
        <p:spPr>
          <a:xfrm>
            <a:off x="10287000" y="6428232"/>
            <a:ext cx="1353312" cy="138303"/>
          </a:xfrm>
          <a:prstGeom prst="rect">
            <a:avLst/>
          </a:prstGeom>
          <a:noFill/>
          <a:ln/>
        </p:spPr>
        <p:txBody>
          <a:bodyPr wrap="square" lIns="0" tIns="0" rIns="0" bIns="0" rtlCol="0" anchor="t"/>
          <a:lstStyle/>
          <a:p>
            <a:pPr algn="r" indent="0" marL="0">
              <a:buNone/>
            </a:pPr>
            <a:r>
              <a:rPr lang="en-US" sz="900" dirty="0">
                <a:solidFill>
                  <a:srgbClr val="617487"/>
                </a:solidFill>
                <a:latin typeface="DejaVu Sans" pitchFamily="34" charset="0"/>
                <a:ea typeface="DejaVu Sans" pitchFamily="34" charset="-122"/>
                <a:cs typeface="DejaVu Sans" pitchFamily="34" charset="-120"/>
              </a:rPr>
              <a:t>06 / 15</a:t>
            </a:r>
            <a:endParaRPr lang="en-US" sz="900" dirty="0"/>
          </a:p>
        </p:txBody>
      </p:sp>
      <p:sp>
        <p:nvSpPr>
          <p:cNvPr id="7" name="Shape 5"/>
          <p:cNvSpPr/>
          <p:nvPr/>
        </p:nvSpPr>
        <p:spPr>
          <a:xfrm>
            <a:off x="548640" y="1883664"/>
            <a:ext cx="2286000" cy="1005840"/>
          </a:xfrm>
          <a:prstGeom prst="rect">
            <a:avLst/>
          </a:prstGeom>
          <a:solidFill>
            <a:srgbClr val="FFFFFF"/>
          </a:solidFill>
          <a:ln w="8890">
            <a:solidFill>
              <a:srgbClr val="DCE5EC"/>
            </a:solidFill>
            <a:prstDash val="solid"/>
          </a:ln>
        </p:spPr>
      </p:sp>
      <p:sp>
        <p:nvSpPr>
          <p:cNvPr id="8" name="Text 6"/>
          <p:cNvSpPr/>
          <p:nvPr/>
        </p:nvSpPr>
        <p:spPr>
          <a:xfrm>
            <a:off x="694944" y="2048256"/>
            <a:ext cx="1993392" cy="238189"/>
          </a:xfrm>
          <a:prstGeom prst="rect">
            <a:avLst/>
          </a:prstGeom>
          <a:noFill/>
          <a:ln/>
        </p:spPr>
        <p:txBody>
          <a:bodyPr wrap="square" lIns="0" tIns="0" rIns="0" bIns="0" rtlCol="0" anchor="t"/>
          <a:lstStyle/>
          <a:p>
            <a:pPr algn="l" indent="0" marL="0">
              <a:buNone/>
            </a:pPr>
            <a:r>
              <a:rPr lang="en-US" sz="1550" b="1" dirty="0">
                <a:solidFill>
                  <a:srgbClr val="182B42"/>
                </a:solidFill>
                <a:latin typeface="DejaVu Sans" pitchFamily="34" charset="0"/>
                <a:ea typeface="DejaVu Sans" pitchFamily="34" charset="-122"/>
                <a:cs typeface="DejaVu Sans" pitchFamily="34" charset="-120"/>
              </a:rPr>
              <a:t>React workspace</a:t>
            </a:r>
            <a:endParaRPr lang="en-US" sz="1550" dirty="0"/>
          </a:p>
        </p:txBody>
      </p:sp>
      <p:sp>
        <p:nvSpPr>
          <p:cNvPr id="9" name="Text 7"/>
          <p:cNvSpPr/>
          <p:nvPr/>
        </p:nvSpPr>
        <p:spPr>
          <a:xfrm>
            <a:off x="694944" y="2542032"/>
            <a:ext cx="1993392" cy="161354"/>
          </a:xfrm>
          <a:prstGeom prst="rect">
            <a:avLst/>
          </a:prstGeom>
          <a:noFill/>
          <a:ln/>
        </p:spPr>
        <p:txBody>
          <a:bodyPr wrap="square" lIns="0" tIns="0" rIns="0" bIns="0" rtlCol="0" anchor="t"/>
          <a:lstStyle/>
          <a:p>
            <a:pPr algn="l" indent="0" marL="0">
              <a:buNone/>
            </a:pPr>
            <a:r>
              <a:rPr lang="en-US" sz="1050" dirty="0">
                <a:solidFill>
                  <a:srgbClr val="617487"/>
                </a:solidFill>
                <a:latin typeface="DejaVu Sans" pitchFamily="34" charset="0"/>
                <a:ea typeface="DejaVu Sans" pitchFamily="34" charset="-122"/>
                <a:cs typeface="DejaVu Sans" pitchFamily="34" charset="-120"/>
              </a:rPr>
              <a:t>Vite • MUI • live polling</a:t>
            </a:r>
            <a:endParaRPr lang="en-US" sz="1050" dirty="0"/>
          </a:p>
        </p:txBody>
      </p:sp>
      <p:sp>
        <p:nvSpPr>
          <p:cNvPr id="10" name="Shape 8"/>
          <p:cNvSpPr/>
          <p:nvPr/>
        </p:nvSpPr>
        <p:spPr>
          <a:xfrm>
            <a:off x="3438144" y="1883664"/>
            <a:ext cx="2286000" cy="1005840"/>
          </a:xfrm>
          <a:prstGeom prst="rect">
            <a:avLst/>
          </a:prstGeom>
          <a:solidFill>
            <a:srgbClr val="FFFFFF"/>
          </a:solidFill>
          <a:ln w="8890">
            <a:solidFill>
              <a:srgbClr val="DCE5EC"/>
            </a:solidFill>
            <a:prstDash val="solid"/>
          </a:ln>
        </p:spPr>
      </p:sp>
      <p:sp>
        <p:nvSpPr>
          <p:cNvPr id="11" name="Text 9"/>
          <p:cNvSpPr/>
          <p:nvPr/>
        </p:nvSpPr>
        <p:spPr>
          <a:xfrm>
            <a:off x="3584448" y="2048256"/>
            <a:ext cx="1993392" cy="238189"/>
          </a:xfrm>
          <a:prstGeom prst="rect">
            <a:avLst/>
          </a:prstGeom>
          <a:noFill/>
          <a:ln/>
        </p:spPr>
        <p:txBody>
          <a:bodyPr wrap="square" lIns="0" tIns="0" rIns="0" bIns="0" rtlCol="0" anchor="t"/>
          <a:lstStyle/>
          <a:p>
            <a:pPr algn="l" indent="0" marL="0">
              <a:buNone/>
            </a:pPr>
            <a:r>
              <a:rPr lang="en-US" sz="1550" b="1" dirty="0">
                <a:solidFill>
                  <a:srgbClr val="182B42"/>
                </a:solidFill>
                <a:latin typeface="DejaVu Sans" pitchFamily="34" charset="0"/>
                <a:ea typeface="DejaVu Sans" pitchFamily="34" charset="-122"/>
                <a:cs typeface="DejaVu Sans" pitchFamily="34" charset="-120"/>
              </a:rPr>
              <a:t>Express API</a:t>
            </a:r>
            <a:endParaRPr lang="en-US" sz="1550" dirty="0"/>
          </a:p>
        </p:txBody>
      </p:sp>
      <p:sp>
        <p:nvSpPr>
          <p:cNvPr id="12" name="Text 10"/>
          <p:cNvSpPr/>
          <p:nvPr/>
        </p:nvSpPr>
        <p:spPr>
          <a:xfrm>
            <a:off x="3584448" y="2542032"/>
            <a:ext cx="1993392" cy="161354"/>
          </a:xfrm>
          <a:prstGeom prst="rect">
            <a:avLst/>
          </a:prstGeom>
          <a:noFill/>
          <a:ln/>
        </p:spPr>
        <p:txBody>
          <a:bodyPr wrap="square" lIns="0" tIns="0" rIns="0" bIns="0" rtlCol="0" anchor="t"/>
          <a:lstStyle/>
          <a:p>
            <a:pPr algn="l" indent="0" marL="0">
              <a:buNone/>
            </a:pPr>
            <a:r>
              <a:rPr lang="en-US" sz="1050" dirty="0">
                <a:solidFill>
                  <a:srgbClr val="617487"/>
                </a:solidFill>
                <a:latin typeface="DejaVu Sans" pitchFamily="34" charset="0"/>
                <a:ea typeface="DejaVu Sans" pitchFamily="34" charset="-122"/>
                <a:cs typeface="DejaVu Sans" pitchFamily="34" charset="-120"/>
              </a:rPr>
              <a:t>JWT • tenant-scoped REST</a:t>
            </a:r>
            <a:endParaRPr lang="en-US" sz="1050" dirty="0"/>
          </a:p>
        </p:txBody>
      </p:sp>
      <p:sp>
        <p:nvSpPr>
          <p:cNvPr id="13" name="Shape 11"/>
          <p:cNvSpPr/>
          <p:nvPr/>
        </p:nvSpPr>
        <p:spPr>
          <a:xfrm>
            <a:off x="6327648" y="1883664"/>
            <a:ext cx="2286000" cy="1005840"/>
          </a:xfrm>
          <a:prstGeom prst="rect">
            <a:avLst/>
          </a:prstGeom>
          <a:solidFill>
            <a:srgbClr val="FFFFFF"/>
          </a:solidFill>
          <a:ln w="8890">
            <a:solidFill>
              <a:srgbClr val="DCE5EC"/>
            </a:solidFill>
            <a:prstDash val="solid"/>
          </a:ln>
        </p:spPr>
      </p:sp>
      <p:sp>
        <p:nvSpPr>
          <p:cNvPr id="14" name="Text 12"/>
          <p:cNvSpPr/>
          <p:nvPr/>
        </p:nvSpPr>
        <p:spPr>
          <a:xfrm>
            <a:off x="6473952" y="2048256"/>
            <a:ext cx="1993392" cy="238189"/>
          </a:xfrm>
          <a:prstGeom prst="rect">
            <a:avLst/>
          </a:prstGeom>
          <a:noFill/>
          <a:ln/>
        </p:spPr>
        <p:txBody>
          <a:bodyPr wrap="square" lIns="0" tIns="0" rIns="0" bIns="0" rtlCol="0" anchor="t"/>
          <a:lstStyle/>
          <a:p>
            <a:pPr algn="l" indent="0" marL="0">
              <a:buNone/>
            </a:pPr>
            <a:r>
              <a:rPr lang="en-US" sz="1550" b="1" dirty="0">
                <a:solidFill>
                  <a:srgbClr val="182B42"/>
                </a:solidFill>
                <a:latin typeface="DejaVu Sans" pitchFamily="34" charset="0"/>
                <a:ea typeface="DejaVu Sans" pitchFamily="34" charset="-122"/>
                <a:cs typeface="DejaVu Sans" pitchFamily="34" charset="-120"/>
              </a:rPr>
              <a:t>MongoDB Atlas</a:t>
            </a:r>
            <a:endParaRPr lang="en-US" sz="1550" dirty="0"/>
          </a:p>
        </p:txBody>
      </p:sp>
      <p:sp>
        <p:nvSpPr>
          <p:cNvPr id="15" name="Text 13"/>
          <p:cNvSpPr/>
          <p:nvPr/>
        </p:nvSpPr>
        <p:spPr>
          <a:xfrm>
            <a:off x="6473952" y="2542032"/>
            <a:ext cx="1993392" cy="153670"/>
          </a:xfrm>
          <a:prstGeom prst="rect">
            <a:avLst/>
          </a:prstGeom>
          <a:noFill/>
          <a:ln/>
        </p:spPr>
        <p:txBody>
          <a:bodyPr wrap="square" lIns="0" tIns="0" rIns="0" bIns="0" rtlCol="0" anchor="t"/>
          <a:lstStyle/>
          <a:p>
            <a:pPr algn="l" indent="0" marL="0">
              <a:buNone/>
            </a:pPr>
            <a:r>
              <a:rPr lang="en-US" sz="1000" dirty="0">
                <a:solidFill>
                  <a:srgbClr val="617487"/>
                </a:solidFill>
                <a:latin typeface="DejaVu Sans" pitchFamily="34" charset="0"/>
                <a:ea typeface="DejaVu Sans" pitchFamily="34" charset="-122"/>
                <a:cs typeface="DejaVu Sans" pitchFamily="34" charset="-120"/>
              </a:rPr>
              <a:t>Ledger • approvals • evidence</a:t>
            </a:r>
            <a:endParaRPr lang="en-US" sz="1000" dirty="0"/>
          </a:p>
        </p:txBody>
      </p:sp>
      <p:sp>
        <p:nvSpPr>
          <p:cNvPr id="16" name="Shape 14"/>
          <p:cNvSpPr/>
          <p:nvPr/>
        </p:nvSpPr>
        <p:spPr>
          <a:xfrm>
            <a:off x="9217152" y="1883664"/>
            <a:ext cx="2432304" cy="1005840"/>
          </a:xfrm>
          <a:prstGeom prst="rect">
            <a:avLst/>
          </a:prstGeom>
          <a:solidFill>
            <a:srgbClr val="FFFFFF"/>
          </a:solidFill>
          <a:ln w="8890">
            <a:solidFill>
              <a:srgbClr val="DCE5EC"/>
            </a:solidFill>
            <a:prstDash val="solid"/>
          </a:ln>
        </p:spPr>
      </p:sp>
      <p:sp>
        <p:nvSpPr>
          <p:cNvPr id="17" name="Text 15"/>
          <p:cNvSpPr/>
          <p:nvPr/>
        </p:nvSpPr>
        <p:spPr>
          <a:xfrm>
            <a:off x="9363456" y="2048256"/>
            <a:ext cx="2139696" cy="238189"/>
          </a:xfrm>
          <a:prstGeom prst="rect">
            <a:avLst/>
          </a:prstGeom>
          <a:noFill/>
          <a:ln/>
        </p:spPr>
        <p:txBody>
          <a:bodyPr wrap="square" lIns="0" tIns="0" rIns="0" bIns="0" rtlCol="0" anchor="t"/>
          <a:lstStyle/>
          <a:p>
            <a:pPr algn="l" indent="0" marL="0">
              <a:buNone/>
            </a:pPr>
            <a:r>
              <a:rPr lang="en-US" sz="1550" b="1" dirty="0">
                <a:solidFill>
                  <a:srgbClr val="182B42"/>
                </a:solidFill>
                <a:latin typeface="DejaVu Sans" pitchFamily="34" charset="0"/>
                <a:ea typeface="DejaVu Sans" pitchFamily="34" charset="-122"/>
                <a:cs typeface="DejaVu Sans" pitchFamily="34" charset="-120"/>
              </a:rPr>
              <a:t>Persistent memory</a:t>
            </a:r>
            <a:endParaRPr lang="en-US" sz="1550" dirty="0"/>
          </a:p>
        </p:txBody>
      </p:sp>
      <p:sp>
        <p:nvSpPr>
          <p:cNvPr id="18" name="Text 16"/>
          <p:cNvSpPr/>
          <p:nvPr/>
        </p:nvSpPr>
        <p:spPr>
          <a:xfrm>
            <a:off x="9363456" y="2542032"/>
            <a:ext cx="2139696" cy="161354"/>
          </a:xfrm>
          <a:prstGeom prst="rect">
            <a:avLst/>
          </a:prstGeom>
          <a:noFill/>
          <a:ln/>
        </p:spPr>
        <p:txBody>
          <a:bodyPr wrap="square" lIns="0" tIns="0" rIns="0" bIns="0" rtlCol="0" anchor="t"/>
          <a:lstStyle/>
          <a:p>
            <a:pPr algn="l" indent="0" marL="0">
              <a:buNone/>
            </a:pPr>
            <a:r>
              <a:rPr lang="en-US" sz="1050" dirty="0">
                <a:solidFill>
                  <a:srgbClr val="617487"/>
                </a:solidFill>
                <a:latin typeface="DejaVu Sans" pitchFamily="34" charset="0"/>
                <a:ea typeface="DejaVu Sans" pitchFamily="34" charset="-122"/>
                <a:cs typeface="DejaVu Sans" pitchFamily="34" charset="-120"/>
              </a:rPr>
              <a:t>Plans • verified supplier failures</a:t>
            </a:r>
            <a:endParaRPr lang="en-US" sz="1050" dirty="0"/>
          </a:p>
        </p:txBody>
      </p:sp>
      <p:sp>
        <p:nvSpPr>
          <p:cNvPr id="19" name="Shape 17"/>
          <p:cNvSpPr/>
          <p:nvPr/>
        </p:nvSpPr>
        <p:spPr>
          <a:xfrm>
            <a:off x="548640" y="3767328"/>
            <a:ext cx="2286000" cy="1005840"/>
          </a:xfrm>
          <a:prstGeom prst="rect">
            <a:avLst/>
          </a:prstGeom>
          <a:solidFill>
            <a:srgbClr val="132235"/>
          </a:solidFill>
          <a:ln w="12700">
            <a:solidFill>
              <a:srgbClr val="132235"/>
            </a:solidFill>
            <a:prstDash val="solid"/>
          </a:ln>
        </p:spPr>
      </p:sp>
      <p:sp>
        <p:nvSpPr>
          <p:cNvPr id="20" name="Text 18"/>
          <p:cNvSpPr/>
          <p:nvPr/>
        </p:nvSpPr>
        <p:spPr>
          <a:xfrm>
            <a:off x="694944" y="3931920"/>
            <a:ext cx="1993392" cy="238189"/>
          </a:xfrm>
          <a:prstGeom prst="rect">
            <a:avLst/>
          </a:prstGeom>
          <a:noFill/>
          <a:ln/>
        </p:spPr>
        <p:txBody>
          <a:bodyPr wrap="square" lIns="0" tIns="0" rIns="0" bIns="0" rtlCol="0" anchor="t"/>
          <a:lstStyle/>
          <a:p>
            <a:pPr algn="l" indent="0" marL="0">
              <a:buNone/>
            </a:pPr>
            <a:r>
              <a:rPr lang="en-US" sz="1550" b="1" dirty="0">
                <a:solidFill>
                  <a:srgbClr val="FFFFFF"/>
                </a:solidFill>
                <a:latin typeface="DejaVu Sans" pitchFamily="34" charset="0"/>
                <a:ea typeface="DejaVu Sans" pitchFamily="34" charset="-122"/>
                <a:cs typeface="DejaVu Sans" pitchFamily="34" charset="-120"/>
              </a:rPr>
              <a:t>Workflow engine</a:t>
            </a:r>
            <a:endParaRPr lang="en-US" sz="1550" dirty="0"/>
          </a:p>
        </p:txBody>
      </p:sp>
      <p:sp>
        <p:nvSpPr>
          <p:cNvPr id="21" name="Text 19"/>
          <p:cNvSpPr/>
          <p:nvPr/>
        </p:nvSpPr>
        <p:spPr>
          <a:xfrm>
            <a:off x="694944" y="4425696"/>
            <a:ext cx="1993392" cy="153670"/>
          </a:xfrm>
          <a:prstGeom prst="rect">
            <a:avLst/>
          </a:prstGeom>
          <a:noFill/>
          <a:ln/>
        </p:spPr>
        <p:txBody>
          <a:bodyPr wrap="square" lIns="0" tIns="0" rIns="0" bIns="0" rtlCol="0" anchor="t"/>
          <a:lstStyle/>
          <a:p>
            <a:pPr algn="l" indent="0" marL="0">
              <a:buNone/>
            </a:pPr>
            <a:r>
              <a:rPr lang="en-US" sz="1000" dirty="0">
                <a:solidFill>
                  <a:srgbClr val="B8CBDC"/>
                </a:solidFill>
                <a:latin typeface="DejaVu Sans" pitchFamily="34" charset="0"/>
                <a:ea typeface="DejaVu Sans" pitchFamily="34" charset="-122"/>
                <a:cs typeface="DejaVu Sans" pitchFamily="34" charset="-120"/>
              </a:rPr>
              <a:t>Leases • retries • plan history</a:t>
            </a:r>
            <a:endParaRPr lang="en-US" sz="1000" dirty="0"/>
          </a:p>
        </p:txBody>
      </p:sp>
      <p:sp>
        <p:nvSpPr>
          <p:cNvPr id="22" name="Shape 20"/>
          <p:cNvSpPr/>
          <p:nvPr/>
        </p:nvSpPr>
        <p:spPr>
          <a:xfrm>
            <a:off x="3438144" y="3767328"/>
            <a:ext cx="2286000" cy="1005840"/>
          </a:xfrm>
          <a:prstGeom prst="rect">
            <a:avLst/>
          </a:prstGeom>
          <a:solidFill>
            <a:srgbClr val="132235"/>
          </a:solidFill>
          <a:ln w="12700">
            <a:solidFill>
              <a:srgbClr val="132235"/>
            </a:solidFill>
            <a:prstDash val="solid"/>
          </a:ln>
        </p:spPr>
      </p:sp>
      <p:sp>
        <p:nvSpPr>
          <p:cNvPr id="23" name="Text 21"/>
          <p:cNvSpPr/>
          <p:nvPr/>
        </p:nvSpPr>
        <p:spPr>
          <a:xfrm>
            <a:off x="3584448" y="3931920"/>
            <a:ext cx="1993392" cy="238189"/>
          </a:xfrm>
          <a:prstGeom prst="rect">
            <a:avLst/>
          </a:prstGeom>
          <a:noFill/>
          <a:ln/>
        </p:spPr>
        <p:txBody>
          <a:bodyPr wrap="square" lIns="0" tIns="0" rIns="0" bIns="0" rtlCol="0" anchor="t"/>
          <a:lstStyle/>
          <a:p>
            <a:pPr algn="l" indent="0" marL="0">
              <a:buNone/>
            </a:pPr>
            <a:r>
              <a:rPr lang="en-US" sz="1550" b="1" dirty="0">
                <a:solidFill>
                  <a:srgbClr val="FFFFFF"/>
                </a:solidFill>
                <a:latin typeface="DejaVu Sans" pitchFamily="34" charset="0"/>
                <a:ea typeface="DejaVu Sans" pitchFamily="34" charset="-122"/>
                <a:cs typeface="DejaVu Sans" pitchFamily="34" charset="-120"/>
              </a:rPr>
              <a:t>Gemini + roles</a:t>
            </a:r>
            <a:endParaRPr lang="en-US" sz="1550" dirty="0"/>
          </a:p>
        </p:txBody>
      </p:sp>
      <p:sp>
        <p:nvSpPr>
          <p:cNvPr id="24" name="Text 22"/>
          <p:cNvSpPr/>
          <p:nvPr/>
        </p:nvSpPr>
        <p:spPr>
          <a:xfrm>
            <a:off x="3584448" y="4425696"/>
            <a:ext cx="1993392" cy="161354"/>
          </a:xfrm>
          <a:prstGeom prst="rect">
            <a:avLst/>
          </a:prstGeom>
          <a:noFill/>
          <a:ln/>
        </p:spPr>
        <p:txBody>
          <a:bodyPr wrap="square" lIns="0" tIns="0" rIns="0" bIns="0" rtlCol="0" anchor="t"/>
          <a:lstStyle/>
          <a:p>
            <a:pPr algn="l" indent="0" marL="0">
              <a:buNone/>
            </a:pPr>
            <a:r>
              <a:rPr lang="en-US" sz="1050" dirty="0">
                <a:solidFill>
                  <a:srgbClr val="B8CBDC"/>
                </a:solidFill>
                <a:latin typeface="DejaVu Sans" pitchFamily="34" charset="0"/>
                <a:ea typeface="DejaVu Sans" pitchFamily="34" charset="-122"/>
                <a:cs typeface="DejaVu Sans" pitchFamily="34" charset="-120"/>
              </a:rPr>
              <a:t>Structured plans and actions</a:t>
            </a:r>
            <a:endParaRPr lang="en-US" sz="1050" dirty="0"/>
          </a:p>
        </p:txBody>
      </p:sp>
      <p:sp>
        <p:nvSpPr>
          <p:cNvPr id="25" name="Shape 23"/>
          <p:cNvSpPr/>
          <p:nvPr/>
        </p:nvSpPr>
        <p:spPr>
          <a:xfrm>
            <a:off x="6327648" y="3767328"/>
            <a:ext cx="2286000" cy="1005840"/>
          </a:xfrm>
          <a:prstGeom prst="rect">
            <a:avLst/>
          </a:prstGeom>
          <a:solidFill>
            <a:srgbClr val="132235"/>
          </a:solidFill>
          <a:ln w="12700">
            <a:solidFill>
              <a:srgbClr val="132235"/>
            </a:solidFill>
            <a:prstDash val="solid"/>
          </a:ln>
        </p:spPr>
      </p:sp>
      <p:sp>
        <p:nvSpPr>
          <p:cNvPr id="26" name="Text 24"/>
          <p:cNvSpPr/>
          <p:nvPr/>
        </p:nvSpPr>
        <p:spPr>
          <a:xfrm>
            <a:off x="6473952" y="3931920"/>
            <a:ext cx="1993392" cy="238189"/>
          </a:xfrm>
          <a:prstGeom prst="rect">
            <a:avLst/>
          </a:prstGeom>
          <a:noFill/>
          <a:ln/>
        </p:spPr>
        <p:txBody>
          <a:bodyPr wrap="square" lIns="0" tIns="0" rIns="0" bIns="0" rtlCol="0" anchor="t"/>
          <a:lstStyle/>
          <a:p>
            <a:pPr algn="l" indent="0" marL="0">
              <a:buNone/>
            </a:pPr>
            <a:r>
              <a:rPr lang="en-US" sz="1550" b="1" dirty="0">
                <a:solidFill>
                  <a:srgbClr val="FFFFFF"/>
                </a:solidFill>
                <a:latin typeface="DejaVu Sans" pitchFamily="34" charset="0"/>
                <a:ea typeface="DejaVu Sans" pitchFamily="34" charset="-122"/>
                <a:cs typeface="DejaVu Sans" pitchFamily="34" charset="-120"/>
              </a:rPr>
              <a:t>Policy gateway</a:t>
            </a:r>
            <a:endParaRPr lang="en-US" sz="1550" dirty="0"/>
          </a:p>
        </p:txBody>
      </p:sp>
      <p:sp>
        <p:nvSpPr>
          <p:cNvPr id="27" name="Text 25"/>
          <p:cNvSpPr/>
          <p:nvPr/>
        </p:nvSpPr>
        <p:spPr>
          <a:xfrm>
            <a:off x="6473952" y="4425696"/>
            <a:ext cx="1993392" cy="161354"/>
          </a:xfrm>
          <a:prstGeom prst="rect">
            <a:avLst/>
          </a:prstGeom>
          <a:noFill/>
          <a:ln/>
        </p:spPr>
        <p:txBody>
          <a:bodyPr wrap="square" lIns="0" tIns="0" rIns="0" bIns="0" rtlCol="0" anchor="t"/>
          <a:lstStyle/>
          <a:p>
            <a:pPr algn="l" indent="0" marL="0">
              <a:buNone/>
            </a:pPr>
            <a:r>
              <a:rPr lang="en-US" sz="1050" dirty="0">
                <a:solidFill>
                  <a:srgbClr val="B8CBDC"/>
                </a:solidFill>
                <a:latin typeface="DejaVu Sans" pitchFamily="34" charset="0"/>
                <a:ea typeface="DejaVu Sans" pitchFamily="34" charset="-122"/>
                <a:cs typeface="DejaVu Sans" pitchFamily="34" charset="-120"/>
              </a:rPr>
              <a:t>Schema • scope • approvals</a:t>
            </a:r>
            <a:endParaRPr lang="en-US" sz="1050" dirty="0"/>
          </a:p>
        </p:txBody>
      </p:sp>
      <p:sp>
        <p:nvSpPr>
          <p:cNvPr id="28" name="Shape 26"/>
          <p:cNvSpPr/>
          <p:nvPr/>
        </p:nvSpPr>
        <p:spPr>
          <a:xfrm>
            <a:off x="9217152" y="3767328"/>
            <a:ext cx="2432304" cy="1005840"/>
          </a:xfrm>
          <a:prstGeom prst="rect">
            <a:avLst/>
          </a:prstGeom>
          <a:solidFill>
            <a:srgbClr val="132235"/>
          </a:solidFill>
          <a:ln w="12700">
            <a:solidFill>
              <a:srgbClr val="132235"/>
            </a:solidFill>
            <a:prstDash val="solid"/>
          </a:ln>
        </p:spPr>
      </p:sp>
      <p:sp>
        <p:nvSpPr>
          <p:cNvPr id="29" name="Text 27"/>
          <p:cNvSpPr/>
          <p:nvPr/>
        </p:nvSpPr>
        <p:spPr>
          <a:xfrm>
            <a:off x="9363456" y="3931920"/>
            <a:ext cx="2139696" cy="238189"/>
          </a:xfrm>
          <a:prstGeom prst="rect">
            <a:avLst/>
          </a:prstGeom>
          <a:noFill/>
          <a:ln/>
        </p:spPr>
        <p:txBody>
          <a:bodyPr wrap="square" lIns="0" tIns="0" rIns="0" bIns="0" rtlCol="0" anchor="t"/>
          <a:lstStyle/>
          <a:p>
            <a:pPr algn="l" indent="0" marL="0">
              <a:buNone/>
            </a:pPr>
            <a:r>
              <a:rPr lang="en-US" sz="1550" b="1" dirty="0">
                <a:solidFill>
                  <a:srgbClr val="FFFFFF"/>
                </a:solidFill>
                <a:latin typeface="DejaVu Sans" pitchFamily="34" charset="0"/>
                <a:ea typeface="DejaVu Sans" pitchFamily="34" charset="-122"/>
                <a:cs typeface="DejaVu Sans" pitchFamily="34" charset="-120"/>
              </a:rPr>
              <a:t>Domain tools</a:t>
            </a:r>
            <a:endParaRPr lang="en-US" sz="1550" dirty="0"/>
          </a:p>
        </p:txBody>
      </p:sp>
      <p:sp>
        <p:nvSpPr>
          <p:cNvPr id="30" name="Text 28"/>
          <p:cNvSpPr/>
          <p:nvPr/>
        </p:nvSpPr>
        <p:spPr>
          <a:xfrm>
            <a:off x="9363456" y="4425696"/>
            <a:ext cx="2139696" cy="161354"/>
          </a:xfrm>
          <a:prstGeom prst="rect">
            <a:avLst/>
          </a:prstGeom>
          <a:noFill/>
          <a:ln/>
        </p:spPr>
        <p:txBody>
          <a:bodyPr wrap="square" lIns="0" tIns="0" rIns="0" bIns="0" rtlCol="0" anchor="t"/>
          <a:lstStyle/>
          <a:p>
            <a:pPr algn="l" indent="0" marL="0">
              <a:buNone/>
            </a:pPr>
            <a:r>
              <a:rPr lang="en-US" sz="1050" dirty="0">
                <a:solidFill>
                  <a:srgbClr val="B8CBDC"/>
                </a:solidFill>
                <a:latin typeface="DejaVu Sans" pitchFamily="34" charset="0"/>
                <a:ea typeface="DejaVu Sans" pitchFamily="34" charset="-122"/>
                <a:cs typeface="DejaVu Sans" pitchFamily="34" charset="-120"/>
              </a:rPr>
              <a:t>Atomic business mutations</a:t>
            </a:r>
            <a:endParaRPr lang="en-US" sz="1050" dirty="0"/>
          </a:p>
        </p:txBody>
      </p:sp>
      <p:sp>
        <p:nvSpPr>
          <p:cNvPr id="31" name="Shape 29"/>
          <p:cNvSpPr/>
          <p:nvPr/>
        </p:nvSpPr>
        <p:spPr>
          <a:xfrm>
            <a:off x="2880360" y="2386584"/>
            <a:ext cx="502920" cy="0"/>
          </a:xfrm>
          <a:prstGeom prst="line">
            <a:avLst/>
          </a:prstGeom>
          <a:noFill/>
          <a:ln w="19050">
            <a:solidFill>
              <a:srgbClr val="087F80"/>
            </a:solidFill>
            <a:prstDash val="solid"/>
            <a:tailEnd type="triangle"/>
          </a:ln>
        </p:spPr>
      </p:sp>
      <p:sp>
        <p:nvSpPr>
          <p:cNvPr id="32" name="Shape 30"/>
          <p:cNvSpPr/>
          <p:nvPr/>
        </p:nvSpPr>
        <p:spPr>
          <a:xfrm>
            <a:off x="2880360" y="4270248"/>
            <a:ext cx="502920" cy="0"/>
          </a:xfrm>
          <a:prstGeom prst="line">
            <a:avLst/>
          </a:prstGeom>
          <a:noFill/>
          <a:ln w="19050">
            <a:solidFill>
              <a:srgbClr val="087F80"/>
            </a:solidFill>
            <a:prstDash val="solid"/>
            <a:tailEnd type="triangle"/>
          </a:ln>
        </p:spPr>
      </p:sp>
      <p:sp>
        <p:nvSpPr>
          <p:cNvPr id="33" name="Shape 31"/>
          <p:cNvSpPr/>
          <p:nvPr/>
        </p:nvSpPr>
        <p:spPr>
          <a:xfrm>
            <a:off x="5769864" y="2386584"/>
            <a:ext cx="502920" cy="0"/>
          </a:xfrm>
          <a:prstGeom prst="line">
            <a:avLst/>
          </a:prstGeom>
          <a:noFill/>
          <a:ln w="19050">
            <a:solidFill>
              <a:srgbClr val="087F80"/>
            </a:solidFill>
            <a:prstDash val="solid"/>
            <a:tailEnd type="triangle"/>
          </a:ln>
        </p:spPr>
      </p:sp>
      <p:sp>
        <p:nvSpPr>
          <p:cNvPr id="34" name="Shape 32"/>
          <p:cNvSpPr/>
          <p:nvPr/>
        </p:nvSpPr>
        <p:spPr>
          <a:xfrm>
            <a:off x="5769864" y="4270248"/>
            <a:ext cx="502920" cy="0"/>
          </a:xfrm>
          <a:prstGeom prst="line">
            <a:avLst/>
          </a:prstGeom>
          <a:noFill/>
          <a:ln w="19050">
            <a:solidFill>
              <a:srgbClr val="087F80"/>
            </a:solidFill>
            <a:prstDash val="solid"/>
            <a:tailEnd type="triangle"/>
          </a:ln>
        </p:spPr>
      </p:sp>
      <p:sp>
        <p:nvSpPr>
          <p:cNvPr id="35" name="Shape 33"/>
          <p:cNvSpPr/>
          <p:nvPr/>
        </p:nvSpPr>
        <p:spPr>
          <a:xfrm>
            <a:off x="8659368" y="2386584"/>
            <a:ext cx="502920" cy="0"/>
          </a:xfrm>
          <a:prstGeom prst="line">
            <a:avLst/>
          </a:prstGeom>
          <a:noFill/>
          <a:ln w="19050">
            <a:solidFill>
              <a:srgbClr val="087F80"/>
            </a:solidFill>
            <a:prstDash val="solid"/>
            <a:tailEnd type="triangle"/>
          </a:ln>
        </p:spPr>
      </p:sp>
      <p:sp>
        <p:nvSpPr>
          <p:cNvPr id="36" name="Shape 34"/>
          <p:cNvSpPr/>
          <p:nvPr/>
        </p:nvSpPr>
        <p:spPr>
          <a:xfrm>
            <a:off x="8659368" y="4270248"/>
            <a:ext cx="502920" cy="0"/>
          </a:xfrm>
          <a:prstGeom prst="line">
            <a:avLst/>
          </a:prstGeom>
          <a:noFill/>
          <a:ln w="19050">
            <a:solidFill>
              <a:srgbClr val="087F80"/>
            </a:solidFill>
            <a:prstDash val="solid"/>
            <a:tailEnd type="triangle"/>
          </a:ln>
        </p:spPr>
      </p:sp>
      <p:sp>
        <p:nvSpPr>
          <p:cNvPr id="37" name="Shape 35"/>
          <p:cNvSpPr/>
          <p:nvPr/>
        </p:nvSpPr>
        <p:spPr>
          <a:xfrm>
            <a:off x="4572000" y="2935224"/>
            <a:ext cx="0" cy="310896"/>
          </a:xfrm>
          <a:prstGeom prst="line">
            <a:avLst/>
          </a:prstGeom>
          <a:noFill/>
          <a:ln w="19050">
            <a:solidFill>
              <a:srgbClr val="617487"/>
            </a:solidFill>
            <a:prstDash val="solid"/>
          </a:ln>
        </p:spPr>
      </p:sp>
      <p:sp>
        <p:nvSpPr>
          <p:cNvPr id="38" name="Shape 36"/>
          <p:cNvSpPr/>
          <p:nvPr/>
        </p:nvSpPr>
        <p:spPr>
          <a:xfrm flipH="1">
            <a:off x="1691640" y="3246120"/>
            <a:ext cx="2880360" cy="0"/>
          </a:xfrm>
          <a:prstGeom prst="line">
            <a:avLst/>
          </a:prstGeom>
          <a:noFill/>
          <a:ln w="19050">
            <a:solidFill>
              <a:srgbClr val="617487"/>
            </a:solidFill>
            <a:prstDash val="solid"/>
          </a:ln>
        </p:spPr>
      </p:sp>
      <p:sp>
        <p:nvSpPr>
          <p:cNvPr id="39" name="Shape 37"/>
          <p:cNvSpPr/>
          <p:nvPr/>
        </p:nvSpPr>
        <p:spPr>
          <a:xfrm>
            <a:off x="1691640" y="3246120"/>
            <a:ext cx="0" cy="457200"/>
          </a:xfrm>
          <a:prstGeom prst="line">
            <a:avLst/>
          </a:prstGeom>
          <a:noFill/>
          <a:ln w="19050">
            <a:solidFill>
              <a:srgbClr val="617487"/>
            </a:solidFill>
            <a:prstDash val="solid"/>
            <a:tailEnd type="triangle"/>
          </a:ln>
        </p:spPr>
      </p:sp>
      <p:sp>
        <p:nvSpPr>
          <p:cNvPr id="40" name="Shape 38"/>
          <p:cNvSpPr/>
          <p:nvPr/>
        </p:nvSpPr>
        <p:spPr>
          <a:xfrm flipV="1">
            <a:off x="10424160" y="3236976"/>
            <a:ext cx="0" cy="475488"/>
          </a:xfrm>
          <a:prstGeom prst="line">
            <a:avLst/>
          </a:prstGeom>
          <a:noFill/>
          <a:ln w="19050">
            <a:solidFill>
              <a:srgbClr val="166C5C"/>
            </a:solidFill>
            <a:prstDash val="solid"/>
          </a:ln>
        </p:spPr>
      </p:sp>
      <p:sp>
        <p:nvSpPr>
          <p:cNvPr id="41" name="Shape 39"/>
          <p:cNvSpPr/>
          <p:nvPr/>
        </p:nvSpPr>
        <p:spPr>
          <a:xfrm flipH="1">
            <a:off x="7470648" y="3236976"/>
            <a:ext cx="2953512" cy="0"/>
          </a:xfrm>
          <a:prstGeom prst="line">
            <a:avLst/>
          </a:prstGeom>
          <a:noFill/>
          <a:ln w="19050">
            <a:solidFill>
              <a:srgbClr val="166C5C"/>
            </a:solidFill>
            <a:prstDash val="solid"/>
          </a:ln>
        </p:spPr>
      </p:sp>
      <p:sp>
        <p:nvSpPr>
          <p:cNvPr id="42" name="Shape 40"/>
          <p:cNvSpPr/>
          <p:nvPr/>
        </p:nvSpPr>
        <p:spPr>
          <a:xfrm flipV="1">
            <a:off x="7470648" y="2935224"/>
            <a:ext cx="0" cy="301752"/>
          </a:xfrm>
          <a:prstGeom prst="line">
            <a:avLst/>
          </a:prstGeom>
          <a:noFill/>
          <a:ln w="19050">
            <a:solidFill>
              <a:srgbClr val="166C5C"/>
            </a:solidFill>
            <a:prstDash val="solid"/>
            <a:tailEnd type="triangle"/>
          </a:ln>
        </p:spPr>
      </p:sp>
      <p:sp>
        <p:nvSpPr>
          <p:cNvPr id="43" name="Shape 41"/>
          <p:cNvSpPr/>
          <p:nvPr/>
        </p:nvSpPr>
        <p:spPr>
          <a:xfrm>
            <a:off x="10424160" y="4828032"/>
            <a:ext cx="0" cy="475488"/>
          </a:xfrm>
          <a:prstGeom prst="line">
            <a:avLst/>
          </a:prstGeom>
          <a:noFill/>
          <a:ln w="19050">
            <a:solidFill>
              <a:srgbClr val="F2AD65"/>
            </a:solidFill>
            <a:prstDash val="solid"/>
          </a:ln>
        </p:spPr>
      </p:sp>
      <p:sp>
        <p:nvSpPr>
          <p:cNvPr id="44" name="Shape 42"/>
          <p:cNvSpPr/>
          <p:nvPr/>
        </p:nvSpPr>
        <p:spPr>
          <a:xfrm flipH="1">
            <a:off x="1691640" y="5303520"/>
            <a:ext cx="8732520" cy="0"/>
          </a:xfrm>
          <a:prstGeom prst="line">
            <a:avLst/>
          </a:prstGeom>
          <a:noFill/>
          <a:ln w="19050">
            <a:solidFill>
              <a:srgbClr val="F2AD65"/>
            </a:solidFill>
            <a:prstDash val="solid"/>
          </a:ln>
        </p:spPr>
      </p:sp>
      <p:sp>
        <p:nvSpPr>
          <p:cNvPr id="45" name="Shape 43"/>
          <p:cNvSpPr/>
          <p:nvPr/>
        </p:nvSpPr>
        <p:spPr>
          <a:xfrm flipV="1">
            <a:off x="1691640" y="4828032"/>
            <a:ext cx="0" cy="475488"/>
          </a:xfrm>
          <a:prstGeom prst="line">
            <a:avLst/>
          </a:prstGeom>
          <a:noFill/>
          <a:ln w="19050">
            <a:solidFill>
              <a:srgbClr val="F2AD65"/>
            </a:solidFill>
            <a:prstDash val="solid"/>
            <a:tailEnd type="triangle"/>
          </a:ln>
        </p:spPr>
      </p:sp>
      <p:sp>
        <p:nvSpPr>
          <p:cNvPr id="46" name="Text 44"/>
          <p:cNvSpPr/>
          <p:nvPr/>
        </p:nvSpPr>
        <p:spPr>
          <a:xfrm>
            <a:off x="2898648" y="5559552"/>
            <a:ext cx="6400800" cy="230505"/>
          </a:xfrm>
          <a:prstGeom prst="rect">
            <a:avLst/>
          </a:prstGeom>
          <a:noFill/>
          <a:ln/>
        </p:spPr>
        <p:txBody>
          <a:bodyPr wrap="square" lIns="0" tIns="0" rIns="0" bIns="0" rtlCol="0" anchor="t"/>
          <a:lstStyle/>
          <a:p>
            <a:pPr algn="ctr" indent="0" marL="0">
              <a:buNone/>
            </a:pPr>
            <a:r>
              <a:rPr lang="en-US" sz="1500" dirty="0">
                <a:solidFill>
                  <a:srgbClr val="617487"/>
                </a:solidFill>
                <a:latin typeface="DejaVu Sans" pitchFamily="34" charset="0"/>
                <a:ea typeface="DejaVu Sans" pitchFamily="34" charset="-122"/>
                <a:cs typeface="DejaVu Sans" pitchFamily="34" charset="-120"/>
              </a:rPr>
              <a:t>Tool observations → bounded recovery → revised plan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548640" y="338328"/>
            <a:ext cx="10332720" cy="153670"/>
          </a:xfrm>
          <a:prstGeom prst="rect">
            <a:avLst/>
          </a:prstGeom>
          <a:noFill/>
          <a:ln/>
        </p:spPr>
        <p:txBody>
          <a:bodyPr wrap="square" lIns="0" tIns="0" rIns="0" bIns="0" rtlCol="0" anchor="t"/>
          <a:lstStyle/>
          <a:p>
            <a:pPr algn="l" indent="0" marL="0">
              <a:buNone/>
            </a:pPr>
            <a:r>
              <a:rPr lang="en-US" sz="1000" b="1" dirty="0">
                <a:solidFill>
                  <a:srgbClr val="087F80"/>
                </a:solidFill>
                <a:latin typeface="DejaVu Sans" pitchFamily="34" charset="0"/>
                <a:ea typeface="DejaVu Sans" pitchFamily="34" charset="-122"/>
                <a:cs typeface="DejaVu Sans" pitchFamily="34" charset="-120"/>
              </a:rPr>
              <a:t>CONTROLLED AUTONOMY</a:t>
            </a:r>
            <a:endParaRPr lang="en-US" sz="1000" dirty="0"/>
          </a:p>
        </p:txBody>
      </p:sp>
      <p:sp>
        <p:nvSpPr>
          <p:cNvPr id="3" name="Text 1"/>
          <p:cNvSpPr/>
          <p:nvPr/>
        </p:nvSpPr>
        <p:spPr>
          <a:xfrm>
            <a:off x="548640" y="758952"/>
            <a:ext cx="11064240" cy="445643"/>
          </a:xfrm>
          <a:prstGeom prst="rect">
            <a:avLst/>
          </a:prstGeom>
          <a:noFill/>
          <a:ln/>
        </p:spPr>
        <p:txBody>
          <a:bodyPr wrap="square" lIns="0" tIns="0" rIns="0" bIns="0" rtlCol="0" anchor="t"/>
          <a:lstStyle/>
          <a:p>
            <a:pPr algn="l" indent="0" marL="0">
              <a:buNone/>
            </a:pPr>
            <a:r>
              <a:rPr lang="en-US" sz="2900" b="1" dirty="0">
                <a:solidFill>
                  <a:srgbClr val="182B42"/>
                </a:solidFill>
                <a:latin typeface="DejaVu Sans" pitchFamily="34" charset="0"/>
                <a:ea typeface="DejaVu Sans" pitchFamily="34" charset="-122"/>
                <a:cs typeface="DejaVu Sans" pitchFamily="34" charset="-120"/>
              </a:rPr>
              <a:t>AI proposes. The backend enforces.</a:t>
            </a:r>
            <a:endParaRPr lang="en-US" sz="2900" dirty="0"/>
          </a:p>
        </p:txBody>
      </p:sp>
      <p:sp>
        <p:nvSpPr>
          <p:cNvPr id="4" name="Shape 2"/>
          <p:cNvSpPr/>
          <p:nvPr/>
        </p:nvSpPr>
        <p:spPr>
          <a:xfrm>
            <a:off x="548640" y="6345936"/>
            <a:ext cx="11091672" cy="0"/>
          </a:xfrm>
          <a:prstGeom prst="line">
            <a:avLst/>
          </a:prstGeom>
          <a:noFill/>
          <a:ln w="10160">
            <a:solidFill>
              <a:srgbClr val="DCE5EC"/>
            </a:solidFill>
            <a:prstDash val="solid"/>
          </a:ln>
        </p:spPr>
      </p:sp>
      <p:sp>
        <p:nvSpPr>
          <p:cNvPr id="5" name="Text 3"/>
          <p:cNvSpPr/>
          <p:nvPr/>
        </p:nvSpPr>
        <p:spPr>
          <a:xfrm>
            <a:off x="548640" y="6455664"/>
            <a:ext cx="9966960" cy="122936"/>
          </a:xfrm>
          <a:prstGeom prst="rect">
            <a:avLst/>
          </a:prstGeom>
          <a:noFill/>
          <a:ln/>
        </p:spPr>
        <p:txBody>
          <a:bodyPr wrap="square" lIns="0" tIns="0" rIns="0" bIns="0" rtlCol="0" anchor="t"/>
          <a:lstStyle/>
          <a:p>
            <a:pPr algn="l" indent="0" marL="0">
              <a:buNone/>
            </a:pPr>
            <a:r>
              <a:rPr lang="en-US" sz="800" dirty="0">
                <a:solidFill>
                  <a:srgbClr val="617487"/>
                </a:solidFill>
                <a:latin typeface="DejaVu Sans" pitchFamily="34" charset="0"/>
                <a:ea typeface="DejaVu Sans" pitchFamily="34" charset="-122"/>
                <a:cs typeface="DejaVu Sans" pitchFamily="34" charset="-120"/>
              </a:rPr>
              <a:t>StockPilot • Hackathon pitch</a:t>
            </a:r>
            <a:endParaRPr lang="en-US" sz="800" dirty="0"/>
          </a:p>
        </p:txBody>
      </p:sp>
      <p:sp>
        <p:nvSpPr>
          <p:cNvPr id="6" name="Text 4"/>
          <p:cNvSpPr/>
          <p:nvPr/>
        </p:nvSpPr>
        <p:spPr>
          <a:xfrm>
            <a:off x="10287000" y="6428232"/>
            <a:ext cx="1353312" cy="138303"/>
          </a:xfrm>
          <a:prstGeom prst="rect">
            <a:avLst/>
          </a:prstGeom>
          <a:noFill/>
          <a:ln/>
        </p:spPr>
        <p:txBody>
          <a:bodyPr wrap="square" lIns="0" tIns="0" rIns="0" bIns="0" rtlCol="0" anchor="t"/>
          <a:lstStyle/>
          <a:p>
            <a:pPr algn="r" indent="0" marL="0">
              <a:buNone/>
            </a:pPr>
            <a:r>
              <a:rPr lang="en-US" sz="900" dirty="0">
                <a:solidFill>
                  <a:srgbClr val="617487"/>
                </a:solidFill>
                <a:latin typeface="DejaVu Sans" pitchFamily="34" charset="0"/>
                <a:ea typeface="DejaVu Sans" pitchFamily="34" charset="-122"/>
                <a:cs typeface="DejaVu Sans" pitchFamily="34" charset="-120"/>
              </a:rPr>
              <a:t>07 / 15</a:t>
            </a:r>
            <a:endParaRPr lang="en-US" sz="900" dirty="0"/>
          </a:p>
        </p:txBody>
      </p:sp>
      <p:sp>
        <p:nvSpPr>
          <p:cNvPr id="7" name="Shape 5"/>
          <p:cNvSpPr/>
          <p:nvPr/>
        </p:nvSpPr>
        <p:spPr>
          <a:xfrm>
            <a:off x="548640" y="1737360"/>
            <a:ext cx="5413248" cy="1856232"/>
          </a:xfrm>
          <a:prstGeom prst="rect">
            <a:avLst/>
          </a:prstGeom>
          <a:solidFill>
            <a:srgbClr val="FFFFFF"/>
          </a:solidFill>
          <a:ln w="8890">
            <a:solidFill>
              <a:srgbClr val="DCE5EC"/>
            </a:solidFill>
            <a:prstDash val="solid"/>
          </a:ln>
        </p:spPr>
      </p:sp>
      <p:sp>
        <p:nvSpPr>
          <p:cNvPr id="8" name="Shape 6"/>
          <p:cNvSpPr/>
          <p:nvPr/>
        </p:nvSpPr>
        <p:spPr>
          <a:xfrm>
            <a:off x="548640" y="1737360"/>
            <a:ext cx="41148" cy="1856232"/>
          </a:xfrm>
          <a:prstGeom prst="rect">
            <a:avLst/>
          </a:prstGeom>
          <a:solidFill>
            <a:srgbClr val="087F80"/>
          </a:solidFill>
          <a:ln w="12700">
            <a:solidFill>
              <a:srgbClr val="087F80"/>
            </a:solidFill>
            <a:prstDash val="solid"/>
          </a:ln>
        </p:spPr>
      </p:sp>
      <p:sp>
        <p:nvSpPr>
          <p:cNvPr id="9" name="Text 7"/>
          <p:cNvSpPr/>
          <p:nvPr/>
        </p:nvSpPr>
        <p:spPr>
          <a:xfrm>
            <a:off x="749808" y="1920240"/>
            <a:ext cx="5010912" cy="276606"/>
          </a:xfrm>
          <a:prstGeom prst="rect">
            <a:avLst/>
          </a:prstGeom>
          <a:noFill/>
          <a:ln/>
        </p:spPr>
        <p:txBody>
          <a:bodyPr wrap="square" lIns="0" tIns="0" rIns="0" bIns="0" rtlCol="0" anchor="t"/>
          <a:lstStyle/>
          <a:p>
            <a:pPr algn="l" indent="0" marL="0">
              <a:buNone/>
            </a:pPr>
            <a:r>
              <a:rPr lang="en-US" sz="1800" b="1" dirty="0">
                <a:solidFill>
                  <a:srgbClr val="182B42"/>
                </a:solidFill>
                <a:latin typeface="DejaVu Sans" pitchFamily="34" charset="0"/>
                <a:ea typeface="DejaVu Sans" pitchFamily="34" charset="-122"/>
                <a:cs typeface="DejaVu Sans" pitchFamily="34" charset="-120"/>
              </a:rPr>
              <a:t>Role + scope permissions</a:t>
            </a:r>
            <a:endParaRPr lang="en-US" sz="1800" dirty="0"/>
          </a:p>
        </p:txBody>
      </p:sp>
      <p:sp>
        <p:nvSpPr>
          <p:cNvPr id="10" name="Text 8"/>
          <p:cNvSpPr/>
          <p:nvPr/>
        </p:nvSpPr>
        <p:spPr>
          <a:xfrm>
            <a:off x="749808" y="2606040"/>
            <a:ext cx="5010912" cy="276606"/>
          </a:xfrm>
          <a:prstGeom prst="rect">
            <a:avLst/>
          </a:prstGeom>
          <a:noFill/>
          <a:ln/>
        </p:spPr>
        <p:txBody>
          <a:bodyPr wrap="square" lIns="0" tIns="0" rIns="0" bIns="0" rtlCol="0" anchor="t"/>
          <a:lstStyle/>
          <a:p>
            <a:pPr algn="l" indent="0" marL="0">
              <a:buNone/>
            </a:pPr>
            <a:r>
              <a:rPr lang="en-US" sz="1800" dirty="0">
                <a:solidFill>
                  <a:srgbClr val="617487"/>
                </a:solidFill>
                <a:latin typeface="DejaVu Sans" pitchFamily="34" charset="0"/>
                <a:ea typeface="DejaVu Sans" pitchFamily="34" charset="-122"/>
                <a:cs typeface="DejaVu Sans" pitchFamily="34" charset="-120"/>
              </a:rPr>
              <a:t>Agents receive only approved tools and</a:t>
            </a:r>
            <a:endParaRPr lang="en-US" sz="1800" dirty="0"/>
          </a:p>
        </p:txBody>
      </p:sp>
      <p:sp>
        <p:nvSpPr>
          <p:cNvPr id="11" name="Text 9"/>
          <p:cNvSpPr/>
          <p:nvPr/>
        </p:nvSpPr>
        <p:spPr>
          <a:xfrm>
            <a:off x="749808" y="2884932"/>
            <a:ext cx="5010912" cy="276606"/>
          </a:xfrm>
          <a:prstGeom prst="rect">
            <a:avLst/>
          </a:prstGeom>
          <a:noFill/>
          <a:ln/>
        </p:spPr>
        <p:txBody>
          <a:bodyPr wrap="square" lIns="0" tIns="0" rIns="0" bIns="0" rtlCol="0" anchor="t"/>
          <a:lstStyle/>
          <a:p>
            <a:pPr algn="l" indent="0" marL="0">
              <a:buNone/>
            </a:pPr>
            <a:r>
              <a:rPr lang="en-US" sz="1800" dirty="0">
                <a:solidFill>
                  <a:srgbClr val="617487"/>
                </a:solidFill>
                <a:latin typeface="DejaVu Sans" pitchFamily="34" charset="0"/>
                <a:ea typeface="DejaVu Sans" pitchFamily="34" charset="-122"/>
                <a:cs typeface="DejaVu Sans" pitchFamily="34" charset="-120"/>
              </a:rPr>
              <a:t>owned order/SKU scope.</a:t>
            </a:r>
            <a:endParaRPr lang="en-US" sz="1800" dirty="0"/>
          </a:p>
        </p:txBody>
      </p:sp>
      <p:sp>
        <p:nvSpPr>
          <p:cNvPr id="12" name="Shape 10"/>
          <p:cNvSpPr/>
          <p:nvPr/>
        </p:nvSpPr>
        <p:spPr>
          <a:xfrm>
            <a:off x="6236208" y="1737360"/>
            <a:ext cx="5413248" cy="1856232"/>
          </a:xfrm>
          <a:prstGeom prst="rect">
            <a:avLst/>
          </a:prstGeom>
          <a:solidFill>
            <a:srgbClr val="FFFFFF"/>
          </a:solidFill>
          <a:ln w="8890">
            <a:solidFill>
              <a:srgbClr val="DCE5EC"/>
            </a:solidFill>
            <a:prstDash val="solid"/>
          </a:ln>
        </p:spPr>
      </p:sp>
      <p:sp>
        <p:nvSpPr>
          <p:cNvPr id="13" name="Shape 11"/>
          <p:cNvSpPr/>
          <p:nvPr/>
        </p:nvSpPr>
        <p:spPr>
          <a:xfrm>
            <a:off x="6236208" y="1737360"/>
            <a:ext cx="41148" cy="1856232"/>
          </a:xfrm>
          <a:prstGeom prst="rect">
            <a:avLst/>
          </a:prstGeom>
          <a:solidFill>
            <a:srgbClr val="087F80"/>
          </a:solidFill>
          <a:ln w="12700">
            <a:solidFill>
              <a:srgbClr val="087F80"/>
            </a:solidFill>
            <a:prstDash val="solid"/>
          </a:ln>
        </p:spPr>
      </p:sp>
      <p:sp>
        <p:nvSpPr>
          <p:cNvPr id="14" name="Text 12"/>
          <p:cNvSpPr/>
          <p:nvPr/>
        </p:nvSpPr>
        <p:spPr>
          <a:xfrm>
            <a:off x="6437376" y="1920240"/>
            <a:ext cx="5010912" cy="276606"/>
          </a:xfrm>
          <a:prstGeom prst="rect">
            <a:avLst/>
          </a:prstGeom>
          <a:noFill/>
          <a:ln/>
        </p:spPr>
        <p:txBody>
          <a:bodyPr wrap="square" lIns="0" tIns="0" rIns="0" bIns="0" rtlCol="0" anchor="t"/>
          <a:lstStyle/>
          <a:p>
            <a:pPr algn="l" indent="0" marL="0">
              <a:buNone/>
            </a:pPr>
            <a:r>
              <a:rPr lang="en-US" sz="1800" b="1" dirty="0">
                <a:solidFill>
                  <a:srgbClr val="182B42"/>
                </a:solidFill>
                <a:latin typeface="DejaVu Sans" pitchFamily="34" charset="0"/>
                <a:ea typeface="DejaVu Sans" pitchFamily="34" charset="-122"/>
                <a:cs typeface="DejaVu Sans" pitchFamily="34" charset="-120"/>
              </a:rPr>
              <a:t>Structured input validation</a:t>
            </a:r>
            <a:endParaRPr lang="en-US" sz="1800" dirty="0"/>
          </a:p>
        </p:txBody>
      </p:sp>
      <p:sp>
        <p:nvSpPr>
          <p:cNvPr id="15" name="Text 13"/>
          <p:cNvSpPr/>
          <p:nvPr/>
        </p:nvSpPr>
        <p:spPr>
          <a:xfrm>
            <a:off x="6437376" y="2606040"/>
            <a:ext cx="5010912" cy="276606"/>
          </a:xfrm>
          <a:prstGeom prst="rect">
            <a:avLst/>
          </a:prstGeom>
          <a:noFill/>
          <a:ln/>
        </p:spPr>
        <p:txBody>
          <a:bodyPr wrap="square" lIns="0" tIns="0" rIns="0" bIns="0" rtlCol="0" anchor="t"/>
          <a:lstStyle/>
          <a:p>
            <a:pPr algn="l" indent="0" marL="0">
              <a:buNone/>
            </a:pPr>
            <a:r>
              <a:rPr lang="en-US" sz="1800" dirty="0">
                <a:solidFill>
                  <a:srgbClr val="617487"/>
                </a:solidFill>
                <a:latin typeface="DejaVu Sans" pitchFamily="34" charset="0"/>
                <a:ea typeface="DejaVu Sans" pitchFamily="34" charset="-122"/>
                <a:cs typeface="DejaVu Sans" pitchFamily="34" charset="-120"/>
              </a:rPr>
              <a:t>Exact tool schemas and grounded memory</a:t>
            </a:r>
            <a:endParaRPr lang="en-US" sz="1800" dirty="0"/>
          </a:p>
        </p:txBody>
      </p:sp>
      <p:sp>
        <p:nvSpPr>
          <p:cNvPr id="16" name="Text 14"/>
          <p:cNvSpPr/>
          <p:nvPr/>
        </p:nvSpPr>
        <p:spPr>
          <a:xfrm>
            <a:off x="6437376" y="2884932"/>
            <a:ext cx="5010912" cy="276606"/>
          </a:xfrm>
          <a:prstGeom prst="rect">
            <a:avLst/>
          </a:prstGeom>
          <a:noFill/>
          <a:ln/>
        </p:spPr>
        <p:txBody>
          <a:bodyPr wrap="square" lIns="0" tIns="0" rIns="0" bIns="0" rtlCol="0" anchor="t"/>
          <a:lstStyle/>
          <a:p>
            <a:pPr algn="l" indent="0" marL="0">
              <a:buNone/>
            </a:pPr>
            <a:r>
              <a:rPr lang="en-US" sz="1800" dirty="0">
                <a:solidFill>
                  <a:srgbClr val="617487"/>
                </a:solidFill>
                <a:latin typeface="DejaVu Sans" pitchFamily="34" charset="0"/>
                <a:ea typeface="DejaVu Sans" pitchFamily="34" charset="-122"/>
                <a:cs typeface="DejaVu Sans" pitchFamily="34" charset="-120"/>
              </a:rPr>
              <a:t>IDs are checked before execution.</a:t>
            </a:r>
            <a:endParaRPr lang="en-US" sz="1800" dirty="0"/>
          </a:p>
        </p:txBody>
      </p:sp>
      <p:sp>
        <p:nvSpPr>
          <p:cNvPr id="17" name="Shape 15"/>
          <p:cNvSpPr/>
          <p:nvPr/>
        </p:nvSpPr>
        <p:spPr>
          <a:xfrm>
            <a:off x="548640" y="3822192"/>
            <a:ext cx="5413248" cy="1856232"/>
          </a:xfrm>
          <a:prstGeom prst="rect">
            <a:avLst/>
          </a:prstGeom>
          <a:solidFill>
            <a:srgbClr val="FFFFFF"/>
          </a:solidFill>
          <a:ln w="8890">
            <a:solidFill>
              <a:srgbClr val="DCE5EC"/>
            </a:solidFill>
            <a:prstDash val="solid"/>
          </a:ln>
        </p:spPr>
      </p:sp>
      <p:sp>
        <p:nvSpPr>
          <p:cNvPr id="18" name="Shape 16"/>
          <p:cNvSpPr/>
          <p:nvPr/>
        </p:nvSpPr>
        <p:spPr>
          <a:xfrm>
            <a:off x="548640" y="3822192"/>
            <a:ext cx="41148" cy="1856232"/>
          </a:xfrm>
          <a:prstGeom prst="rect">
            <a:avLst/>
          </a:prstGeom>
          <a:solidFill>
            <a:srgbClr val="F2AD65"/>
          </a:solidFill>
          <a:ln w="12700">
            <a:solidFill>
              <a:srgbClr val="F2AD65"/>
            </a:solidFill>
            <a:prstDash val="solid"/>
          </a:ln>
        </p:spPr>
      </p:sp>
      <p:sp>
        <p:nvSpPr>
          <p:cNvPr id="19" name="Text 17"/>
          <p:cNvSpPr/>
          <p:nvPr/>
        </p:nvSpPr>
        <p:spPr>
          <a:xfrm>
            <a:off x="749808" y="4005072"/>
            <a:ext cx="5010912" cy="276606"/>
          </a:xfrm>
          <a:prstGeom prst="rect">
            <a:avLst/>
          </a:prstGeom>
          <a:noFill/>
          <a:ln/>
        </p:spPr>
        <p:txBody>
          <a:bodyPr wrap="square" lIns="0" tIns="0" rIns="0" bIns="0" rtlCol="0" anchor="t"/>
          <a:lstStyle/>
          <a:p>
            <a:pPr algn="l" indent="0" marL="0">
              <a:buNone/>
            </a:pPr>
            <a:r>
              <a:rPr lang="en-US" sz="1800" b="1" dirty="0">
                <a:solidFill>
                  <a:srgbClr val="182B42"/>
                </a:solidFill>
                <a:latin typeface="DejaVu Sans" pitchFamily="34" charset="0"/>
                <a:ea typeface="DejaVu Sans" pitchFamily="34" charset="-122"/>
                <a:cs typeface="DejaVu Sans" pitchFamily="34" charset="-120"/>
              </a:rPr>
              <a:t>Exact-action approvals</a:t>
            </a:r>
            <a:endParaRPr lang="en-US" sz="1800" dirty="0"/>
          </a:p>
        </p:txBody>
      </p:sp>
      <p:sp>
        <p:nvSpPr>
          <p:cNvPr id="20" name="Text 18"/>
          <p:cNvSpPr/>
          <p:nvPr/>
        </p:nvSpPr>
        <p:spPr>
          <a:xfrm>
            <a:off x="749808" y="4690872"/>
            <a:ext cx="5010912" cy="276606"/>
          </a:xfrm>
          <a:prstGeom prst="rect">
            <a:avLst/>
          </a:prstGeom>
          <a:noFill/>
          <a:ln/>
        </p:spPr>
        <p:txBody>
          <a:bodyPr wrap="square" lIns="0" tIns="0" rIns="0" bIns="0" rtlCol="0" anchor="t"/>
          <a:lstStyle/>
          <a:p>
            <a:pPr algn="l" indent="0" marL="0">
              <a:buNone/>
            </a:pPr>
            <a:r>
              <a:rPr lang="en-US" sz="1800" dirty="0">
                <a:solidFill>
                  <a:srgbClr val="617487"/>
                </a:solidFill>
                <a:latin typeface="DejaVu Sans" pitchFamily="34" charset="0"/>
                <a:ea typeface="DejaVu Sans" pitchFamily="34" charset="-122"/>
                <a:cs typeface="DejaVu Sans" pitchFamily="34" charset="-120"/>
              </a:rPr>
              <a:t>Cumulative purchasing above $250 pauses</a:t>
            </a:r>
            <a:endParaRPr lang="en-US" sz="1800" dirty="0"/>
          </a:p>
        </p:txBody>
      </p:sp>
      <p:sp>
        <p:nvSpPr>
          <p:cNvPr id="21" name="Text 19"/>
          <p:cNvSpPr/>
          <p:nvPr/>
        </p:nvSpPr>
        <p:spPr>
          <a:xfrm>
            <a:off x="749808" y="4969764"/>
            <a:ext cx="5010912" cy="276606"/>
          </a:xfrm>
          <a:prstGeom prst="rect">
            <a:avLst/>
          </a:prstGeom>
          <a:noFill/>
          <a:ln/>
        </p:spPr>
        <p:txBody>
          <a:bodyPr wrap="square" lIns="0" tIns="0" rIns="0" bIns="0" rtlCol="0" anchor="t"/>
          <a:lstStyle/>
          <a:p>
            <a:pPr algn="l" indent="0" marL="0">
              <a:buNone/>
            </a:pPr>
            <a:r>
              <a:rPr lang="en-US" sz="1800" dirty="0">
                <a:solidFill>
                  <a:srgbClr val="617487"/>
                </a:solidFill>
                <a:latin typeface="DejaVu Sans" pitchFamily="34" charset="0"/>
                <a:ea typeface="DejaVu Sans" pitchFamily="34" charset="-122"/>
                <a:cs typeface="DejaVu Sans" pitchFamily="34" charset="-120"/>
              </a:rPr>
              <a:t>for a persisted decision.</a:t>
            </a:r>
            <a:endParaRPr lang="en-US" sz="1800" dirty="0"/>
          </a:p>
        </p:txBody>
      </p:sp>
      <p:sp>
        <p:nvSpPr>
          <p:cNvPr id="22" name="Shape 20"/>
          <p:cNvSpPr/>
          <p:nvPr/>
        </p:nvSpPr>
        <p:spPr>
          <a:xfrm>
            <a:off x="6236208" y="3822192"/>
            <a:ext cx="5413248" cy="1856232"/>
          </a:xfrm>
          <a:prstGeom prst="rect">
            <a:avLst/>
          </a:prstGeom>
          <a:solidFill>
            <a:srgbClr val="FFFFFF"/>
          </a:solidFill>
          <a:ln w="8890">
            <a:solidFill>
              <a:srgbClr val="DCE5EC"/>
            </a:solidFill>
            <a:prstDash val="solid"/>
          </a:ln>
        </p:spPr>
      </p:sp>
      <p:sp>
        <p:nvSpPr>
          <p:cNvPr id="23" name="Shape 21"/>
          <p:cNvSpPr/>
          <p:nvPr/>
        </p:nvSpPr>
        <p:spPr>
          <a:xfrm>
            <a:off x="6236208" y="3822192"/>
            <a:ext cx="41148" cy="1856232"/>
          </a:xfrm>
          <a:prstGeom prst="rect">
            <a:avLst/>
          </a:prstGeom>
          <a:solidFill>
            <a:srgbClr val="166C5C"/>
          </a:solidFill>
          <a:ln w="12700">
            <a:solidFill>
              <a:srgbClr val="166C5C"/>
            </a:solidFill>
            <a:prstDash val="solid"/>
          </a:ln>
        </p:spPr>
      </p:sp>
      <p:sp>
        <p:nvSpPr>
          <p:cNvPr id="24" name="Text 22"/>
          <p:cNvSpPr/>
          <p:nvPr/>
        </p:nvSpPr>
        <p:spPr>
          <a:xfrm>
            <a:off x="6437376" y="4005072"/>
            <a:ext cx="5010912" cy="276606"/>
          </a:xfrm>
          <a:prstGeom prst="rect">
            <a:avLst/>
          </a:prstGeom>
          <a:noFill/>
          <a:ln/>
        </p:spPr>
        <p:txBody>
          <a:bodyPr wrap="square" lIns="0" tIns="0" rIns="0" bIns="0" rtlCol="0" anchor="t"/>
          <a:lstStyle/>
          <a:p>
            <a:pPr algn="l" indent="0" marL="0">
              <a:buNone/>
            </a:pPr>
            <a:r>
              <a:rPr lang="en-US" sz="1800" b="1" dirty="0">
                <a:solidFill>
                  <a:srgbClr val="182B42"/>
                </a:solidFill>
                <a:latin typeface="DejaVu Sans" pitchFamily="34" charset="0"/>
                <a:ea typeface="DejaVu Sans" pitchFamily="34" charset="-122"/>
                <a:cs typeface="DejaVu Sans" pitchFamily="34" charset="-120"/>
              </a:rPr>
              <a:t>Fresh business invariants</a:t>
            </a:r>
            <a:endParaRPr lang="en-US" sz="1800" dirty="0"/>
          </a:p>
        </p:txBody>
      </p:sp>
      <p:sp>
        <p:nvSpPr>
          <p:cNvPr id="25" name="Text 23"/>
          <p:cNvSpPr/>
          <p:nvPr/>
        </p:nvSpPr>
        <p:spPr>
          <a:xfrm>
            <a:off x="6437376" y="4690872"/>
            <a:ext cx="5010912" cy="276606"/>
          </a:xfrm>
          <a:prstGeom prst="rect">
            <a:avLst/>
          </a:prstGeom>
          <a:noFill/>
          <a:ln/>
        </p:spPr>
        <p:txBody>
          <a:bodyPr wrap="square" lIns="0" tIns="0" rIns="0" bIns="0" rtlCol="0" anchor="t"/>
          <a:lstStyle/>
          <a:p>
            <a:pPr algn="l" indent="0" marL="0">
              <a:buNone/>
            </a:pPr>
            <a:r>
              <a:rPr lang="en-US" sz="1800" dirty="0">
                <a:solidFill>
                  <a:srgbClr val="617487"/>
                </a:solidFill>
                <a:latin typeface="DejaVu Sans" pitchFamily="34" charset="0"/>
                <a:ea typeface="DejaVu Sans" pitchFamily="34" charset="-122"/>
                <a:cs typeface="DejaVu Sans" pitchFamily="34" charset="-120"/>
              </a:rPr>
              <a:t>Quote version, budget, uncovered demand</a:t>
            </a:r>
            <a:endParaRPr lang="en-US" sz="1800" dirty="0"/>
          </a:p>
        </p:txBody>
      </p:sp>
      <p:sp>
        <p:nvSpPr>
          <p:cNvPr id="26" name="Text 24"/>
          <p:cNvSpPr/>
          <p:nvPr/>
        </p:nvSpPr>
        <p:spPr>
          <a:xfrm>
            <a:off x="6437376" y="4969764"/>
            <a:ext cx="5010912" cy="276606"/>
          </a:xfrm>
          <a:prstGeom prst="rect">
            <a:avLst/>
          </a:prstGeom>
          <a:noFill/>
          <a:ln/>
        </p:spPr>
        <p:txBody>
          <a:bodyPr wrap="square" lIns="0" tIns="0" rIns="0" bIns="0" rtlCol="0" anchor="t"/>
          <a:lstStyle/>
          <a:p>
            <a:pPr algn="l" indent="0" marL="0">
              <a:buNone/>
            </a:pPr>
            <a:r>
              <a:rPr lang="en-US" sz="1800" dirty="0">
                <a:solidFill>
                  <a:srgbClr val="617487"/>
                </a:solidFill>
                <a:latin typeface="DejaVu Sans" pitchFamily="34" charset="0"/>
                <a:ea typeface="DejaVu Sans" pitchFamily="34" charset="-122"/>
                <a:cs typeface="DejaVu Sans" pitchFamily="34" charset="-120"/>
              </a:rPr>
              <a:t>and deadline are rechecked.</a:t>
            </a:r>
            <a:endParaRPr lang="en-US" sz="1800" dirty="0"/>
          </a:p>
        </p:txBody>
      </p:sp>
      <p:sp>
        <p:nvSpPr>
          <p:cNvPr id="27" name="Text 25"/>
          <p:cNvSpPr/>
          <p:nvPr/>
        </p:nvSpPr>
        <p:spPr>
          <a:xfrm>
            <a:off x="621792" y="5916168"/>
            <a:ext cx="10972800" cy="207455"/>
          </a:xfrm>
          <a:prstGeom prst="rect">
            <a:avLst/>
          </a:prstGeom>
          <a:noFill/>
          <a:ln/>
        </p:spPr>
        <p:txBody>
          <a:bodyPr wrap="square" lIns="0" tIns="0" rIns="0" bIns="0" rtlCol="0" anchor="t"/>
          <a:lstStyle/>
          <a:p>
            <a:pPr algn="ctr" indent="0" marL="0">
              <a:buNone/>
            </a:pPr>
            <a:r>
              <a:rPr lang="en-US" sz="1350" dirty="0">
                <a:solidFill>
                  <a:srgbClr val="617487"/>
                </a:solidFill>
                <a:latin typeface="DejaVu Sans" pitchFamily="34" charset="0"/>
                <a:ea typeface="DejaVu Sans" pitchFamily="34" charset="-122"/>
                <a:cs typeface="DejaVu Sans" pitchFamily="34" charset="-120"/>
              </a:rPr>
              <a:t>JWT + tenant ownership Backend-only keys Atomic writes + replay receipts</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548640" y="338328"/>
            <a:ext cx="10332720" cy="153670"/>
          </a:xfrm>
          <a:prstGeom prst="rect">
            <a:avLst/>
          </a:prstGeom>
          <a:noFill/>
          <a:ln/>
        </p:spPr>
        <p:txBody>
          <a:bodyPr wrap="square" lIns="0" tIns="0" rIns="0" bIns="0" rtlCol="0" anchor="t"/>
          <a:lstStyle/>
          <a:p>
            <a:pPr algn="l" indent="0" marL="0">
              <a:buNone/>
            </a:pPr>
            <a:r>
              <a:rPr lang="en-US" sz="1000" b="1" dirty="0">
                <a:solidFill>
                  <a:srgbClr val="087F80"/>
                </a:solidFill>
                <a:latin typeface="DejaVu Sans" pitchFamily="34" charset="0"/>
                <a:ea typeface="DejaVu Sans" pitchFamily="34" charset="-122"/>
                <a:cs typeface="DejaVu Sans" pitchFamily="34" charset="-120"/>
              </a:rPr>
              <a:t>LIVE RECOVERY SCENARIO</a:t>
            </a:r>
            <a:endParaRPr lang="en-US" sz="1000" dirty="0"/>
          </a:p>
        </p:txBody>
      </p:sp>
      <p:sp>
        <p:nvSpPr>
          <p:cNvPr id="3" name="Text 1"/>
          <p:cNvSpPr/>
          <p:nvPr/>
        </p:nvSpPr>
        <p:spPr>
          <a:xfrm>
            <a:off x="548640" y="758952"/>
            <a:ext cx="11064240" cy="445643"/>
          </a:xfrm>
          <a:prstGeom prst="rect">
            <a:avLst/>
          </a:prstGeom>
          <a:noFill/>
          <a:ln/>
        </p:spPr>
        <p:txBody>
          <a:bodyPr wrap="square" lIns="0" tIns="0" rIns="0" bIns="0" rtlCol="0" anchor="t"/>
          <a:lstStyle/>
          <a:p>
            <a:pPr algn="l" indent="0" marL="0">
              <a:buNone/>
            </a:pPr>
            <a:r>
              <a:rPr lang="en-US" sz="2900" b="1" dirty="0">
                <a:solidFill>
                  <a:srgbClr val="182B42"/>
                </a:solidFill>
                <a:latin typeface="DejaVu Sans" pitchFamily="34" charset="0"/>
                <a:ea typeface="DejaVu Sans" pitchFamily="34" charset="-122"/>
                <a:cs typeface="DejaVu Sans" pitchFamily="34" charset="-120"/>
              </a:rPr>
              <a:t>The demo: recover when the supplier changes.</a:t>
            </a:r>
            <a:endParaRPr lang="en-US" sz="2900" dirty="0"/>
          </a:p>
        </p:txBody>
      </p:sp>
      <p:sp>
        <p:nvSpPr>
          <p:cNvPr id="4" name="Shape 2"/>
          <p:cNvSpPr/>
          <p:nvPr/>
        </p:nvSpPr>
        <p:spPr>
          <a:xfrm>
            <a:off x="548640" y="6345936"/>
            <a:ext cx="11091672" cy="0"/>
          </a:xfrm>
          <a:prstGeom prst="line">
            <a:avLst/>
          </a:prstGeom>
          <a:noFill/>
          <a:ln w="10160">
            <a:solidFill>
              <a:srgbClr val="DCE5EC"/>
            </a:solidFill>
            <a:prstDash val="solid"/>
          </a:ln>
        </p:spPr>
      </p:sp>
      <p:sp>
        <p:nvSpPr>
          <p:cNvPr id="5" name="Text 3"/>
          <p:cNvSpPr/>
          <p:nvPr/>
        </p:nvSpPr>
        <p:spPr>
          <a:xfrm>
            <a:off x="548640" y="6455664"/>
            <a:ext cx="9966960" cy="122936"/>
          </a:xfrm>
          <a:prstGeom prst="rect">
            <a:avLst/>
          </a:prstGeom>
          <a:noFill/>
          <a:ln/>
        </p:spPr>
        <p:txBody>
          <a:bodyPr wrap="square" lIns="0" tIns="0" rIns="0" bIns="0" rtlCol="0" anchor="t"/>
          <a:lstStyle/>
          <a:p>
            <a:pPr algn="l" indent="0" marL="0">
              <a:buNone/>
            </a:pPr>
            <a:r>
              <a:rPr lang="en-US" sz="800" dirty="0">
                <a:solidFill>
                  <a:srgbClr val="617487"/>
                </a:solidFill>
                <a:latin typeface="DejaVu Sans" pitchFamily="34" charset="0"/>
                <a:ea typeface="DejaVu Sans" pitchFamily="34" charset="-122"/>
                <a:cs typeface="DejaVu Sans" pitchFamily="34" charset="-120"/>
              </a:rPr>
              <a:t>Source: docs/LIVE_ACCEPTANCE.md • Actual Gemini + Atlas • Sandbox business ledger</a:t>
            </a:r>
            <a:endParaRPr lang="en-US" sz="800" dirty="0"/>
          </a:p>
        </p:txBody>
      </p:sp>
      <p:sp>
        <p:nvSpPr>
          <p:cNvPr id="6" name="Text 4"/>
          <p:cNvSpPr/>
          <p:nvPr/>
        </p:nvSpPr>
        <p:spPr>
          <a:xfrm>
            <a:off x="10287000" y="6428232"/>
            <a:ext cx="1353312" cy="138303"/>
          </a:xfrm>
          <a:prstGeom prst="rect">
            <a:avLst/>
          </a:prstGeom>
          <a:noFill/>
          <a:ln/>
        </p:spPr>
        <p:txBody>
          <a:bodyPr wrap="square" lIns="0" tIns="0" rIns="0" bIns="0" rtlCol="0" anchor="t"/>
          <a:lstStyle/>
          <a:p>
            <a:pPr algn="r" indent="0" marL="0">
              <a:buNone/>
            </a:pPr>
            <a:r>
              <a:rPr lang="en-US" sz="900" dirty="0">
                <a:solidFill>
                  <a:srgbClr val="617487"/>
                </a:solidFill>
                <a:latin typeface="DejaVu Sans" pitchFamily="34" charset="0"/>
                <a:ea typeface="DejaVu Sans" pitchFamily="34" charset="-122"/>
                <a:cs typeface="DejaVu Sans" pitchFamily="34" charset="-120"/>
              </a:rPr>
              <a:t>08 / 15</a:t>
            </a:r>
            <a:endParaRPr lang="en-US" sz="900" dirty="0"/>
          </a:p>
        </p:txBody>
      </p:sp>
      <p:sp>
        <p:nvSpPr>
          <p:cNvPr id="7" name="Shape 5"/>
          <p:cNvSpPr/>
          <p:nvPr/>
        </p:nvSpPr>
        <p:spPr>
          <a:xfrm>
            <a:off x="585216" y="1645920"/>
            <a:ext cx="1828800" cy="329184"/>
          </a:xfrm>
          <a:prstGeom prst="roundRect">
            <a:avLst/>
          </a:prstGeom>
          <a:solidFill>
            <a:srgbClr val="E9F4F1"/>
          </a:solidFill>
          <a:ln w="12700">
            <a:solidFill>
              <a:srgbClr val="E9F4F1"/>
            </a:solidFill>
            <a:prstDash val="solid"/>
          </a:ln>
        </p:spPr>
      </p:sp>
      <p:sp>
        <p:nvSpPr>
          <p:cNvPr id="8" name="Text 6"/>
          <p:cNvSpPr/>
          <p:nvPr/>
        </p:nvSpPr>
        <p:spPr>
          <a:xfrm>
            <a:off x="658368" y="1705356"/>
            <a:ext cx="1682496" cy="153670"/>
          </a:xfrm>
          <a:prstGeom prst="rect">
            <a:avLst/>
          </a:prstGeom>
          <a:noFill/>
          <a:ln/>
        </p:spPr>
        <p:txBody>
          <a:bodyPr wrap="square" lIns="0" tIns="0" rIns="0" bIns="0" rtlCol="0" anchor="t"/>
          <a:lstStyle/>
          <a:p>
            <a:pPr algn="ctr" indent="0" marL="0">
              <a:buNone/>
            </a:pPr>
            <a:r>
              <a:rPr lang="en-US" sz="1000" b="1" dirty="0">
                <a:solidFill>
                  <a:srgbClr val="166C5C"/>
                </a:solidFill>
                <a:latin typeface="DejaVu Sans" pitchFamily="34" charset="0"/>
                <a:ea typeface="DejaVu Sans" pitchFamily="34" charset="-122"/>
                <a:cs typeface="DejaVu Sans" pitchFamily="34" charset="-120"/>
              </a:rPr>
              <a:t>30 NEEDED</a:t>
            </a:r>
            <a:endParaRPr lang="en-US" sz="1000" dirty="0"/>
          </a:p>
        </p:txBody>
      </p:sp>
      <p:sp>
        <p:nvSpPr>
          <p:cNvPr id="9" name="Shape 7"/>
          <p:cNvSpPr/>
          <p:nvPr/>
        </p:nvSpPr>
        <p:spPr>
          <a:xfrm>
            <a:off x="2578608" y="1645920"/>
            <a:ext cx="1828800" cy="329184"/>
          </a:xfrm>
          <a:prstGeom prst="roundRect">
            <a:avLst/>
          </a:prstGeom>
          <a:solidFill>
            <a:srgbClr val="E9F4F1"/>
          </a:solidFill>
          <a:ln w="12700">
            <a:solidFill>
              <a:srgbClr val="E9F4F1"/>
            </a:solidFill>
            <a:prstDash val="solid"/>
          </a:ln>
        </p:spPr>
      </p:sp>
      <p:sp>
        <p:nvSpPr>
          <p:cNvPr id="10" name="Text 8"/>
          <p:cNvSpPr/>
          <p:nvPr/>
        </p:nvSpPr>
        <p:spPr>
          <a:xfrm>
            <a:off x="2651760" y="1705356"/>
            <a:ext cx="1682496" cy="153670"/>
          </a:xfrm>
          <a:prstGeom prst="rect">
            <a:avLst/>
          </a:prstGeom>
          <a:noFill/>
          <a:ln/>
        </p:spPr>
        <p:txBody>
          <a:bodyPr wrap="square" lIns="0" tIns="0" rIns="0" bIns="0" rtlCol="0" anchor="t"/>
          <a:lstStyle/>
          <a:p>
            <a:pPr algn="ctr" indent="0" marL="0">
              <a:buNone/>
            </a:pPr>
            <a:r>
              <a:rPr lang="en-US" sz="1000" b="1" dirty="0">
                <a:solidFill>
                  <a:srgbClr val="166C5C"/>
                </a:solidFill>
                <a:latin typeface="DejaVu Sans" pitchFamily="34" charset="0"/>
                <a:ea typeface="DejaVu Sans" pitchFamily="34" charset="-122"/>
                <a:cs typeface="DejaVu Sans" pitchFamily="34" charset="-120"/>
              </a:rPr>
              <a:t>8 ON HAND</a:t>
            </a:r>
            <a:endParaRPr lang="en-US" sz="1000" dirty="0"/>
          </a:p>
        </p:txBody>
      </p:sp>
      <p:sp>
        <p:nvSpPr>
          <p:cNvPr id="11" name="Shape 9"/>
          <p:cNvSpPr/>
          <p:nvPr/>
        </p:nvSpPr>
        <p:spPr>
          <a:xfrm>
            <a:off x="4572000" y="1645920"/>
            <a:ext cx="2194560" cy="329184"/>
          </a:xfrm>
          <a:prstGeom prst="roundRect">
            <a:avLst/>
          </a:prstGeom>
          <a:solidFill>
            <a:srgbClr val="FFF1E1"/>
          </a:solidFill>
          <a:ln w="12700">
            <a:solidFill>
              <a:srgbClr val="FFF1E1"/>
            </a:solidFill>
            <a:prstDash val="solid"/>
          </a:ln>
        </p:spPr>
      </p:sp>
      <p:sp>
        <p:nvSpPr>
          <p:cNvPr id="12" name="Text 10"/>
          <p:cNvSpPr/>
          <p:nvPr/>
        </p:nvSpPr>
        <p:spPr>
          <a:xfrm>
            <a:off x="4645152" y="1705356"/>
            <a:ext cx="2048256" cy="153670"/>
          </a:xfrm>
          <a:prstGeom prst="rect">
            <a:avLst/>
          </a:prstGeom>
          <a:noFill/>
          <a:ln/>
        </p:spPr>
        <p:txBody>
          <a:bodyPr wrap="square" lIns="0" tIns="0" rIns="0" bIns="0" rtlCol="0" anchor="t"/>
          <a:lstStyle/>
          <a:p>
            <a:pPr algn="ctr" indent="0" marL="0">
              <a:buNone/>
            </a:pPr>
            <a:r>
              <a:rPr lang="en-US" sz="1000" b="1" dirty="0">
                <a:solidFill>
                  <a:srgbClr val="182B42"/>
                </a:solidFill>
                <a:latin typeface="DejaVu Sans" pitchFamily="34" charset="0"/>
                <a:ea typeface="DejaVu Sans" pitchFamily="34" charset="-122"/>
                <a:cs typeface="DejaVu Sans" pitchFamily="34" charset="-120"/>
              </a:rPr>
              <a:t>22 TO SOURCE</a:t>
            </a:r>
            <a:endParaRPr lang="en-US" sz="1000" dirty="0"/>
          </a:p>
        </p:txBody>
      </p:sp>
      <p:sp>
        <p:nvSpPr>
          <p:cNvPr id="13" name="Shape 11"/>
          <p:cNvSpPr/>
          <p:nvPr/>
        </p:nvSpPr>
        <p:spPr>
          <a:xfrm>
            <a:off x="6931152" y="1645920"/>
            <a:ext cx="2450592" cy="329184"/>
          </a:xfrm>
          <a:prstGeom prst="roundRect">
            <a:avLst/>
          </a:prstGeom>
          <a:solidFill>
            <a:srgbClr val="E9F4F1"/>
          </a:solidFill>
          <a:ln w="12700">
            <a:solidFill>
              <a:srgbClr val="E9F4F1"/>
            </a:solidFill>
            <a:prstDash val="solid"/>
          </a:ln>
        </p:spPr>
      </p:sp>
      <p:sp>
        <p:nvSpPr>
          <p:cNvPr id="14" name="Text 12"/>
          <p:cNvSpPr/>
          <p:nvPr/>
        </p:nvSpPr>
        <p:spPr>
          <a:xfrm>
            <a:off x="7004304" y="1705356"/>
            <a:ext cx="2304288" cy="153670"/>
          </a:xfrm>
          <a:prstGeom prst="rect">
            <a:avLst/>
          </a:prstGeom>
          <a:noFill/>
          <a:ln/>
        </p:spPr>
        <p:txBody>
          <a:bodyPr wrap="square" lIns="0" tIns="0" rIns="0" bIns="0" rtlCol="0" anchor="t"/>
          <a:lstStyle/>
          <a:p>
            <a:pPr algn="ctr" indent="0" marL="0">
              <a:buNone/>
            </a:pPr>
            <a:r>
              <a:rPr lang="en-US" sz="1000" b="1" dirty="0">
                <a:solidFill>
                  <a:srgbClr val="166C5C"/>
                </a:solidFill>
                <a:latin typeface="DejaVu Sans" pitchFamily="34" charset="0"/>
                <a:ea typeface="DejaVu Sans" pitchFamily="34" charset="-122"/>
                <a:cs typeface="DejaVu Sans" pitchFamily="34" charset="-120"/>
              </a:rPr>
              <a:t>4-DAY DEADLINE</a:t>
            </a:r>
            <a:endParaRPr lang="en-US" sz="1000" dirty="0"/>
          </a:p>
        </p:txBody>
      </p:sp>
      <p:sp>
        <p:nvSpPr>
          <p:cNvPr id="15" name="Shape 13"/>
          <p:cNvSpPr/>
          <p:nvPr/>
        </p:nvSpPr>
        <p:spPr>
          <a:xfrm>
            <a:off x="548640" y="2468880"/>
            <a:ext cx="3383280" cy="2377440"/>
          </a:xfrm>
          <a:prstGeom prst="rect">
            <a:avLst/>
          </a:prstGeom>
          <a:solidFill>
            <a:srgbClr val="FFFFFF"/>
          </a:solidFill>
          <a:ln w="8890">
            <a:solidFill>
              <a:srgbClr val="DCE5EC"/>
            </a:solidFill>
            <a:prstDash val="solid"/>
          </a:ln>
        </p:spPr>
      </p:sp>
      <p:sp>
        <p:nvSpPr>
          <p:cNvPr id="16" name="Shape 14"/>
          <p:cNvSpPr/>
          <p:nvPr/>
        </p:nvSpPr>
        <p:spPr>
          <a:xfrm>
            <a:off x="548640" y="2468880"/>
            <a:ext cx="41148" cy="2377440"/>
          </a:xfrm>
          <a:prstGeom prst="rect">
            <a:avLst/>
          </a:prstGeom>
          <a:solidFill>
            <a:srgbClr val="F2AD65"/>
          </a:solidFill>
          <a:ln w="12700">
            <a:solidFill>
              <a:srgbClr val="F2AD65"/>
            </a:solidFill>
            <a:prstDash val="solid"/>
          </a:ln>
        </p:spPr>
      </p:sp>
      <p:sp>
        <p:nvSpPr>
          <p:cNvPr id="17" name="Text 15"/>
          <p:cNvSpPr/>
          <p:nvPr/>
        </p:nvSpPr>
        <p:spPr>
          <a:xfrm>
            <a:off x="749808" y="2651760"/>
            <a:ext cx="2980944" cy="276606"/>
          </a:xfrm>
          <a:prstGeom prst="rect">
            <a:avLst/>
          </a:prstGeom>
          <a:noFill/>
          <a:ln/>
        </p:spPr>
        <p:txBody>
          <a:bodyPr wrap="square" lIns="0" tIns="0" rIns="0" bIns="0" rtlCol="0" anchor="t"/>
          <a:lstStyle/>
          <a:p>
            <a:pPr algn="l" indent="0" marL="0">
              <a:buNone/>
            </a:pPr>
            <a:r>
              <a:rPr lang="en-US" sz="1800" b="1" dirty="0">
                <a:solidFill>
                  <a:srgbClr val="182B42"/>
                </a:solidFill>
                <a:latin typeface="DejaVu Sans" pitchFamily="34" charset="0"/>
                <a:ea typeface="DejaVu Sans" pitchFamily="34" charset="-122"/>
                <a:cs typeface="DejaVu Sans" pitchFamily="34" charset="-120"/>
              </a:rPr>
              <a:t>Plan A: supplier A</a:t>
            </a:r>
            <a:endParaRPr lang="en-US" sz="1800" dirty="0"/>
          </a:p>
        </p:txBody>
      </p:sp>
      <p:sp>
        <p:nvSpPr>
          <p:cNvPr id="18" name="Text 16"/>
          <p:cNvSpPr/>
          <p:nvPr/>
        </p:nvSpPr>
        <p:spPr>
          <a:xfrm>
            <a:off x="749808" y="3337560"/>
            <a:ext cx="2980944"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22 × $30 = $660</a:t>
            </a:r>
            <a:endParaRPr lang="en-US" sz="1700" dirty="0"/>
          </a:p>
        </p:txBody>
      </p:sp>
      <p:sp>
        <p:nvSpPr>
          <p:cNvPr id="19" name="Text 17"/>
          <p:cNvSpPr/>
          <p:nvPr/>
        </p:nvSpPr>
        <p:spPr>
          <a:xfrm>
            <a:off x="749808" y="3600958"/>
            <a:ext cx="2980944"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2-day lead time</a:t>
            </a:r>
            <a:endParaRPr lang="en-US" sz="1700" dirty="0"/>
          </a:p>
        </p:txBody>
      </p:sp>
      <p:sp>
        <p:nvSpPr>
          <p:cNvPr id="20" name="Text 18"/>
          <p:cNvSpPr/>
          <p:nvPr/>
        </p:nvSpPr>
        <p:spPr>
          <a:xfrm>
            <a:off x="749808" y="3864356"/>
            <a:ext cx="2980944"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Purchase awaits approval.</a:t>
            </a:r>
            <a:endParaRPr lang="en-US" sz="1700" dirty="0"/>
          </a:p>
        </p:txBody>
      </p:sp>
      <p:sp>
        <p:nvSpPr>
          <p:cNvPr id="21" name="Shape 19"/>
          <p:cNvSpPr/>
          <p:nvPr/>
        </p:nvSpPr>
        <p:spPr>
          <a:xfrm>
            <a:off x="4398264" y="2468880"/>
            <a:ext cx="3383280" cy="2377440"/>
          </a:xfrm>
          <a:prstGeom prst="rect">
            <a:avLst/>
          </a:prstGeom>
          <a:solidFill>
            <a:srgbClr val="FBEDEE"/>
          </a:solidFill>
          <a:ln w="8890">
            <a:solidFill>
              <a:srgbClr val="DCE5EC"/>
            </a:solidFill>
            <a:prstDash val="solid"/>
          </a:ln>
        </p:spPr>
      </p:sp>
      <p:sp>
        <p:nvSpPr>
          <p:cNvPr id="22" name="Shape 20"/>
          <p:cNvSpPr/>
          <p:nvPr/>
        </p:nvSpPr>
        <p:spPr>
          <a:xfrm>
            <a:off x="4398264" y="2468880"/>
            <a:ext cx="41148" cy="2377440"/>
          </a:xfrm>
          <a:prstGeom prst="rect">
            <a:avLst/>
          </a:prstGeom>
          <a:solidFill>
            <a:srgbClr val="B13F43"/>
          </a:solidFill>
          <a:ln w="12700">
            <a:solidFill>
              <a:srgbClr val="B13F43"/>
            </a:solidFill>
            <a:prstDash val="solid"/>
          </a:ln>
        </p:spPr>
      </p:sp>
      <p:sp>
        <p:nvSpPr>
          <p:cNvPr id="23" name="Text 21"/>
          <p:cNvSpPr/>
          <p:nvPr/>
        </p:nvSpPr>
        <p:spPr>
          <a:xfrm>
            <a:off x="4599432" y="2651760"/>
            <a:ext cx="2980944" cy="276606"/>
          </a:xfrm>
          <a:prstGeom prst="rect">
            <a:avLst/>
          </a:prstGeom>
          <a:noFill/>
          <a:ln/>
        </p:spPr>
        <p:txBody>
          <a:bodyPr wrap="square" lIns="0" tIns="0" rIns="0" bIns="0" rtlCol="0" anchor="t"/>
          <a:lstStyle/>
          <a:p>
            <a:pPr algn="l" indent="0" marL="0">
              <a:buNone/>
            </a:pPr>
            <a:r>
              <a:rPr lang="en-US" sz="1800" b="1" dirty="0">
                <a:solidFill>
                  <a:srgbClr val="182B42"/>
                </a:solidFill>
                <a:latin typeface="DejaVu Sans" pitchFamily="34" charset="0"/>
                <a:ea typeface="DejaVu Sans" pitchFamily="34" charset="-122"/>
                <a:cs typeface="DejaVu Sans" pitchFamily="34" charset="-120"/>
              </a:rPr>
              <a:t>Quote changed</a:t>
            </a:r>
            <a:endParaRPr lang="en-US" sz="1800" dirty="0"/>
          </a:p>
        </p:txBody>
      </p:sp>
      <p:sp>
        <p:nvSpPr>
          <p:cNvPr id="24" name="Text 22"/>
          <p:cNvSpPr/>
          <p:nvPr/>
        </p:nvSpPr>
        <p:spPr>
          <a:xfrm>
            <a:off x="4599432" y="3337560"/>
            <a:ext cx="2980944"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Supplier stock is</a:t>
            </a:r>
            <a:endParaRPr lang="en-US" sz="1700" dirty="0"/>
          </a:p>
        </p:txBody>
      </p:sp>
      <p:sp>
        <p:nvSpPr>
          <p:cNvPr id="25" name="Text 23"/>
          <p:cNvSpPr/>
          <p:nvPr/>
        </p:nvSpPr>
        <p:spPr>
          <a:xfrm>
            <a:off x="4599432" y="3600958"/>
            <a:ext cx="2980944"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withdrawn.</a:t>
            </a:r>
            <a:endParaRPr lang="en-US" sz="1700" dirty="0"/>
          </a:p>
        </p:txBody>
      </p:sp>
      <p:sp>
        <p:nvSpPr>
          <p:cNvPr id="26" name="Text 24"/>
          <p:cNvSpPr/>
          <p:nvPr/>
        </p:nvSpPr>
        <p:spPr>
          <a:xfrm>
            <a:off x="4599432" y="3864356"/>
            <a:ext cx="2980944"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The approved stale quote</a:t>
            </a:r>
            <a:endParaRPr lang="en-US" sz="1700" dirty="0"/>
          </a:p>
        </p:txBody>
      </p:sp>
      <p:sp>
        <p:nvSpPr>
          <p:cNvPr id="27" name="Text 25"/>
          <p:cNvSpPr/>
          <p:nvPr/>
        </p:nvSpPr>
        <p:spPr>
          <a:xfrm>
            <a:off x="4599432" y="4127754"/>
            <a:ext cx="2980944"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fails: QUOTE_CHANGED.</a:t>
            </a:r>
            <a:endParaRPr lang="en-US" sz="1700" dirty="0"/>
          </a:p>
        </p:txBody>
      </p:sp>
      <p:sp>
        <p:nvSpPr>
          <p:cNvPr id="28" name="Shape 26"/>
          <p:cNvSpPr/>
          <p:nvPr/>
        </p:nvSpPr>
        <p:spPr>
          <a:xfrm>
            <a:off x="8247888" y="2468880"/>
            <a:ext cx="3383280" cy="2377440"/>
          </a:xfrm>
          <a:prstGeom prst="rect">
            <a:avLst/>
          </a:prstGeom>
          <a:solidFill>
            <a:srgbClr val="E9F4F1"/>
          </a:solidFill>
          <a:ln w="8890">
            <a:solidFill>
              <a:srgbClr val="DCE5EC"/>
            </a:solidFill>
            <a:prstDash val="solid"/>
          </a:ln>
        </p:spPr>
      </p:sp>
      <p:sp>
        <p:nvSpPr>
          <p:cNvPr id="29" name="Shape 27"/>
          <p:cNvSpPr/>
          <p:nvPr/>
        </p:nvSpPr>
        <p:spPr>
          <a:xfrm>
            <a:off x="8247888" y="2468880"/>
            <a:ext cx="41148" cy="2377440"/>
          </a:xfrm>
          <a:prstGeom prst="rect">
            <a:avLst/>
          </a:prstGeom>
          <a:solidFill>
            <a:srgbClr val="166C5C"/>
          </a:solidFill>
          <a:ln w="12700">
            <a:solidFill>
              <a:srgbClr val="166C5C"/>
            </a:solidFill>
            <a:prstDash val="solid"/>
          </a:ln>
        </p:spPr>
      </p:sp>
      <p:sp>
        <p:nvSpPr>
          <p:cNvPr id="30" name="Text 28"/>
          <p:cNvSpPr/>
          <p:nvPr/>
        </p:nvSpPr>
        <p:spPr>
          <a:xfrm>
            <a:off x="8449056" y="2651760"/>
            <a:ext cx="2980944" cy="276606"/>
          </a:xfrm>
          <a:prstGeom prst="rect">
            <a:avLst/>
          </a:prstGeom>
          <a:noFill/>
          <a:ln/>
        </p:spPr>
        <p:txBody>
          <a:bodyPr wrap="square" lIns="0" tIns="0" rIns="0" bIns="0" rtlCol="0" anchor="t"/>
          <a:lstStyle/>
          <a:p>
            <a:pPr algn="l" indent="0" marL="0">
              <a:buNone/>
            </a:pPr>
            <a:r>
              <a:rPr lang="en-US" sz="1800" b="1" dirty="0">
                <a:solidFill>
                  <a:srgbClr val="182B42"/>
                </a:solidFill>
                <a:latin typeface="DejaVu Sans" pitchFamily="34" charset="0"/>
                <a:ea typeface="DejaVu Sans" pitchFamily="34" charset="-122"/>
                <a:cs typeface="DejaVu Sans" pitchFamily="34" charset="-120"/>
              </a:rPr>
              <a:t>Plan B: supplier B</a:t>
            </a:r>
            <a:endParaRPr lang="en-US" sz="1800" dirty="0"/>
          </a:p>
        </p:txBody>
      </p:sp>
      <p:sp>
        <p:nvSpPr>
          <p:cNvPr id="31" name="Text 29"/>
          <p:cNvSpPr/>
          <p:nvPr/>
        </p:nvSpPr>
        <p:spPr>
          <a:xfrm>
            <a:off x="8449056" y="3337560"/>
            <a:ext cx="2980944"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22 × $36 = $792</a:t>
            </a:r>
            <a:endParaRPr lang="en-US" sz="1700" dirty="0"/>
          </a:p>
        </p:txBody>
      </p:sp>
      <p:sp>
        <p:nvSpPr>
          <p:cNvPr id="32" name="Text 30"/>
          <p:cNvSpPr/>
          <p:nvPr/>
        </p:nvSpPr>
        <p:spPr>
          <a:xfrm>
            <a:off x="8449056" y="3600958"/>
            <a:ext cx="2980944"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3-day lead time</a:t>
            </a:r>
            <a:endParaRPr lang="en-US" sz="1700" dirty="0"/>
          </a:p>
        </p:txBody>
      </p:sp>
      <p:sp>
        <p:nvSpPr>
          <p:cNvPr id="33" name="Text 31"/>
          <p:cNvSpPr/>
          <p:nvPr/>
        </p:nvSpPr>
        <p:spPr>
          <a:xfrm>
            <a:off x="8449056" y="3864356"/>
            <a:ext cx="2980944"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Fresh approval → commit.</a:t>
            </a:r>
            <a:endParaRPr lang="en-US" sz="1700" dirty="0"/>
          </a:p>
        </p:txBody>
      </p:sp>
      <p:sp>
        <p:nvSpPr>
          <p:cNvPr id="34" name="Shape 32"/>
          <p:cNvSpPr/>
          <p:nvPr/>
        </p:nvSpPr>
        <p:spPr>
          <a:xfrm>
            <a:off x="3986784" y="3657600"/>
            <a:ext cx="356616" cy="0"/>
          </a:xfrm>
          <a:prstGeom prst="line">
            <a:avLst/>
          </a:prstGeom>
          <a:noFill/>
          <a:ln w="19050">
            <a:solidFill>
              <a:srgbClr val="F2AD65"/>
            </a:solidFill>
            <a:prstDash val="solid"/>
            <a:tailEnd type="triangle"/>
          </a:ln>
        </p:spPr>
      </p:sp>
      <p:sp>
        <p:nvSpPr>
          <p:cNvPr id="35" name="Shape 33"/>
          <p:cNvSpPr/>
          <p:nvPr/>
        </p:nvSpPr>
        <p:spPr>
          <a:xfrm>
            <a:off x="7836408" y="3657600"/>
            <a:ext cx="356616" cy="0"/>
          </a:xfrm>
          <a:prstGeom prst="line">
            <a:avLst/>
          </a:prstGeom>
          <a:noFill/>
          <a:ln w="19050">
            <a:solidFill>
              <a:srgbClr val="166C5C"/>
            </a:solidFill>
            <a:prstDash val="solid"/>
            <a:tailEnd type="triangle"/>
          </a:ln>
        </p:spPr>
      </p:sp>
      <p:sp>
        <p:nvSpPr>
          <p:cNvPr id="36" name="Shape 34"/>
          <p:cNvSpPr/>
          <p:nvPr/>
        </p:nvSpPr>
        <p:spPr>
          <a:xfrm>
            <a:off x="548640" y="5276088"/>
            <a:ext cx="11100816" cy="713232"/>
          </a:xfrm>
          <a:prstGeom prst="rect">
            <a:avLst/>
          </a:prstGeom>
          <a:solidFill>
            <a:srgbClr val="132235"/>
          </a:solidFill>
          <a:ln w="12700">
            <a:solidFill>
              <a:srgbClr val="132235"/>
            </a:solidFill>
            <a:prstDash val="solid"/>
          </a:ln>
        </p:spPr>
      </p:sp>
      <p:sp>
        <p:nvSpPr>
          <p:cNvPr id="37" name="Text 35"/>
          <p:cNvSpPr/>
          <p:nvPr/>
        </p:nvSpPr>
        <p:spPr>
          <a:xfrm>
            <a:off x="822960" y="5468112"/>
            <a:ext cx="10552176" cy="268923"/>
          </a:xfrm>
          <a:prstGeom prst="rect">
            <a:avLst/>
          </a:prstGeom>
          <a:noFill/>
          <a:ln/>
        </p:spPr>
        <p:txBody>
          <a:bodyPr wrap="square" lIns="0" tIns="0" rIns="0" bIns="0" rtlCol="0" anchor="t"/>
          <a:lstStyle/>
          <a:p>
            <a:pPr algn="l" indent="0" marL="0">
              <a:buNone/>
            </a:pPr>
            <a:r>
              <a:rPr lang="en-US" sz="1750" b="1" dirty="0">
                <a:solidFill>
                  <a:srgbClr val="FFFFFF"/>
                </a:solidFill>
                <a:latin typeface="DejaVu Sans" pitchFamily="34" charset="0"/>
                <a:ea typeface="DejaVu Sans" pitchFamily="34" charset="-122"/>
                <a:cs typeface="DejaVu Sans" pitchFamily="34" charset="-120"/>
              </a:rPr>
              <a:t>8 reserved + 22 scheduled = 30 allocated units. Budget and deadline checks pass.</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548640" y="338328"/>
            <a:ext cx="10332720" cy="153670"/>
          </a:xfrm>
          <a:prstGeom prst="rect">
            <a:avLst/>
          </a:prstGeom>
          <a:noFill/>
          <a:ln/>
        </p:spPr>
        <p:txBody>
          <a:bodyPr wrap="square" lIns="0" tIns="0" rIns="0" bIns="0" rtlCol="0" anchor="t"/>
          <a:lstStyle/>
          <a:p>
            <a:pPr algn="l" indent="0" marL="0">
              <a:buNone/>
            </a:pPr>
            <a:r>
              <a:rPr lang="en-US" sz="1000" b="1" dirty="0">
                <a:solidFill>
                  <a:srgbClr val="087F80"/>
                </a:solidFill>
                <a:latin typeface="DejaVu Sans" pitchFamily="34" charset="0"/>
                <a:ea typeface="DejaVu Sans" pitchFamily="34" charset="-122"/>
                <a:cs typeface="DejaVu Sans" pitchFamily="34" charset="-120"/>
              </a:rPr>
              <a:t>ACCEPTANCE RESULTS</a:t>
            </a:r>
            <a:endParaRPr lang="en-US" sz="1000" dirty="0"/>
          </a:p>
        </p:txBody>
      </p:sp>
      <p:sp>
        <p:nvSpPr>
          <p:cNvPr id="3" name="Text 1"/>
          <p:cNvSpPr/>
          <p:nvPr/>
        </p:nvSpPr>
        <p:spPr>
          <a:xfrm>
            <a:off x="548640" y="758952"/>
            <a:ext cx="11064240" cy="445643"/>
          </a:xfrm>
          <a:prstGeom prst="rect">
            <a:avLst/>
          </a:prstGeom>
          <a:noFill/>
          <a:ln/>
        </p:spPr>
        <p:txBody>
          <a:bodyPr wrap="square" lIns="0" tIns="0" rIns="0" bIns="0" rtlCol="0" anchor="t"/>
          <a:lstStyle/>
          <a:p>
            <a:pPr algn="l" indent="0" marL="0">
              <a:buNone/>
            </a:pPr>
            <a:r>
              <a:rPr lang="en-US" sz="2900" b="1" dirty="0">
                <a:solidFill>
                  <a:srgbClr val="182B42"/>
                </a:solidFill>
                <a:latin typeface="DejaVu Sans" pitchFamily="34" charset="0"/>
                <a:ea typeface="DejaVu Sans" pitchFamily="34" charset="-122"/>
                <a:cs typeface="DejaVu Sans" pitchFamily="34" charset="-120"/>
              </a:rPr>
              <a:t>Measured execution. A verified outcome.</a:t>
            </a:r>
            <a:endParaRPr lang="en-US" sz="2900" dirty="0"/>
          </a:p>
        </p:txBody>
      </p:sp>
      <p:sp>
        <p:nvSpPr>
          <p:cNvPr id="4" name="Shape 2"/>
          <p:cNvSpPr/>
          <p:nvPr/>
        </p:nvSpPr>
        <p:spPr>
          <a:xfrm>
            <a:off x="548640" y="6345936"/>
            <a:ext cx="11091672" cy="0"/>
          </a:xfrm>
          <a:prstGeom prst="line">
            <a:avLst/>
          </a:prstGeom>
          <a:noFill/>
          <a:ln w="10160">
            <a:solidFill>
              <a:srgbClr val="DCE5EC"/>
            </a:solidFill>
            <a:prstDash val="solid"/>
          </a:ln>
        </p:spPr>
      </p:sp>
      <p:sp>
        <p:nvSpPr>
          <p:cNvPr id="5" name="Text 3"/>
          <p:cNvSpPr/>
          <p:nvPr/>
        </p:nvSpPr>
        <p:spPr>
          <a:xfrm>
            <a:off x="548640" y="6455664"/>
            <a:ext cx="9966960" cy="122936"/>
          </a:xfrm>
          <a:prstGeom prst="rect">
            <a:avLst/>
          </a:prstGeom>
          <a:noFill/>
          <a:ln/>
        </p:spPr>
        <p:txBody>
          <a:bodyPr wrap="square" lIns="0" tIns="0" rIns="0" bIns="0" rtlCol="0" anchor="t"/>
          <a:lstStyle/>
          <a:p>
            <a:pPr algn="l" indent="0" marL="0">
              <a:buNone/>
            </a:pPr>
            <a:r>
              <a:rPr lang="en-US" sz="800" dirty="0">
                <a:solidFill>
                  <a:srgbClr val="617487"/>
                </a:solidFill>
                <a:latin typeface="DejaVu Sans" pitchFamily="34" charset="0"/>
                <a:ea typeface="DejaVu Sans" pitchFamily="34" charset="-122"/>
                <a:cs typeface="DejaVu Sans" pitchFamily="34" charset="-120"/>
              </a:rPr>
              <a:t>Source: LIVE_ACCEPTANCE.md + VERIFICATION.md • One controlled live scenario, not a population benchmark</a:t>
            </a:r>
            <a:endParaRPr lang="en-US" sz="800" dirty="0"/>
          </a:p>
        </p:txBody>
      </p:sp>
      <p:sp>
        <p:nvSpPr>
          <p:cNvPr id="6" name="Text 4"/>
          <p:cNvSpPr/>
          <p:nvPr/>
        </p:nvSpPr>
        <p:spPr>
          <a:xfrm>
            <a:off x="10287000" y="6428232"/>
            <a:ext cx="1353312" cy="138303"/>
          </a:xfrm>
          <a:prstGeom prst="rect">
            <a:avLst/>
          </a:prstGeom>
          <a:noFill/>
          <a:ln/>
        </p:spPr>
        <p:txBody>
          <a:bodyPr wrap="square" lIns="0" tIns="0" rIns="0" bIns="0" rtlCol="0" anchor="t"/>
          <a:lstStyle/>
          <a:p>
            <a:pPr algn="r" indent="0" marL="0">
              <a:buNone/>
            </a:pPr>
            <a:r>
              <a:rPr lang="en-US" sz="900" dirty="0">
                <a:solidFill>
                  <a:srgbClr val="617487"/>
                </a:solidFill>
                <a:latin typeface="DejaVu Sans" pitchFamily="34" charset="0"/>
                <a:ea typeface="DejaVu Sans" pitchFamily="34" charset="-122"/>
                <a:cs typeface="DejaVu Sans" pitchFamily="34" charset="-120"/>
              </a:rPr>
              <a:t>09 / 15</a:t>
            </a:r>
            <a:endParaRPr lang="en-US" sz="900" dirty="0"/>
          </a:p>
        </p:txBody>
      </p:sp>
      <p:sp>
        <p:nvSpPr>
          <p:cNvPr id="7" name="Shape 5"/>
          <p:cNvSpPr/>
          <p:nvPr/>
        </p:nvSpPr>
        <p:spPr>
          <a:xfrm>
            <a:off x="548640" y="1700784"/>
            <a:ext cx="2542032" cy="1069848"/>
          </a:xfrm>
          <a:prstGeom prst="rect">
            <a:avLst/>
          </a:prstGeom>
          <a:solidFill>
            <a:srgbClr val="FFFFFF"/>
          </a:solidFill>
          <a:ln w="8890">
            <a:solidFill>
              <a:srgbClr val="DCE5EC"/>
            </a:solidFill>
            <a:prstDash val="solid"/>
          </a:ln>
        </p:spPr>
      </p:sp>
      <p:sp>
        <p:nvSpPr>
          <p:cNvPr id="8" name="Text 6"/>
          <p:cNvSpPr/>
          <p:nvPr/>
        </p:nvSpPr>
        <p:spPr>
          <a:xfrm>
            <a:off x="722376" y="1874520"/>
            <a:ext cx="2194560" cy="430276"/>
          </a:xfrm>
          <a:prstGeom prst="rect">
            <a:avLst/>
          </a:prstGeom>
          <a:noFill/>
          <a:ln/>
        </p:spPr>
        <p:txBody>
          <a:bodyPr wrap="square" lIns="0" tIns="0" rIns="0" bIns="0" rtlCol="0" anchor="t"/>
          <a:lstStyle/>
          <a:p>
            <a:pPr algn="l" indent="0" marL="0">
              <a:buNone/>
            </a:pPr>
            <a:r>
              <a:rPr lang="en-US" sz="2800" b="1" dirty="0">
                <a:solidFill>
                  <a:srgbClr val="087F80"/>
                </a:solidFill>
                <a:latin typeface="DejaVu Sans" pitchFamily="34" charset="0"/>
                <a:ea typeface="DejaVu Sans" pitchFamily="34" charset="-122"/>
                <a:cs typeface="DejaVu Sans" pitchFamily="34" charset="-120"/>
              </a:rPr>
              <a:t>30 / 30</a:t>
            </a:r>
            <a:endParaRPr lang="en-US" sz="2800" dirty="0"/>
          </a:p>
        </p:txBody>
      </p:sp>
      <p:sp>
        <p:nvSpPr>
          <p:cNvPr id="9" name="Text 7"/>
          <p:cNvSpPr/>
          <p:nvPr/>
        </p:nvSpPr>
        <p:spPr>
          <a:xfrm>
            <a:off x="722376" y="2450592"/>
            <a:ext cx="2194560" cy="176721"/>
          </a:xfrm>
          <a:prstGeom prst="rect">
            <a:avLst/>
          </a:prstGeom>
          <a:noFill/>
          <a:ln/>
        </p:spPr>
        <p:txBody>
          <a:bodyPr wrap="square" lIns="0" tIns="0" rIns="0" bIns="0" rtlCol="0" anchor="t"/>
          <a:lstStyle/>
          <a:p>
            <a:pPr algn="l" indent="0" marL="0">
              <a:buNone/>
            </a:pPr>
            <a:r>
              <a:rPr lang="en-US" sz="1150" dirty="0">
                <a:solidFill>
                  <a:srgbClr val="617487"/>
                </a:solidFill>
                <a:latin typeface="DejaVu Sans" pitchFamily="34" charset="0"/>
                <a:ea typeface="DejaVu Sans" pitchFamily="34" charset="-122"/>
                <a:cs typeface="DejaVu Sans" pitchFamily="34" charset="-120"/>
              </a:rPr>
              <a:t>Units allocated</a:t>
            </a:r>
            <a:endParaRPr lang="en-US" sz="1150" dirty="0"/>
          </a:p>
        </p:txBody>
      </p:sp>
      <p:sp>
        <p:nvSpPr>
          <p:cNvPr id="10" name="Shape 8"/>
          <p:cNvSpPr/>
          <p:nvPr/>
        </p:nvSpPr>
        <p:spPr>
          <a:xfrm>
            <a:off x="3401568" y="1700784"/>
            <a:ext cx="2542032" cy="1069848"/>
          </a:xfrm>
          <a:prstGeom prst="rect">
            <a:avLst/>
          </a:prstGeom>
          <a:solidFill>
            <a:srgbClr val="FFFFFF"/>
          </a:solidFill>
          <a:ln w="8890">
            <a:solidFill>
              <a:srgbClr val="DCE5EC"/>
            </a:solidFill>
            <a:prstDash val="solid"/>
          </a:ln>
        </p:spPr>
      </p:sp>
      <p:sp>
        <p:nvSpPr>
          <p:cNvPr id="11" name="Text 9"/>
          <p:cNvSpPr/>
          <p:nvPr/>
        </p:nvSpPr>
        <p:spPr>
          <a:xfrm>
            <a:off x="3575304" y="1874520"/>
            <a:ext cx="2194560" cy="430276"/>
          </a:xfrm>
          <a:prstGeom prst="rect">
            <a:avLst/>
          </a:prstGeom>
          <a:noFill/>
          <a:ln/>
        </p:spPr>
        <p:txBody>
          <a:bodyPr wrap="square" lIns="0" tIns="0" rIns="0" bIns="0" rtlCol="0" anchor="t"/>
          <a:lstStyle/>
          <a:p>
            <a:pPr algn="l" indent="0" marL="0">
              <a:buNone/>
            </a:pPr>
            <a:r>
              <a:rPr lang="en-US" sz="2800" b="1" dirty="0">
                <a:solidFill>
                  <a:srgbClr val="087F80"/>
                </a:solidFill>
                <a:latin typeface="DejaVu Sans" pitchFamily="34" charset="0"/>
                <a:ea typeface="DejaVu Sans" pitchFamily="34" charset="-122"/>
                <a:cs typeface="DejaVu Sans" pitchFamily="34" charset="-120"/>
              </a:rPr>
              <a:t>$792</a:t>
            </a:r>
            <a:endParaRPr lang="en-US" sz="2800" dirty="0"/>
          </a:p>
        </p:txBody>
      </p:sp>
      <p:sp>
        <p:nvSpPr>
          <p:cNvPr id="12" name="Text 10"/>
          <p:cNvSpPr/>
          <p:nvPr/>
        </p:nvSpPr>
        <p:spPr>
          <a:xfrm>
            <a:off x="3575304" y="2450592"/>
            <a:ext cx="2194560" cy="176721"/>
          </a:xfrm>
          <a:prstGeom prst="rect">
            <a:avLst/>
          </a:prstGeom>
          <a:noFill/>
          <a:ln/>
        </p:spPr>
        <p:txBody>
          <a:bodyPr wrap="square" lIns="0" tIns="0" rIns="0" bIns="0" rtlCol="0" anchor="t"/>
          <a:lstStyle/>
          <a:p>
            <a:pPr algn="l" indent="0" marL="0">
              <a:buNone/>
            </a:pPr>
            <a:r>
              <a:rPr lang="en-US" sz="1150" dirty="0">
                <a:solidFill>
                  <a:srgbClr val="617487"/>
                </a:solidFill>
                <a:latin typeface="DejaVu Sans" pitchFamily="34" charset="0"/>
                <a:ea typeface="DejaVu Sans" pitchFamily="34" charset="-122"/>
                <a:cs typeface="DejaVu Sans" pitchFamily="34" charset="-120"/>
              </a:rPr>
              <a:t>Within $1,500 budget</a:t>
            </a:r>
            <a:endParaRPr lang="en-US" sz="1150" dirty="0"/>
          </a:p>
        </p:txBody>
      </p:sp>
      <p:sp>
        <p:nvSpPr>
          <p:cNvPr id="13" name="Shape 11"/>
          <p:cNvSpPr/>
          <p:nvPr/>
        </p:nvSpPr>
        <p:spPr>
          <a:xfrm>
            <a:off x="6254496" y="1700784"/>
            <a:ext cx="2542032" cy="1069848"/>
          </a:xfrm>
          <a:prstGeom prst="rect">
            <a:avLst/>
          </a:prstGeom>
          <a:solidFill>
            <a:srgbClr val="FFFFFF"/>
          </a:solidFill>
          <a:ln w="8890">
            <a:solidFill>
              <a:srgbClr val="DCE5EC"/>
            </a:solidFill>
            <a:prstDash val="solid"/>
          </a:ln>
        </p:spPr>
      </p:sp>
      <p:sp>
        <p:nvSpPr>
          <p:cNvPr id="14" name="Text 12"/>
          <p:cNvSpPr/>
          <p:nvPr/>
        </p:nvSpPr>
        <p:spPr>
          <a:xfrm>
            <a:off x="6428232" y="1874520"/>
            <a:ext cx="2194560" cy="430276"/>
          </a:xfrm>
          <a:prstGeom prst="rect">
            <a:avLst/>
          </a:prstGeom>
          <a:noFill/>
          <a:ln/>
        </p:spPr>
        <p:txBody>
          <a:bodyPr wrap="square" lIns="0" tIns="0" rIns="0" bIns="0" rtlCol="0" anchor="t"/>
          <a:lstStyle/>
          <a:p>
            <a:pPr algn="l" indent="0" marL="0">
              <a:buNone/>
            </a:pPr>
            <a:r>
              <a:rPr lang="en-US" sz="2800" b="1" dirty="0">
                <a:solidFill>
                  <a:srgbClr val="087F80"/>
                </a:solidFill>
                <a:latin typeface="DejaVu Sans" pitchFamily="34" charset="0"/>
                <a:ea typeface="DejaVu Sans" pitchFamily="34" charset="-122"/>
                <a:cs typeface="DejaVu Sans" pitchFamily="34" charset="-120"/>
              </a:rPr>
              <a:t>3m 15.7s</a:t>
            </a:r>
            <a:endParaRPr lang="en-US" sz="2800" dirty="0"/>
          </a:p>
        </p:txBody>
      </p:sp>
      <p:sp>
        <p:nvSpPr>
          <p:cNvPr id="15" name="Text 13"/>
          <p:cNvSpPr/>
          <p:nvPr/>
        </p:nvSpPr>
        <p:spPr>
          <a:xfrm>
            <a:off x="6428232" y="2450592"/>
            <a:ext cx="2194560" cy="176721"/>
          </a:xfrm>
          <a:prstGeom prst="rect">
            <a:avLst/>
          </a:prstGeom>
          <a:noFill/>
          <a:ln/>
        </p:spPr>
        <p:txBody>
          <a:bodyPr wrap="square" lIns="0" tIns="0" rIns="0" bIns="0" rtlCol="0" anchor="t"/>
          <a:lstStyle/>
          <a:p>
            <a:pPr algn="l" indent="0" marL="0">
              <a:buNone/>
            </a:pPr>
            <a:r>
              <a:rPr lang="en-US" sz="1150" dirty="0">
                <a:solidFill>
                  <a:srgbClr val="617487"/>
                </a:solidFill>
                <a:latin typeface="DejaVu Sans" pitchFamily="34" charset="0"/>
                <a:ea typeface="DejaVu Sans" pitchFamily="34" charset="-122"/>
                <a:cs typeface="DejaVu Sans" pitchFamily="34" charset="-120"/>
              </a:rPr>
              <a:t>Actual wall-clock time</a:t>
            </a:r>
            <a:endParaRPr lang="en-US" sz="1150" dirty="0"/>
          </a:p>
        </p:txBody>
      </p:sp>
      <p:sp>
        <p:nvSpPr>
          <p:cNvPr id="16" name="Shape 14"/>
          <p:cNvSpPr/>
          <p:nvPr/>
        </p:nvSpPr>
        <p:spPr>
          <a:xfrm>
            <a:off x="9107424" y="1700784"/>
            <a:ext cx="2542032" cy="1069848"/>
          </a:xfrm>
          <a:prstGeom prst="rect">
            <a:avLst/>
          </a:prstGeom>
          <a:solidFill>
            <a:srgbClr val="FFFFFF"/>
          </a:solidFill>
          <a:ln w="8890">
            <a:solidFill>
              <a:srgbClr val="DCE5EC"/>
            </a:solidFill>
            <a:prstDash val="solid"/>
          </a:ln>
        </p:spPr>
      </p:sp>
      <p:sp>
        <p:nvSpPr>
          <p:cNvPr id="17" name="Text 15"/>
          <p:cNvSpPr/>
          <p:nvPr/>
        </p:nvSpPr>
        <p:spPr>
          <a:xfrm>
            <a:off x="9281160" y="1874520"/>
            <a:ext cx="2194560" cy="430276"/>
          </a:xfrm>
          <a:prstGeom prst="rect">
            <a:avLst/>
          </a:prstGeom>
          <a:noFill/>
          <a:ln/>
        </p:spPr>
        <p:txBody>
          <a:bodyPr wrap="square" lIns="0" tIns="0" rIns="0" bIns="0" rtlCol="0" anchor="t"/>
          <a:lstStyle/>
          <a:p>
            <a:pPr algn="l" indent="0" marL="0">
              <a:buNone/>
            </a:pPr>
            <a:r>
              <a:rPr lang="en-US" sz="2800" b="1" dirty="0">
                <a:solidFill>
                  <a:srgbClr val="087F80"/>
                </a:solidFill>
                <a:latin typeface="DejaVu Sans" pitchFamily="34" charset="0"/>
                <a:ea typeface="DejaVu Sans" pitchFamily="34" charset="-122"/>
                <a:cs typeface="DejaVu Sans" pitchFamily="34" charset="-120"/>
              </a:rPr>
              <a:t>2</a:t>
            </a:r>
            <a:endParaRPr lang="en-US" sz="2800" dirty="0"/>
          </a:p>
        </p:txBody>
      </p:sp>
      <p:sp>
        <p:nvSpPr>
          <p:cNvPr id="18" name="Text 16"/>
          <p:cNvSpPr/>
          <p:nvPr/>
        </p:nvSpPr>
        <p:spPr>
          <a:xfrm>
            <a:off x="9281160" y="2450592"/>
            <a:ext cx="2194560" cy="176721"/>
          </a:xfrm>
          <a:prstGeom prst="rect">
            <a:avLst/>
          </a:prstGeom>
          <a:noFill/>
          <a:ln/>
        </p:spPr>
        <p:txBody>
          <a:bodyPr wrap="square" lIns="0" tIns="0" rIns="0" bIns="0" rtlCol="0" anchor="t"/>
          <a:lstStyle/>
          <a:p>
            <a:pPr algn="l" indent="0" marL="0">
              <a:buNone/>
            </a:pPr>
            <a:r>
              <a:rPr lang="en-US" sz="1150" dirty="0">
                <a:solidFill>
                  <a:srgbClr val="617487"/>
                </a:solidFill>
                <a:latin typeface="DejaVu Sans" pitchFamily="34" charset="0"/>
                <a:ea typeface="DejaVu Sans" pitchFamily="34" charset="-122"/>
                <a:cs typeface="DejaVu Sans" pitchFamily="34" charset="-120"/>
              </a:rPr>
              <a:t>Accepted plan revisions</a:t>
            </a:r>
            <a:endParaRPr lang="en-US" sz="1150" dirty="0"/>
          </a:p>
        </p:txBody>
      </p:sp>
      <p:pic>
        <p:nvPicPr>
          <p:cNvPr id="19" name="Image 0" descr="/home/sanke/stockpilot/docs/presentation/assets/analytics_focus.png">    </p:cNvPr>
          <p:cNvPicPr>
            <a:picLocks noChangeAspect="1"/>
          </p:cNvPicPr>
          <p:nvPr/>
        </p:nvPicPr>
        <p:blipFill>
          <a:blip r:embed="rId1"/>
          <a:stretch>
            <a:fillRect/>
          </a:stretch>
        </p:blipFill>
        <p:spPr>
          <a:xfrm>
            <a:off x="548640" y="3054096"/>
            <a:ext cx="6172200" cy="2667915"/>
          </a:xfrm>
          <a:prstGeom prst="rect">
            <a:avLst/>
          </a:prstGeom>
        </p:spPr>
      </p:pic>
      <p:sp>
        <p:nvSpPr>
          <p:cNvPr id="20" name="Text 17"/>
          <p:cNvSpPr/>
          <p:nvPr/>
        </p:nvSpPr>
        <p:spPr>
          <a:xfrm>
            <a:off x="566928" y="5813451"/>
            <a:ext cx="6126480" cy="153670"/>
          </a:xfrm>
          <a:prstGeom prst="rect">
            <a:avLst/>
          </a:prstGeom>
          <a:noFill/>
          <a:ln/>
        </p:spPr>
        <p:txBody>
          <a:bodyPr wrap="square" lIns="0" tIns="0" rIns="0" bIns="0" rtlCol="0" anchor="t"/>
          <a:lstStyle/>
          <a:p>
            <a:pPr algn="l" indent="0" marL="0">
              <a:buNone/>
            </a:pPr>
            <a:r>
              <a:rPr lang="en-US" sz="1000" dirty="0">
                <a:solidFill>
                  <a:srgbClr val="617487"/>
                </a:solidFill>
                <a:latin typeface="DejaVu Sans" pitchFamily="34" charset="0"/>
                <a:ea typeface="DejaVu Sans" pitchFamily="34" charset="-122"/>
                <a:cs typeface="DejaVu Sans" pitchFamily="34" charset="-120"/>
              </a:rPr>
              <a:t>Live API-derived analytics</a:t>
            </a:r>
            <a:endParaRPr lang="en-US" sz="1000" dirty="0"/>
          </a:p>
        </p:txBody>
      </p:sp>
      <p:sp>
        <p:nvSpPr>
          <p:cNvPr id="21" name="Text 18"/>
          <p:cNvSpPr/>
          <p:nvPr/>
        </p:nvSpPr>
        <p:spPr>
          <a:xfrm>
            <a:off x="7022592" y="3099816"/>
            <a:ext cx="4434840" cy="353441"/>
          </a:xfrm>
          <a:prstGeom prst="rect">
            <a:avLst/>
          </a:prstGeom>
          <a:noFill/>
          <a:ln/>
        </p:spPr>
        <p:txBody>
          <a:bodyPr wrap="square" lIns="0" tIns="0" rIns="0" bIns="0" rtlCol="0" anchor="t"/>
          <a:lstStyle/>
          <a:p>
            <a:pPr algn="l" indent="0" marL="0">
              <a:buNone/>
            </a:pPr>
            <a:r>
              <a:rPr lang="en-US" sz="2300" b="1" dirty="0">
                <a:solidFill>
                  <a:srgbClr val="182B42"/>
                </a:solidFill>
                <a:latin typeface="DejaVu Sans" pitchFamily="34" charset="0"/>
                <a:ea typeface="DejaVu Sans" pitchFamily="34" charset="-122"/>
                <a:cs typeface="DejaVu Sans" pitchFamily="34" charset="-120"/>
              </a:rPr>
              <a:t>The acceptance proved</a:t>
            </a:r>
            <a:endParaRPr lang="en-US" sz="2300" dirty="0"/>
          </a:p>
        </p:txBody>
      </p:sp>
      <p:sp>
        <p:nvSpPr>
          <p:cNvPr id="22" name="Text 19"/>
          <p:cNvSpPr/>
          <p:nvPr/>
        </p:nvSpPr>
        <p:spPr>
          <a:xfrm>
            <a:off x="7022592" y="3767328"/>
            <a:ext cx="4370832"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Real plans and tool mutations</a:t>
            </a:r>
            <a:endParaRPr lang="en-US" sz="1700" dirty="0"/>
          </a:p>
        </p:txBody>
      </p:sp>
      <p:sp>
        <p:nvSpPr>
          <p:cNvPr id="23" name="Text 20"/>
          <p:cNvSpPr/>
          <p:nvPr/>
        </p:nvSpPr>
        <p:spPr>
          <a:xfrm>
            <a:off x="7022592" y="4091178"/>
            <a:ext cx="4370832"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Two persisted approvals</a:t>
            </a:r>
            <a:endParaRPr lang="en-US" sz="1700" dirty="0"/>
          </a:p>
        </p:txBody>
      </p:sp>
      <p:sp>
        <p:nvSpPr>
          <p:cNvPr id="24" name="Text 21"/>
          <p:cNvSpPr/>
          <p:nvPr/>
        </p:nvSpPr>
        <p:spPr>
          <a:xfrm>
            <a:off x="7022592" y="4415028"/>
            <a:ext cx="4370832"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Stale-quote recovery</a:t>
            </a:r>
            <a:endParaRPr lang="en-US" sz="1700" dirty="0"/>
          </a:p>
        </p:txBody>
      </p:sp>
      <p:sp>
        <p:nvSpPr>
          <p:cNvPr id="25" name="Text 22"/>
          <p:cNvSpPr/>
          <p:nvPr/>
        </p:nvSpPr>
        <p:spPr>
          <a:xfrm>
            <a:off x="7022592" y="4738878"/>
            <a:ext cx="4370832"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Independent checks + final report</a:t>
            </a:r>
            <a:endParaRPr lang="en-US" sz="1700" dirty="0"/>
          </a:p>
        </p:txBody>
      </p:sp>
      <p:sp>
        <p:nvSpPr>
          <p:cNvPr id="26" name="Shape 23"/>
          <p:cNvSpPr/>
          <p:nvPr/>
        </p:nvSpPr>
        <p:spPr>
          <a:xfrm>
            <a:off x="7022592" y="5541264"/>
            <a:ext cx="2468880" cy="329184"/>
          </a:xfrm>
          <a:prstGeom prst="roundRect">
            <a:avLst/>
          </a:prstGeom>
          <a:solidFill>
            <a:srgbClr val="E9F4F1"/>
          </a:solidFill>
          <a:ln w="12700">
            <a:solidFill>
              <a:srgbClr val="E9F4F1"/>
            </a:solidFill>
            <a:prstDash val="solid"/>
          </a:ln>
        </p:spPr>
      </p:sp>
      <p:sp>
        <p:nvSpPr>
          <p:cNvPr id="27" name="Text 24"/>
          <p:cNvSpPr/>
          <p:nvPr/>
        </p:nvSpPr>
        <p:spPr>
          <a:xfrm>
            <a:off x="7095744" y="5600700"/>
            <a:ext cx="2322576" cy="153670"/>
          </a:xfrm>
          <a:prstGeom prst="rect">
            <a:avLst/>
          </a:prstGeom>
          <a:noFill/>
          <a:ln/>
        </p:spPr>
        <p:txBody>
          <a:bodyPr wrap="square" lIns="0" tIns="0" rIns="0" bIns="0" rtlCol="0" anchor="t"/>
          <a:lstStyle/>
          <a:p>
            <a:pPr algn="ctr" indent="0" marL="0">
              <a:buNone/>
            </a:pPr>
            <a:r>
              <a:rPr lang="en-US" sz="1000" b="1" dirty="0">
                <a:solidFill>
                  <a:srgbClr val="166C5C"/>
                </a:solidFill>
                <a:latin typeface="DejaVu Sans" pitchFamily="34" charset="0"/>
                <a:ea typeface="DejaVu Sans" pitchFamily="34" charset="-122"/>
                <a:cs typeface="DejaVu Sans" pitchFamily="34" charset="-120"/>
              </a:rPr>
              <a:t>37 BACKEND TESTS</a:t>
            </a:r>
            <a:endParaRPr lang="en-US" sz="1000" dirty="0"/>
          </a:p>
        </p:txBody>
      </p:sp>
      <p:sp>
        <p:nvSpPr>
          <p:cNvPr id="28" name="Shape 25"/>
          <p:cNvSpPr/>
          <p:nvPr/>
        </p:nvSpPr>
        <p:spPr>
          <a:xfrm>
            <a:off x="9656064" y="5541264"/>
            <a:ext cx="1865376" cy="329184"/>
          </a:xfrm>
          <a:prstGeom prst="roundRect">
            <a:avLst/>
          </a:prstGeom>
          <a:solidFill>
            <a:srgbClr val="E9F4F1"/>
          </a:solidFill>
          <a:ln w="12700">
            <a:solidFill>
              <a:srgbClr val="E9F4F1"/>
            </a:solidFill>
            <a:prstDash val="solid"/>
          </a:ln>
        </p:spPr>
      </p:sp>
      <p:sp>
        <p:nvSpPr>
          <p:cNvPr id="29" name="Text 26"/>
          <p:cNvSpPr/>
          <p:nvPr/>
        </p:nvSpPr>
        <p:spPr>
          <a:xfrm>
            <a:off x="9729216" y="5600700"/>
            <a:ext cx="1719072" cy="153670"/>
          </a:xfrm>
          <a:prstGeom prst="rect">
            <a:avLst/>
          </a:prstGeom>
          <a:noFill/>
          <a:ln/>
        </p:spPr>
        <p:txBody>
          <a:bodyPr wrap="square" lIns="0" tIns="0" rIns="0" bIns="0" rtlCol="0" anchor="t"/>
          <a:lstStyle/>
          <a:p>
            <a:pPr algn="ctr" indent="0" marL="0">
              <a:buNone/>
            </a:pPr>
            <a:r>
              <a:rPr lang="en-US" sz="1000" b="1" dirty="0">
                <a:solidFill>
                  <a:srgbClr val="166C5C"/>
                </a:solidFill>
                <a:latin typeface="DejaVu Sans" pitchFamily="34" charset="0"/>
                <a:ea typeface="DejaVu Sans" pitchFamily="34" charset="-122"/>
                <a:cs typeface="DejaVu Sans" pitchFamily="34" charset="-120"/>
              </a:rPr>
              <a:t>2 UI TESTS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548640" y="338328"/>
            <a:ext cx="10332720" cy="153670"/>
          </a:xfrm>
          <a:prstGeom prst="rect">
            <a:avLst/>
          </a:prstGeom>
          <a:noFill/>
          <a:ln/>
        </p:spPr>
        <p:txBody>
          <a:bodyPr wrap="square" lIns="0" tIns="0" rIns="0" bIns="0" rtlCol="0" anchor="t"/>
          <a:lstStyle/>
          <a:p>
            <a:pPr algn="l" indent="0" marL="0">
              <a:buNone/>
            </a:pPr>
            <a:r>
              <a:rPr lang="en-US" sz="1000" b="1" dirty="0">
                <a:solidFill>
                  <a:srgbClr val="087F80"/>
                </a:solidFill>
                <a:latin typeface="DejaVu Sans" pitchFamily="34" charset="0"/>
                <a:ea typeface="DejaVu Sans" pitchFamily="34" charset="-122"/>
                <a:cs typeface="DejaVu Sans" pitchFamily="34" charset="-120"/>
              </a:rPr>
              <a:t>THE CONNECTED PRODUCT</a:t>
            </a:r>
            <a:endParaRPr lang="en-US" sz="1000" dirty="0"/>
          </a:p>
        </p:txBody>
      </p:sp>
      <p:sp>
        <p:nvSpPr>
          <p:cNvPr id="3" name="Text 1"/>
          <p:cNvSpPr/>
          <p:nvPr/>
        </p:nvSpPr>
        <p:spPr>
          <a:xfrm>
            <a:off x="548640" y="758952"/>
            <a:ext cx="11064240" cy="445643"/>
          </a:xfrm>
          <a:prstGeom prst="rect">
            <a:avLst/>
          </a:prstGeom>
          <a:noFill/>
          <a:ln/>
        </p:spPr>
        <p:txBody>
          <a:bodyPr wrap="square" lIns="0" tIns="0" rIns="0" bIns="0" rtlCol="0" anchor="t"/>
          <a:lstStyle/>
          <a:p>
            <a:pPr algn="l" indent="0" marL="0">
              <a:buNone/>
            </a:pPr>
            <a:r>
              <a:rPr lang="en-US" sz="2900" b="1" dirty="0">
                <a:solidFill>
                  <a:srgbClr val="182B42"/>
                </a:solidFill>
                <a:latin typeface="DejaVu Sans" pitchFamily="34" charset="0"/>
                <a:ea typeface="DejaVu Sans" pitchFamily="34" charset="-122"/>
                <a:cs typeface="DejaVu Sans" pitchFamily="34" charset="-120"/>
              </a:rPr>
              <a:t>Every decision leaves visible evidence.</a:t>
            </a:r>
            <a:endParaRPr lang="en-US" sz="2900" dirty="0"/>
          </a:p>
        </p:txBody>
      </p:sp>
      <p:sp>
        <p:nvSpPr>
          <p:cNvPr id="4" name="Shape 2"/>
          <p:cNvSpPr/>
          <p:nvPr/>
        </p:nvSpPr>
        <p:spPr>
          <a:xfrm>
            <a:off x="548640" y="6345936"/>
            <a:ext cx="11091672" cy="0"/>
          </a:xfrm>
          <a:prstGeom prst="line">
            <a:avLst/>
          </a:prstGeom>
          <a:noFill/>
          <a:ln w="10160">
            <a:solidFill>
              <a:srgbClr val="DCE5EC"/>
            </a:solidFill>
            <a:prstDash val="solid"/>
          </a:ln>
        </p:spPr>
      </p:sp>
      <p:sp>
        <p:nvSpPr>
          <p:cNvPr id="5" name="Text 3"/>
          <p:cNvSpPr/>
          <p:nvPr/>
        </p:nvSpPr>
        <p:spPr>
          <a:xfrm>
            <a:off x="548640" y="6455664"/>
            <a:ext cx="9966960" cy="122936"/>
          </a:xfrm>
          <a:prstGeom prst="rect">
            <a:avLst/>
          </a:prstGeom>
          <a:noFill/>
          <a:ln/>
        </p:spPr>
        <p:txBody>
          <a:bodyPr wrap="square" lIns="0" tIns="0" rIns="0" bIns="0" rtlCol="0" anchor="t"/>
          <a:lstStyle/>
          <a:p>
            <a:pPr algn="l" indent="0" marL="0">
              <a:buNone/>
            </a:pPr>
            <a:r>
              <a:rPr lang="en-US" sz="800" dirty="0">
                <a:solidFill>
                  <a:srgbClr val="617487"/>
                </a:solidFill>
                <a:latin typeface="DejaVu Sans" pitchFamily="34" charset="0"/>
                <a:ea typeface="DejaVu Sans" pitchFamily="34" charset="-122"/>
                <a:cs typeface="DejaVu Sans" pitchFamily="34" charset="-120"/>
              </a:rPr>
              <a:t>Actual screenshot: docs/screenshots/workflow-live-gemini.png • Completed Gemini/Atlas task</a:t>
            </a:r>
            <a:endParaRPr lang="en-US" sz="800" dirty="0"/>
          </a:p>
        </p:txBody>
      </p:sp>
      <p:sp>
        <p:nvSpPr>
          <p:cNvPr id="6" name="Text 4"/>
          <p:cNvSpPr/>
          <p:nvPr/>
        </p:nvSpPr>
        <p:spPr>
          <a:xfrm>
            <a:off x="10287000" y="6428232"/>
            <a:ext cx="1353312" cy="138303"/>
          </a:xfrm>
          <a:prstGeom prst="rect">
            <a:avLst/>
          </a:prstGeom>
          <a:noFill/>
          <a:ln/>
        </p:spPr>
        <p:txBody>
          <a:bodyPr wrap="square" lIns="0" tIns="0" rIns="0" bIns="0" rtlCol="0" anchor="t"/>
          <a:lstStyle/>
          <a:p>
            <a:pPr algn="r" indent="0" marL="0">
              <a:buNone/>
            </a:pPr>
            <a:r>
              <a:rPr lang="en-US" sz="900" dirty="0">
                <a:solidFill>
                  <a:srgbClr val="617487"/>
                </a:solidFill>
                <a:latin typeface="DejaVu Sans" pitchFamily="34" charset="0"/>
                <a:ea typeface="DejaVu Sans" pitchFamily="34" charset="-122"/>
                <a:cs typeface="DejaVu Sans" pitchFamily="34" charset="-120"/>
              </a:rPr>
              <a:t>10 / 15</a:t>
            </a:r>
            <a:endParaRPr lang="en-US" sz="900" dirty="0"/>
          </a:p>
        </p:txBody>
      </p:sp>
      <p:sp>
        <p:nvSpPr>
          <p:cNvPr id="7" name="Shape 5"/>
          <p:cNvSpPr/>
          <p:nvPr/>
        </p:nvSpPr>
        <p:spPr>
          <a:xfrm>
            <a:off x="539496" y="1673352"/>
            <a:ext cx="7836408" cy="4345400"/>
          </a:xfrm>
          <a:prstGeom prst="rect">
            <a:avLst/>
          </a:prstGeom>
          <a:solidFill>
            <a:srgbClr val="FFFFFF"/>
          </a:solidFill>
          <a:ln w="8890">
            <a:solidFill>
              <a:srgbClr val="DCE5EC"/>
            </a:solidFill>
            <a:prstDash val="solid"/>
          </a:ln>
        </p:spPr>
      </p:sp>
      <p:pic>
        <p:nvPicPr>
          <p:cNvPr id="8" name="Image 0" descr="/home/sanke/stockpilot/docs/presentation/assets/workflow_focus.png">    </p:cNvPr>
          <p:cNvPicPr>
            <a:picLocks noChangeAspect="1"/>
          </p:cNvPicPr>
          <p:nvPr/>
        </p:nvPicPr>
        <p:blipFill>
          <a:blip r:embed="rId1"/>
          <a:stretch>
            <a:fillRect/>
          </a:stretch>
        </p:blipFill>
        <p:spPr>
          <a:xfrm>
            <a:off x="548640" y="1682496"/>
            <a:ext cx="7818120" cy="4327112"/>
          </a:xfrm>
          <a:prstGeom prst="rect">
            <a:avLst/>
          </a:prstGeom>
        </p:spPr>
      </p:pic>
      <p:sp>
        <p:nvSpPr>
          <p:cNvPr id="9" name="Shape 6"/>
          <p:cNvSpPr/>
          <p:nvPr/>
        </p:nvSpPr>
        <p:spPr>
          <a:xfrm>
            <a:off x="8613648" y="1682496"/>
            <a:ext cx="3035808" cy="1325880"/>
          </a:xfrm>
          <a:prstGeom prst="rect">
            <a:avLst/>
          </a:prstGeom>
          <a:solidFill>
            <a:srgbClr val="FFFFFF"/>
          </a:solidFill>
          <a:ln w="8890">
            <a:solidFill>
              <a:srgbClr val="DCE5EC"/>
            </a:solidFill>
            <a:prstDash val="solid"/>
          </a:ln>
        </p:spPr>
      </p:sp>
      <p:sp>
        <p:nvSpPr>
          <p:cNvPr id="10" name="Shape 7"/>
          <p:cNvSpPr/>
          <p:nvPr/>
        </p:nvSpPr>
        <p:spPr>
          <a:xfrm>
            <a:off x="8613648" y="1682496"/>
            <a:ext cx="41148" cy="1325880"/>
          </a:xfrm>
          <a:prstGeom prst="rect">
            <a:avLst/>
          </a:prstGeom>
          <a:solidFill>
            <a:srgbClr val="087F80"/>
          </a:solidFill>
          <a:ln w="12700">
            <a:solidFill>
              <a:srgbClr val="087F80"/>
            </a:solidFill>
            <a:prstDash val="solid"/>
          </a:ln>
        </p:spPr>
      </p:sp>
      <p:sp>
        <p:nvSpPr>
          <p:cNvPr id="11" name="Text 8"/>
          <p:cNvSpPr/>
          <p:nvPr/>
        </p:nvSpPr>
        <p:spPr>
          <a:xfrm>
            <a:off x="8814816" y="1865376"/>
            <a:ext cx="2633472" cy="261239"/>
          </a:xfrm>
          <a:prstGeom prst="rect">
            <a:avLst/>
          </a:prstGeom>
          <a:noFill/>
          <a:ln/>
        </p:spPr>
        <p:txBody>
          <a:bodyPr wrap="square" lIns="0" tIns="0" rIns="0" bIns="0" rtlCol="0" anchor="t"/>
          <a:lstStyle/>
          <a:p>
            <a:pPr algn="l" indent="0" marL="0">
              <a:buNone/>
            </a:pPr>
            <a:r>
              <a:rPr lang="en-US" sz="1700" b="1" dirty="0">
                <a:solidFill>
                  <a:srgbClr val="182B42"/>
                </a:solidFill>
                <a:latin typeface="DejaVu Sans" pitchFamily="34" charset="0"/>
                <a:ea typeface="DejaVu Sans" pitchFamily="34" charset="-122"/>
                <a:cs typeface="DejaVu Sans" pitchFamily="34" charset="-120"/>
              </a:rPr>
              <a:t>Plans + history</a:t>
            </a:r>
            <a:endParaRPr lang="en-US" sz="1700" dirty="0"/>
          </a:p>
        </p:txBody>
      </p:sp>
      <p:sp>
        <p:nvSpPr>
          <p:cNvPr id="12" name="Text 9"/>
          <p:cNvSpPr/>
          <p:nvPr/>
        </p:nvSpPr>
        <p:spPr>
          <a:xfrm>
            <a:off x="8814816" y="2551176"/>
            <a:ext cx="2633472" cy="199771"/>
          </a:xfrm>
          <a:prstGeom prst="rect">
            <a:avLst/>
          </a:prstGeom>
          <a:noFill/>
          <a:ln/>
        </p:spPr>
        <p:txBody>
          <a:bodyPr wrap="square" lIns="0" tIns="0" rIns="0" bIns="0" rtlCol="0" anchor="t"/>
          <a:lstStyle/>
          <a:p>
            <a:pPr algn="l" indent="0" marL="0">
              <a:buNone/>
            </a:pPr>
            <a:r>
              <a:rPr lang="en-US" sz="1300" dirty="0">
                <a:solidFill>
                  <a:srgbClr val="617487"/>
                </a:solidFill>
                <a:latin typeface="DejaVu Sans" pitchFamily="34" charset="0"/>
                <a:ea typeface="DejaVu Sans" pitchFamily="34" charset="-122"/>
                <a:cs typeface="DejaVu Sans" pitchFamily="34" charset="-120"/>
              </a:rPr>
              <a:t>Inspect revisions and handoffs.</a:t>
            </a:r>
            <a:endParaRPr lang="en-US" sz="1300" dirty="0"/>
          </a:p>
        </p:txBody>
      </p:sp>
      <p:sp>
        <p:nvSpPr>
          <p:cNvPr id="13" name="Shape 10"/>
          <p:cNvSpPr/>
          <p:nvPr/>
        </p:nvSpPr>
        <p:spPr>
          <a:xfrm>
            <a:off x="8613648" y="3236976"/>
            <a:ext cx="3035808" cy="1325880"/>
          </a:xfrm>
          <a:prstGeom prst="rect">
            <a:avLst/>
          </a:prstGeom>
          <a:solidFill>
            <a:srgbClr val="FFFFFF"/>
          </a:solidFill>
          <a:ln w="8890">
            <a:solidFill>
              <a:srgbClr val="DCE5EC"/>
            </a:solidFill>
            <a:prstDash val="solid"/>
          </a:ln>
        </p:spPr>
      </p:sp>
      <p:sp>
        <p:nvSpPr>
          <p:cNvPr id="14" name="Shape 11"/>
          <p:cNvSpPr/>
          <p:nvPr/>
        </p:nvSpPr>
        <p:spPr>
          <a:xfrm>
            <a:off x="8613648" y="3236976"/>
            <a:ext cx="41148" cy="1325880"/>
          </a:xfrm>
          <a:prstGeom prst="rect">
            <a:avLst/>
          </a:prstGeom>
          <a:solidFill>
            <a:srgbClr val="087F80"/>
          </a:solidFill>
          <a:ln w="12700">
            <a:solidFill>
              <a:srgbClr val="087F80"/>
            </a:solidFill>
            <a:prstDash val="solid"/>
          </a:ln>
        </p:spPr>
      </p:sp>
      <p:sp>
        <p:nvSpPr>
          <p:cNvPr id="15" name="Text 12"/>
          <p:cNvSpPr/>
          <p:nvPr/>
        </p:nvSpPr>
        <p:spPr>
          <a:xfrm>
            <a:off x="8814816" y="3419856"/>
            <a:ext cx="2633472" cy="245872"/>
          </a:xfrm>
          <a:prstGeom prst="rect">
            <a:avLst/>
          </a:prstGeom>
          <a:noFill/>
          <a:ln/>
        </p:spPr>
        <p:txBody>
          <a:bodyPr wrap="square" lIns="0" tIns="0" rIns="0" bIns="0" rtlCol="0" anchor="t"/>
          <a:lstStyle/>
          <a:p>
            <a:pPr algn="l" indent="0" marL="0">
              <a:buNone/>
            </a:pPr>
            <a:r>
              <a:rPr lang="en-US" sz="1600" b="1" dirty="0">
                <a:solidFill>
                  <a:srgbClr val="182B42"/>
                </a:solidFill>
                <a:latin typeface="DejaVu Sans" pitchFamily="34" charset="0"/>
                <a:ea typeface="DejaVu Sans" pitchFamily="34" charset="-122"/>
                <a:cs typeface="DejaVu Sans" pitchFamily="34" charset="-120"/>
              </a:rPr>
              <a:t>Actions + approvals</a:t>
            </a:r>
            <a:endParaRPr lang="en-US" sz="1600" dirty="0"/>
          </a:p>
        </p:txBody>
      </p:sp>
      <p:sp>
        <p:nvSpPr>
          <p:cNvPr id="16" name="Text 13"/>
          <p:cNvSpPr/>
          <p:nvPr/>
        </p:nvSpPr>
        <p:spPr>
          <a:xfrm>
            <a:off x="8814816" y="4105656"/>
            <a:ext cx="2633472" cy="199771"/>
          </a:xfrm>
          <a:prstGeom prst="rect">
            <a:avLst/>
          </a:prstGeom>
          <a:noFill/>
          <a:ln/>
        </p:spPr>
        <p:txBody>
          <a:bodyPr wrap="square" lIns="0" tIns="0" rIns="0" bIns="0" rtlCol="0" anchor="t"/>
          <a:lstStyle/>
          <a:p>
            <a:pPr algn="l" indent="0" marL="0">
              <a:buNone/>
            </a:pPr>
            <a:r>
              <a:rPr lang="en-US" sz="1300" dirty="0">
                <a:solidFill>
                  <a:srgbClr val="617487"/>
                </a:solidFill>
                <a:latin typeface="DejaVu Sans" pitchFamily="34" charset="0"/>
                <a:ea typeface="DejaVu Sans" pitchFamily="34" charset="-122"/>
                <a:cs typeface="DejaVu Sans" pitchFamily="34" charset="-120"/>
              </a:rPr>
              <a:t>See exact inputs and results.</a:t>
            </a:r>
            <a:endParaRPr lang="en-US" sz="1300" dirty="0"/>
          </a:p>
        </p:txBody>
      </p:sp>
      <p:sp>
        <p:nvSpPr>
          <p:cNvPr id="17" name="Shape 14"/>
          <p:cNvSpPr/>
          <p:nvPr/>
        </p:nvSpPr>
        <p:spPr>
          <a:xfrm>
            <a:off x="8613648" y="4791456"/>
            <a:ext cx="3035808" cy="1325880"/>
          </a:xfrm>
          <a:prstGeom prst="rect">
            <a:avLst/>
          </a:prstGeom>
          <a:solidFill>
            <a:srgbClr val="FFFFFF"/>
          </a:solidFill>
          <a:ln w="8890">
            <a:solidFill>
              <a:srgbClr val="DCE5EC"/>
            </a:solidFill>
            <a:prstDash val="solid"/>
          </a:ln>
        </p:spPr>
      </p:sp>
      <p:sp>
        <p:nvSpPr>
          <p:cNvPr id="18" name="Shape 15"/>
          <p:cNvSpPr/>
          <p:nvPr/>
        </p:nvSpPr>
        <p:spPr>
          <a:xfrm>
            <a:off x="8613648" y="4791456"/>
            <a:ext cx="41148" cy="1325880"/>
          </a:xfrm>
          <a:prstGeom prst="rect">
            <a:avLst/>
          </a:prstGeom>
          <a:solidFill>
            <a:srgbClr val="087F80"/>
          </a:solidFill>
          <a:ln w="12700">
            <a:solidFill>
              <a:srgbClr val="087F80"/>
            </a:solidFill>
            <a:prstDash val="solid"/>
          </a:ln>
        </p:spPr>
      </p:sp>
      <p:sp>
        <p:nvSpPr>
          <p:cNvPr id="19" name="Text 16"/>
          <p:cNvSpPr/>
          <p:nvPr/>
        </p:nvSpPr>
        <p:spPr>
          <a:xfrm>
            <a:off x="8814816" y="4974336"/>
            <a:ext cx="2633472" cy="261239"/>
          </a:xfrm>
          <a:prstGeom prst="rect">
            <a:avLst/>
          </a:prstGeom>
          <a:noFill/>
          <a:ln/>
        </p:spPr>
        <p:txBody>
          <a:bodyPr wrap="square" lIns="0" tIns="0" rIns="0" bIns="0" rtlCol="0" anchor="t"/>
          <a:lstStyle/>
          <a:p>
            <a:pPr algn="l" indent="0" marL="0">
              <a:buNone/>
            </a:pPr>
            <a:r>
              <a:rPr lang="en-US" sz="1700" b="1" dirty="0">
                <a:solidFill>
                  <a:srgbClr val="182B42"/>
                </a:solidFill>
                <a:latin typeface="DejaVu Sans" pitchFamily="34" charset="0"/>
                <a:ea typeface="DejaVu Sans" pitchFamily="34" charset="-122"/>
                <a:cs typeface="DejaVu Sans" pitchFamily="34" charset="-120"/>
              </a:rPr>
              <a:t>Audit + exports</a:t>
            </a:r>
            <a:endParaRPr lang="en-US" sz="1700" dirty="0"/>
          </a:p>
        </p:txBody>
      </p:sp>
      <p:sp>
        <p:nvSpPr>
          <p:cNvPr id="20" name="Text 17"/>
          <p:cNvSpPr/>
          <p:nvPr/>
        </p:nvSpPr>
        <p:spPr>
          <a:xfrm>
            <a:off x="8814816" y="5660136"/>
            <a:ext cx="2633472" cy="199771"/>
          </a:xfrm>
          <a:prstGeom prst="rect">
            <a:avLst/>
          </a:prstGeom>
          <a:noFill/>
          <a:ln/>
        </p:spPr>
        <p:txBody>
          <a:bodyPr wrap="square" lIns="0" tIns="0" rIns="0" bIns="0" rtlCol="0" anchor="t"/>
          <a:lstStyle/>
          <a:p>
            <a:pPr algn="l" indent="0" marL="0">
              <a:buNone/>
            </a:pPr>
            <a:r>
              <a:rPr lang="en-US" sz="1300" dirty="0">
                <a:solidFill>
                  <a:srgbClr val="617487"/>
                </a:solidFill>
                <a:latin typeface="DejaVu Sans" pitchFamily="34" charset="0"/>
                <a:ea typeface="DejaVu Sans" pitchFamily="34" charset="-122"/>
                <a:cs typeface="DejaVu Sans" pitchFamily="34" charset="-120"/>
              </a:rPr>
              <a:t>Trace and export the outcome.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548640" y="338328"/>
            <a:ext cx="10332720" cy="153670"/>
          </a:xfrm>
          <a:prstGeom prst="rect">
            <a:avLst/>
          </a:prstGeom>
          <a:noFill/>
          <a:ln/>
        </p:spPr>
        <p:txBody>
          <a:bodyPr wrap="square" lIns="0" tIns="0" rIns="0" bIns="0" rtlCol="0" anchor="t"/>
          <a:lstStyle/>
          <a:p>
            <a:pPr algn="l" indent="0" marL="0">
              <a:buNone/>
            </a:pPr>
            <a:r>
              <a:rPr lang="en-US" sz="1000" b="1" dirty="0">
                <a:solidFill>
                  <a:srgbClr val="087F80"/>
                </a:solidFill>
                <a:latin typeface="DejaVu Sans" pitchFamily="34" charset="0"/>
                <a:ea typeface="DejaVu Sans" pitchFamily="34" charset="-122"/>
                <a:cs typeface="DejaVu Sans" pitchFamily="34" charset="-120"/>
              </a:rPr>
              <a:t>BUSINESS VALUE + NEXT STEPS</a:t>
            </a:r>
            <a:endParaRPr lang="en-US" sz="1000" dirty="0"/>
          </a:p>
        </p:txBody>
      </p:sp>
      <p:sp>
        <p:nvSpPr>
          <p:cNvPr id="3" name="Text 1"/>
          <p:cNvSpPr/>
          <p:nvPr/>
        </p:nvSpPr>
        <p:spPr>
          <a:xfrm>
            <a:off x="548640" y="758952"/>
            <a:ext cx="11064240" cy="445643"/>
          </a:xfrm>
          <a:prstGeom prst="rect">
            <a:avLst/>
          </a:prstGeom>
          <a:noFill/>
          <a:ln/>
        </p:spPr>
        <p:txBody>
          <a:bodyPr wrap="square" lIns="0" tIns="0" rIns="0" bIns="0" rtlCol="0" anchor="t"/>
          <a:lstStyle/>
          <a:p>
            <a:pPr algn="l" indent="0" marL="0">
              <a:buNone/>
            </a:pPr>
            <a:r>
              <a:rPr lang="en-US" sz="2900" b="1" dirty="0">
                <a:solidFill>
                  <a:srgbClr val="182B42"/>
                </a:solidFill>
                <a:latin typeface="DejaVu Sans" pitchFamily="34" charset="0"/>
                <a:ea typeface="DejaVu Sans" pitchFamily="34" charset="-122"/>
                <a:cs typeface="DejaVu Sans" pitchFamily="34" charset="-120"/>
              </a:rPr>
              <a:t>Less coordination. More accountability.</a:t>
            </a:r>
            <a:endParaRPr lang="en-US" sz="2900" dirty="0"/>
          </a:p>
        </p:txBody>
      </p:sp>
      <p:sp>
        <p:nvSpPr>
          <p:cNvPr id="4" name="Shape 2"/>
          <p:cNvSpPr/>
          <p:nvPr/>
        </p:nvSpPr>
        <p:spPr>
          <a:xfrm>
            <a:off x="548640" y="6345936"/>
            <a:ext cx="11091672" cy="0"/>
          </a:xfrm>
          <a:prstGeom prst="line">
            <a:avLst/>
          </a:prstGeom>
          <a:noFill/>
          <a:ln w="10160">
            <a:solidFill>
              <a:srgbClr val="DCE5EC"/>
            </a:solidFill>
            <a:prstDash val="solid"/>
          </a:ln>
        </p:spPr>
      </p:sp>
      <p:sp>
        <p:nvSpPr>
          <p:cNvPr id="5" name="Text 3"/>
          <p:cNvSpPr/>
          <p:nvPr/>
        </p:nvSpPr>
        <p:spPr>
          <a:xfrm>
            <a:off x="548640" y="6455664"/>
            <a:ext cx="9966960" cy="122936"/>
          </a:xfrm>
          <a:prstGeom prst="rect">
            <a:avLst/>
          </a:prstGeom>
          <a:noFill/>
          <a:ln/>
        </p:spPr>
        <p:txBody>
          <a:bodyPr wrap="square" lIns="0" tIns="0" rIns="0" bIns="0" rtlCol="0" anchor="t"/>
          <a:lstStyle/>
          <a:p>
            <a:pPr algn="l" indent="0" marL="0">
              <a:buNone/>
            </a:pPr>
            <a:r>
              <a:rPr lang="en-US" sz="800" dirty="0">
                <a:solidFill>
                  <a:srgbClr val="617487"/>
                </a:solidFill>
                <a:latin typeface="DejaVu Sans" pitchFamily="34" charset="0"/>
                <a:ea typeface="DejaVu Sans" pitchFamily="34" charset="-122"/>
                <a:cs typeface="DejaVu Sans" pitchFamily="34" charset="-120"/>
              </a:rPr>
              <a:t>StockPilot • Hackathon pitch</a:t>
            </a:r>
            <a:endParaRPr lang="en-US" sz="800" dirty="0"/>
          </a:p>
        </p:txBody>
      </p:sp>
      <p:sp>
        <p:nvSpPr>
          <p:cNvPr id="6" name="Text 4"/>
          <p:cNvSpPr/>
          <p:nvPr/>
        </p:nvSpPr>
        <p:spPr>
          <a:xfrm>
            <a:off x="10287000" y="6428232"/>
            <a:ext cx="1353312" cy="138303"/>
          </a:xfrm>
          <a:prstGeom prst="rect">
            <a:avLst/>
          </a:prstGeom>
          <a:noFill/>
          <a:ln/>
        </p:spPr>
        <p:txBody>
          <a:bodyPr wrap="square" lIns="0" tIns="0" rIns="0" bIns="0" rtlCol="0" anchor="t"/>
          <a:lstStyle/>
          <a:p>
            <a:pPr algn="r" indent="0" marL="0">
              <a:buNone/>
            </a:pPr>
            <a:r>
              <a:rPr lang="en-US" sz="900" dirty="0">
                <a:solidFill>
                  <a:srgbClr val="617487"/>
                </a:solidFill>
                <a:latin typeface="DejaVu Sans" pitchFamily="34" charset="0"/>
                <a:ea typeface="DejaVu Sans" pitchFamily="34" charset="-122"/>
                <a:cs typeface="DejaVu Sans" pitchFamily="34" charset="-120"/>
              </a:rPr>
              <a:t>11 / 15</a:t>
            </a:r>
            <a:endParaRPr lang="en-US" sz="900" dirty="0"/>
          </a:p>
        </p:txBody>
      </p:sp>
      <p:sp>
        <p:nvSpPr>
          <p:cNvPr id="7" name="Shape 5"/>
          <p:cNvSpPr/>
          <p:nvPr/>
        </p:nvSpPr>
        <p:spPr>
          <a:xfrm>
            <a:off x="548640" y="1719072"/>
            <a:ext cx="3566160" cy="2221992"/>
          </a:xfrm>
          <a:prstGeom prst="rect">
            <a:avLst/>
          </a:prstGeom>
          <a:solidFill>
            <a:srgbClr val="FFFFFF"/>
          </a:solidFill>
          <a:ln w="8890">
            <a:solidFill>
              <a:srgbClr val="DCE5EC"/>
            </a:solidFill>
            <a:prstDash val="solid"/>
          </a:ln>
        </p:spPr>
      </p:sp>
      <p:sp>
        <p:nvSpPr>
          <p:cNvPr id="8" name="Shape 6"/>
          <p:cNvSpPr/>
          <p:nvPr/>
        </p:nvSpPr>
        <p:spPr>
          <a:xfrm>
            <a:off x="548640" y="1719072"/>
            <a:ext cx="41148" cy="2221992"/>
          </a:xfrm>
          <a:prstGeom prst="rect">
            <a:avLst/>
          </a:prstGeom>
          <a:solidFill>
            <a:srgbClr val="087F80"/>
          </a:solidFill>
          <a:ln w="12700">
            <a:solidFill>
              <a:srgbClr val="087F80"/>
            </a:solidFill>
            <a:prstDash val="solid"/>
          </a:ln>
        </p:spPr>
      </p:sp>
      <p:sp>
        <p:nvSpPr>
          <p:cNvPr id="9" name="Text 7"/>
          <p:cNvSpPr/>
          <p:nvPr/>
        </p:nvSpPr>
        <p:spPr>
          <a:xfrm>
            <a:off x="749808" y="1901952"/>
            <a:ext cx="3163824" cy="276606"/>
          </a:xfrm>
          <a:prstGeom prst="rect">
            <a:avLst/>
          </a:prstGeom>
          <a:noFill/>
          <a:ln/>
        </p:spPr>
        <p:txBody>
          <a:bodyPr wrap="square" lIns="0" tIns="0" rIns="0" bIns="0" rtlCol="0" anchor="t"/>
          <a:lstStyle/>
          <a:p>
            <a:pPr algn="l" indent="0" marL="0">
              <a:buNone/>
            </a:pPr>
            <a:r>
              <a:rPr lang="en-US" sz="1800" b="1" dirty="0">
                <a:solidFill>
                  <a:srgbClr val="182B42"/>
                </a:solidFill>
                <a:latin typeface="DejaVu Sans" pitchFamily="34" charset="0"/>
                <a:ea typeface="DejaVu Sans" pitchFamily="34" charset="-122"/>
                <a:cs typeface="DejaVu Sans" pitchFamily="34" charset="-120"/>
              </a:rPr>
              <a:t>Operations</a:t>
            </a:r>
            <a:endParaRPr lang="en-US" sz="1800" dirty="0"/>
          </a:p>
        </p:txBody>
      </p:sp>
      <p:sp>
        <p:nvSpPr>
          <p:cNvPr id="10" name="Text 8"/>
          <p:cNvSpPr/>
          <p:nvPr/>
        </p:nvSpPr>
        <p:spPr>
          <a:xfrm>
            <a:off x="749808" y="2587752"/>
            <a:ext cx="3163824" cy="276606"/>
          </a:xfrm>
          <a:prstGeom prst="rect">
            <a:avLst/>
          </a:prstGeom>
          <a:noFill/>
          <a:ln/>
        </p:spPr>
        <p:txBody>
          <a:bodyPr wrap="square" lIns="0" tIns="0" rIns="0" bIns="0" rtlCol="0" anchor="t"/>
          <a:lstStyle/>
          <a:p>
            <a:pPr algn="l" indent="0" marL="0">
              <a:buNone/>
            </a:pPr>
            <a:r>
              <a:rPr lang="en-US" sz="1800" dirty="0">
                <a:solidFill>
                  <a:srgbClr val="617487"/>
                </a:solidFill>
                <a:latin typeface="DejaVu Sans" pitchFamily="34" charset="0"/>
                <a:ea typeface="DejaVu Sans" pitchFamily="34" charset="-122"/>
                <a:cs typeface="DejaVu Sans" pitchFamily="34" charset="-120"/>
              </a:rPr>
              <a:t>Coordinate stock, quotes</a:t>
            </a:r>
            <a:endParaRPr lang="en-US" sz="1800" dirty="0"/>
          </a:p>
        </p:txBody>
      </p:sp>
      <p:sp>
        <p:nvSpPr>
          <p:cNvPr id="11" name="Text 9"/>
          <p:cNvSpPr/>
          <p:nvPr/>
        </p:nvSpPr>
        <p:spPr>
          <a:xfrm>
            <a:off x="749808" y="2866644"/>
            <a:ext cx="3163824" cy="276606"/>
          </a:xfrm>
          <a:prstGeom prst="rect">
            <a:avLst/>
          </a:prstGeom>
          <a:noFill/>
          <a:ln/>
        </p:spPr>
        <p:txBody>
          <a:bodyPr wrap="square" lIns="0" tIns="0" rIns="0" bIns="0" rtlCol="0" anchor="t"/>
          <a:lstStyle/>
          <a:p>
            <a:pPr algn="l" indent="0" marL="0">
              <a:buNone/>
            </a:pPr>
            <a:r>
              <a:rPr lang="en-US" sz="1800" dirty="0">
                <a:solidFill>
                  <a:srgbClr val="617487"/>
                </a:solidFill>
                <a:latin typeface="DejaVu Sans" pitchFamily="34" charset="0"/>
                <a:ea typeface="DejaVu Sans" pitchFamily="34" charset="-122"/>
                <a:cs typeface="DejaVu Sans" pitchFamily="34" charset="-120"/>
              </a:rPr>
              <a:t>and allocation in one live</a:t>
            </a:r>
            <a:endParaRPr lang="en-US" sz="1800" dirty="0"/>
          </a:p>
        </p:txBody>
      </p:sp>
      <p:sp>
        <p:nvSpPr>
          <p:cNvPr id="12" name="Text 10"/>
          <p:cNvSpPr/>
          <p:nvPr/>
        </p:nvSpPr>
        <p:spPr>
          <a:xfrm>
            <a:off x="749808" y="3145536"/>
            <a:ext cx="3163824" cy="276606"/>
          </a:xfrm>
          <a:prstGeom prst="rect">
            <a:avLst/>
          </a:prstGeom>
          <a:noFill/>
          <a:ln/>
        </p:spPr>
        <p:txBody>
          <a:bodyPr wrap="square" lIns="0" tIns="0" rIns="0" bIns="0" rtlCol="0" anchor="t"/>
          <a:lstStyle/>
          <a:p>
            <a:pPr algn="l" indent="0" marL="0">
              <a:buNone/>
            </a:pPr>
            <a:r>
              <a:rPr lang="en-US" sz="1800" dirty="0">
                <a:solidFill>
                  <a:srgbClr val="617487"/>
                </a:solidFill>
                <a:latin typeface="DejaVu Sans" pitchFamily="34" charset="0"/>
                <a:ea typeface="DejaVu Sans" pitchFamily="34" charset="-122"/>
                <a:cs typeface="DejaVu Sans" pitchFamily="34" charset="-120"/>
              </a:rPr>
              <a:t>workflow.</a:t>
            </a:r>
            <a:endParaRPr lang="en-US" sz="1800" dirty="0"/>
          </a:p>
        </p:txBody>
      </p:sp>
      <p:sp>
        <p:nvSpPr>
          <p:cNvPr id="13" name="Shape 11"/>
          <p:cNvSpPr/>
          <p:nvPr/>
        </p:nvSpPr>
        <p:spPr>
          <a:xfrm>
            <a:off x="4315968" y="1719072"/>
            <a:ext cx="3566160" cy="2221992"/>
          </a:xfrm>
          <a:prstGeom prst="rect">
            <a:avLst/>
          </a:prstGeom>
          <a:solidFill>
            <a:srgbClr val="FFFFFF"/>
          </a:solidFill>
          <a:ln w="8890">
            <a:solidFill>
              <a:srgbClr val="DCE5EC"/>
            </a:solidFill>
            <a:prstDash val="solid"/>
          </a:ln>
        </p:spPr>
      </p:sp>
      <p:sp>
        <p:nvSpPr>
          <p:cNvPr id="14" name="Shape 12"/>
          <p:cNvSpPr/>
          <p:nvPr/>
        </p:nvSpPr>
        <p:spPr>
          <a:xfrm>
            <a:off x="4315968" y="1719072"/>
            <a:ext cx="41148" cy="2221992"/>
          </a:xfrm>
          <a:prstGeom prst="rect">
            <a:avLst/>
          </a:prstGeom>
          <a:solidFill>
            <a:srgbClr val="F2AD65"/>
          </a:solidFill>
          <a:ln w="12700">
            <a:solidFill>
              <a:srgbClr val="F2AD65"/>
            </a:solidFill>
            <a:prstDash val="solid"/>
          </a:ln>
        </p:spPr>
      </p:sp>
      <p:sp>
        <p:nvSpPr>
          <p:cNvPr id="15" name="Text 13"/>
          <p:cNvSpPr/>
          <p:nvPr/>
        </p:nvSpPr>
        <p:spPr>
          <a:xfrm>
            <a:off x="4517136" y="1901952"/>
            <a:ext cx="3163824" cy="276606"/>
          </a:xfrm>
          <a:prstGeom prst="rect">
            <a:avLst/>
          </a:prstGeom>
          <a:noFill/>
          <a:ln/>
        </p:spPr>
        <p:txBody>
          <a:bodyPr wrap="square" lIns="0" tIns="0" rIns="0" bIns="0" rtlCol="0" anchor="t"/>
          <a:lstStyle/>
          <a:p>
            <a:pPr algn="l" indent="0" marL="0">
              <a:buNone/>
            </a:pPr>
            <a:r>
              <a:rPr lang="en-US" sz="1800" b="1" dirty="0">
                <a:solidFill>
                  <a:srgbClr val="182B42"/>
                </a:solidFill>
                <a:latin typeface="DejaVu Sans" pitchFamily="34" charset="0"/>
                <a:ea typeface="DejaVu Sans" pitchFamily="34" charset="-122"/>
                <a:cs typeface="DejaVu Sans" pitchFamily="34" charset="-120"/>
              </a:rPr>
              <a:t>Purchasing</a:t>
            </a:r>
            <a:endParaRPr lang="en-US" sz="1800" dirty="0"/>
          </a:p>
        </p:txBody>
      </p:sp>
      <p:sp>
        <p:nvSpPr>
          <p:cNvPr id="16" name="Text 14"/>
          <p:cNvSpPr/>
          <p:nvPr/>
        </p:nvSpPr>
        <p:spPr>
          <a:xfrm>
            <a:off x="4517136" y="2587752"/>
            <a:ext cx="3163824" cy="276606"/>
          </a:xfrm>
          <a:prstGeom prst="rect">
            <a:avLst/>
          </a:prstGeom>
          <a:noFill/>
          <a:ln/>
        </p:spPr>
        <p:txBody>
          <a:bodyPr wrap="square" lIns="0" tIns="0" rIns="0" bIns="0" rtlCol="0" anchor="t"/>
          <a:lstStyle/>
          <a:p>
            <a:pPr algn="l" indent="0" marL="0">
              <a:buNone/>
            </a:pPr>
            <a:r>
              <a:rPr lang="en-US" sz="1800" dirty="0">
                <a:solidFill>
                  <a:srgbClr val="617487"/>
                </a:solidFill>
                <a:latin typeface="DejaVu Sans" pitchFamily="34" charset="0"/>
                <a:ea typeface="DejaVu Sans" pitchFamily="34" charset="-122"/>
                <a:cs typeface="DejaVu Sans" pitchFamily="34" charset="-120"/>
              </a:rPr>
              <a:t>Keep high-risk</a:t>
            </a:r>
            <a:endParaRPr lang="en-US" sz="1800" dirty="0"/>
          </a:p>
        </p:txBody>
      </p:sp>
      <p:sp>
        <p:nvSpPr>
          <p:cNvPr id="17" name="Text 15"/>
          <p:cNvSpPr/>
          <p:nvPr/>
        </p:nvSpPr>
        <p:spPr>
          <a:xfrm>
            <a:off x="4517136" y="2866644"/>
            <a:ext cx="3163824" cy="276606"/>
          </a:xfrm>
          <a:prstGeom prst="rect">
            <a:avLst/>
          </a:prstGeom>
          <a:noFill/>
          <a:ln/>
        </p:spPr>
        <p:txBody>
          <a:bodyPr wrap="square" lIns="0" tIns="0" rIns="0" bIns="0" rtlCol="0" anchor="t"/>
          <a:lstStyle/>
          <a:p>
            <a:pPr algn="l" indent="0" marL="0">
              <a:buNone/>
            </a:pPr>
            <a:r>
              <a:rPr lang="en-US" sz="1800" dirty="0">
                <a:solidFill>
                  <a:srgbClr val="617487"/>
                </a:solidFill>
                <a:latin typeface="DejaVu Sans" pitchFamily="34" charset="0"/>
                <a:ea typeface="DejaVu Sans" pitchFamily="34" charset="-122"/>
                <a:cs typeface="DejaVu Sans" pitchFamily="34" charset="-120"/>
              </a:rPr>
              <a:t>commitments bound to an</a:t>
            </a:r>
            <a:endParaRPr lang="en-US" sz="1800" dirty="0"/>
          </a:p>
        </p:txBody>
      </p:sp>
      <p:sp>
        <p:nvSpPr>
          <p:cNvPr id="18" name="Text 16"/>
          <p:cNvSpPr/>
          <p:nvPr/>
        </p:nvSpPr>
        <p:spPr>
          <a:xfrm>
            <a:off x="4517136" y="3145536"/>
            <a:ext cx="3163824" cy="276606"/>
          </a:xfrm>
          <a:prstGeom prst="rect">
            <a:avLst/>
          </a:prstGeom>
          <a:noFill/>
          <a:ln/>
        </p:spPr>
        <p:txBody>
          <a:bodyPr wrap="square" lIns="0" tIns="0" rIns="0" bIns="0" rtlCol="0" anchor="t"/>
          <a:lstStyle/>
          <a:p>
            <a:pPr algn="l" indent="0" marL="0">
              <a:buNone/>
            </a:pPr>
            <a:r>
              <a:rPr lang="en-US" sz="1800" dirty="0">
                <a:solidFill>
                  <a:srgbClr val="617487"/>
                </a:solidFill>
                <a:latin typeface="DejaVu Sans" pitchFamily="34" charset="0"/>
                <a:ea typeface="DejaVu Sans" pitchFamily="34" charset="-122"/>
                <a:cs typeface="DejaVu Sans" pitchFamily="34" charset="-120"/>
              </a:rPr>
              <a:t>exact decision.</a:t>
            </a:r>
            <a:endParaRPr lang="en-US" sz="1800" dirty="0"/>
          </a:p>
        </p:txBody>
      </p:sp>
      <p:sp>
        <p:nvSpPr>
          <p:cNvPr id="19" name="Shape 17"/>
          <p:cNvSpPr/>
          <p:nvPr/>
        </p:nvSpPr>
        <p:spPr>
          <a:xfrm>
            <a:off x="8083296" y="1719072"/>
            <a:ext cx="3566160" cy="2221992"/>
          </a:xfrm>
          <a:prstGeom prst="rect">
            <a:avLst/>
          </a:prstGeom>
          <a:solidFill>
            <a:srgbClr val="FFFFFF"/>
          </a:solidFill>
          <a:ln w="8890">
            <a:solidFill>
              <a:srgbClr val="DCE5EC"/>
            </a:solidFill>
            <a:prstDash val="solid"/>
          </a:ln>
        </p:spPr>
      </p:sp>
      <p:sp>
        <p:nvSpPr>
          <p:cNvPr id="20" name="Shape 18"/>
          <p:cNvSpPr/>
          <p:nvPr/>
        </p:nvSpPr>
        <p:spPr>
          <a:xfrm>
            <a:off x="8083296" y="1719072"/>
            <a:ext cx="41148" cy="2221992"/>
          </a:xfrm>
          <a:prstGeom prst="rect">
            <a:avLst/>
          </a:prstGeom>
          <a:solidFill>
            <a:srgbClr val="166C5C"/>
          </a:solidFill>
          <a:ln w="12700">
            <a:solidFill>
              <a:srgbClr val="166C5C"/>
            </a:solidFill>
            <a:prstDash val="solid"/>
          </a:ln>
        </p:spPr>
      </p:sp>
      <p:sp>
        <p:nvSpPr>
          <p:cNvPr id="21" name="Text 19"/>
          <p:cNvSpPr/>
          <p:nvPr/>
        </p:nvSpPr>
        <p:spPr>
          <a:xfrm>
            <a:off x="8284464" y="1901952"/>
            <a:ext cx="3163824" cy="276606"/>
          </a:xfrm>
          <a:prstGeom prst="rect">
            <a:avLst/>
          </a:prstGeom>
          <a:noFill/>
          <a:ln/>
        </p:spPr>
        <p:txBody>
          <a:bodyPr wrap="square" lIns="0" tIns="0" rIns="0" bIns="0" rtlCol="0" anchor="t"/>
          <a:lstStyle/>
          <a:p>
            <a:pPr algn="l" indent="0" marL="0">
              <a:buNone/>
            </a:pPr>
            <a:r>
              <a:rPr lang="en-US" sz="1800" b="1" dirty="0">
                <a:solidFill>
                  <a:srgbClr val="182B42"/>
                </a:solidFill>
                <a:latin typeface="DejaVu Sans" pitchFamily="34" charset="0"/>
                <a:ea typeface="DejaVu Sans" pitchFamily="34" charset="-122"/>
                <a:cs typeface="DejaVu Sans" pitchFamily="34" charset="-120"/>
              </a:rPr>
              <a:t>Audit</a:t>
            </a:r>
            <a:endParaRPr lang="en-US" sz="1800" dirty="0"/>
          </a:p>
        </p:txBody>
      </p:sp>
      <p:sp>
        <p:nvSpPr>
          <p:cNvPr id="22" name="Text 20"/>
          <p:cNvSpPr/>
          <p:nvPr/>
        </p:nvSpPr>
        <p:spPr>
          <a:xfrm>
            <a:off x="8284464" y="2587752"/>
            <a:ext cx="3163824" cy="276606"/>
          </a:xfrm>
          <a:prstGeom prst="rect">
            <a:avLst/>
          </a:prstGeom>
          <a:noFill/>
          <a:ln/>
        </p:spPr>
        <p:txBody>
          <a:bodyPr wrap="square" lIns="0" tIns="0" rIns="0" bIns="0" rtlCol="0" anchor="t"/>
          <a:lstStyle/>
          <a:p>
            <a:pPr algn="l" indent="0" marL="0">
              <a:buNone/>
            </a:pPr>
            <a:r>
              <a:rPr lang="en-US" sz="1800" dirty="0">
                <a:solidFill>
                  <a:srgbClr val="617487"/>
                </a:solidFill>
                <a:latin typeface="DejaVu Sans" pitchFamily="34" charset="0"/>
                <a:ea typeface="DejaVu Sans" pitchFamily="34" charset="-122"/>
                <a:cs typeface="DejaVu Sans" pitchFamily="34" charset="-120"/>
              </a:rPr>
              <a:t>Trace model decisions to</a:t>
            </a:r>
            <a:endParaRPr lang="en-US" sz="1800" dirty="0"/>
          </a:p>
        </p:txBody>
      </p:sp>
      <p:sp>
        <p:nvSpPr>
          <p:cNvPr id="23" name="Text 21"/>
          <p:cNvSpPr/>
          <p:nvPr/>
        </p:nvSpPr>
        <p:spPr>
          <a:xfrm>
            <a:off x="8284464" y="2866644"/>
            <a:ext cx="3163824" cy="276606"/>
          </a:xfrm>
          <a:prstGeom prst="rect">
            <a:avLst/>
          </a:prstGeom>
          <a:noFill/>
          <a:ln/>
        </p:spPr>
        <p:txBody>
          <a:bodyPr wrap="square" lIns="0" tIns="0" rIns="0" bIns="0" rtlCol="0" anchor="t"/>
          <a:lstStyle/>
          <a:p>
            <a:pPr algn="l" indent="0" marL="0">
              <a:buNone/>
            </a:pPr>
            <a:r>
              <a:rPr lang="en-US" sz="1800" dirty="0">
                <a:solidFill>
                  <a:srgbClr val="617487"/>
                </a:solidFill>
                <a:latin typeface="DejaVu Sans" pitchFamily="34" charset="0"/>
                <a:ea typeface="DejaVu Sans" pitchFamily="34" charset="-122"/>
                <a:cs typeface="DejaVu Sans" pitchFamily="34" charset="-120"/>
              </a:rPr>
              <a:t>actual actions and verified</a:t>
            </a:r>
            <a:endParaRPr lang="en-US" sz="1800" dirty="0"/>
          </a:p>
        </p:txBody>
      </p:sp>
      <p:sp>
        <p:nvSpPr>
          <p:cNvPr id="24" name="Text 22"/>
          <p:cNvSpPr/>
          <p:nvPr/>
        </p:nvSpPr>
        <p:spPr>
          <a:xfrm>
            <a:off x="8284464" y="3145536"/>
            <a:ext cx="3163824" cy="276606"/>
          </a:xfrm>
          <a:prstGeom prst="rect">
            <a:avLst/>
          </a:prstGeom>
          <a:noFill/>
          <a:ln/>
        </p:spPr>
        <p:txBody>
          <a:bodyPr wrap="square" lIns="0" tIns="0" rIns="0" bIns="0" rtlCol="0" anchor="t"/>
          <a:lstStyle/>
          <a:p>
            <a:pPr algn="l" indent="0" marL="0">
              <a:buNone/>
            </a:pPr>
            <a:r>
              <a:rPr lang="en-US" sz="1800" dirty="0">
                <a:solidFill>
                  <a:srgbClr val="617487"/>
                </a:solidFill>
                <a:latin typeface="DejaVu Sans" pitchFamily="34" charset="0"/>
                <a:ea typeface="DejaVu Sans" pitchFamily="34" charset="-122"/>
                <a:cs typeface="DejaVu Sans" pitchFamily="34" charset="-120"/>
              </a:rPr>
              <a:t>outcomes.</a:t>
            </a:r>
            <a:endParaRPr lang="en-US" sz="1800" dirty="0"/>
          </a:p>
        </p:txBody>
      </p:sp>
      <p:sp>
        <p:nvSpPr>
          <p:cNvPr id="25" name="Text 23"/>
          <p:cNvSpPr/>
          <p:nvPr/>
        </p:nvSpPr>
        <p:spPr>
          <a:xfrm>
            <a:off x="585216" y="4325112"/>
            <a:ext cx="2743200" cy="338074"/>
          </a:xfrm>
          <a:prstGeom prst="rect">
            <a:avLst/>
          </a:prstGeom>
          <a:noFill/>
          <a:ln/>
        </p:spPr>
        <p:txBody>
          <a:bodyPr wrap="square" lIns="0" tIns="0" rIns="0" bIns="0" rtlCol="0" anchor="t"/>
          <a:lstStyle/>
          <a:p>
            <a:pPr algn="l" indent="0" marL="0">
              <a:buNone/>
            </a:pPr>
            <a:r>
              <a:rPr lang="en-US" sz="2200" b="1" dirty="0">
                <a:solidFill>
                  <a:srgbClr val="182B42"/>
                </a:solidFill>
                <a:latin typeface="DejaVu Sans" pitchFamily="34" charset="0"/>
                <a:ea typeface="DejaVu Sans" pitchFamily="34" charset="-122"/>
                <a:cs typeface="DejaVu Sans" pitchFamily="34" charset="-120"/>
              </a:rPr>
              <a:t>Roadmap</a:t>
            </a:r>
            <a:endParaRPr lang="en-US" sz="2200" dirty="0"/>
          </a:p>
        </p:txBody>
      </p:sp>
      <p:sp>
        <p:nvSpPr>
          <p:cNvPr id="26" name="Text 24"/>
          <p:cNvSpPr/>
          <p:nvPr/>
        </p:nvSpPr>
        <p:spPr>
          <a:xfrm>
            <a:off x="576072" y="4983480"/>
            <a:ext cx="3429000" cy="153670"/>
          </a:xfrm>
          <a:prstGeom prst="rect">
            <a:avLst/>
          </a:prstGeom>
          <a:noFill/>
          <a:ln/>
        </p:spPr>
        <p:txBody>
          <a:bodyPr wrap="square" lIns="0" tIns="0" rIns="0" bIns="0" rtlCol="0" anchor="t"/>
          <a:lstStyle/>
          <a:p>
            <a:pPr algn="l" indent="0" marL="0">
              <a:buNone/>
            </a:pPr>
            <a:r>
              <a:rPr lang="en-US" sz="1000" b="1" dirty="0">
                <a:solidFill>
                  <a:srgbClr val="087F80"/>
                </a:solidFill>
                <a:latin typeface="DejaVu Sans" pitchFamily="34" charset="0"/>
                <a:ea typeface="DejaVu Sans" pitchFamily="34" charset="-122"/>
                <a:cs typeface="DejaVu Sans" pitchFamily="34" charset="-120"/>
              </a:rPr>
              <a:t>NEXT</a:t>
            </a:r>
            <a:endParaRPr lang="en-US" sz="1000" dirty="0"/>
          </a:p>
        </p:txBody>
      </p:sp>
      <p:sp>
        <p:nvSpPr>
          <p:cNvPr id="27" name="Text 25"/>
          <p:cNvSpPr/>
          <p:nvPr/>
        </p:nvSpPr>
        <p:spPr>
          <a:xfrm>
            <a:off x="576072" y="5413248"/>
            <a:ext cx="3429000" cy="222822"/>
          </a:xfrm>
          <a:prstGeom prst="rect">
            <a:avLst/>
          </a:prstGeom>
          <a:noFill/>
          <a:ln/>
        </p:spPr>
        <p:txBody>
          <a:bodyPr wrap="square" lIns="0" tIns="0" rIns="0" bIns="0" rtlCol="0" anchor="t"/>
          <a:lstStyle/>
          <a:p>
            <a:pPr algn="l" indent="0" marL="0">
              <a:buNone/>
            </a:pPr>
            <a:r>
              <a:rPr lang="en-US" sz="1450" dirty="0">
                <a:solidFill>
                  <a:srgbClr val="617487"/>
                </a:solidFill>
                <a:latin typeface="DejaVu Sans" pitchFamily="34" charset="0"/>
                <a:ea typeface="DejaVu Sans" pitchFamily="34" charset="-122"/>
                <a:cs typeface="DejaVu Sans" pitchFamily="34" charset="-120"/>
              </a:rPr>
              <a:t>Public deployment</a:t>
            </a:r>
            <a:endParaRPr lang="en-US" sz="1450" dirty="0"/>
          </a:p>
        </p:txBody>
      </p:sp>
      <p:sp>
        <p:nvSpPr>
          <p:cNvPr id="28" name="Text 26"/>
          <p:cNvSpPr/>
          <p:nvPr/>
        </p:nvSpPr>
        <p:spPr>
          <a:xfrm>
            <a:off x="576072" y="5637911"/>
            <a:ext cx="3429000" cy="222822"/>
          </a:xfrm>
          <a:prstGeom prst="rect">
            <a:avLst/>
          </a:prstGeom>
          <a:noFill/>
          <a:ln/>
        </p:spPr>
        <p:txBody>
          <a:bodyPr wrap="square" lIns="0" tIns="0" rIns="0" bIns="0" rtlCol="0" anchor="t"/>
          <a:lstStyle/>
          <a:p>
            <a:pPr algn="l" indent="0" marL="0">
              <a:buNone/>
            </a:pPr>
            <a:r>
              <a:rPr lang="en-US" sz="1450" dirty="0">
                <a:solidFill>
                  <a:srgbClr val="617487"/>
                </a:solidFill>
                <a:latin typeface="DejaVu Sans" pitchFamily="34" charset="0"/>
                <a:ea typeface="DejaVu Sans" pitchFamily="34" charset="-122"/>
                <a:cs typeface="DejaVu Sans" pitchFamily="34" charset="-120"/>
              </a:rPr>
              <a:t>Hosted verification + demo video</a:t>
            </a:r>
            <a:endParaRPr lang="en-US" sz="1450" dirty="0"/>
          </a:p>
        </p:txBody>
      </p:sp>
      <p:sp>
        <p:nvSpPr>
          <p:cNvPr id="29" name="Text 27"/>
          <p:cNvSpPr/>
          <p:nvPr/>
        </p:nvSpPr>
        <p:spPr>
          <a:xfrm>
            <a:off x="4343400" y="4983480"/>
            <a:ext cx="3429000" cy="153670"/>
          </a:xfrm>
          <a:prstGeom prst="rect">
            <a:avLst/>
          </a:prstGeom>
          <a:noFill/>
          <a:ln/>
        </p:spPr>
        <p:txBody>
          <a:bodyPr wrap="square" lIns="0" tIns="0" rIns="0" bIns="0" rtlCol="0" anchor="t"/>
          <a:lstStyle/>
          <a:p>
            <a:pPr algn="l" indent="0" marL="0">
              <a:buNone/>
            </a:pPr>
            <a:r>
              <a:rPr lang="en-US" sz="1000" b="1" dirty="0">
                <a:solidFill>
                  <a:srgbClr val="087F80"/>
                </a:solidFill>
                <a:latin typeface="DejaVu Sans" pitchFamily="34" charset="0"/>
                <a:ea typeface="DejaVu Sans" pitchFamily="34" charset="-122"/>
                <a:cs typeface="DejaVu Sans" pitchFamily="34" charset="-120"/>
              </a:rPr>
              <a:t>THEN</a:t>
            </a:r>
            <a:endParaRPr lang="en-US" sz="1000" dirty="0"/>
          </a:p>
        </p:txBody>
      </p:sp>
      <p:sp>
        <p:nvSpPr>
          <p:cNvPr id="30" name="Text 28"/>
          <p:cNvSpPr/>
          <p:nvPr/>
        </p:nvSpPr>
        <p:spPr>
          <a:xfrm>
            <a:off x="4343400" y="5413248"/>
            <a:ext cx="3429000" cy="222822"/>
          </a:xfrm>
          <a:prstGeom prst="rect">
            <a:avLst/>
          </a:prstGeom>
          <a:noFill/>
          <a:ln/>
        </p:spPr>
        <p:txBody>
          <a:bodyPr wrap="square" lIns="0" tIns="0" rIns="0" bIns="0" rtlCol="0" anchor="t"/>
          <a:lstStyle/>
          <a:p>
            <a:pPr algn="l" indent="0" marL="0">
              <a:buNone/>
            </a:pPr>
            <a:r>
              <a:rPr lang="en-US" sz="1450" dirty="0">
                <a:solidFill>
                  <a:srgbClr val="617487"/>
                </a:solidFill>
                <a:latin typeface="DejaVu Sans" pitchFamily="34" charset="0"/>
                <a:ea typeface="DejaVu Sans" pitchFamily="34" charset="-122"/>
                <a:cs typeface="DejaVu Sans" pitchFamily="34" charset="-120"/>
              </a:rPr>
              <a:t>Supplier / ERP adapters</a:t>
            </a:r>
            <a:endParaRPr lang="en-US" sz="1450" dirty="0"/>
          </a:p>
        </p:txBody>
      </p:sp>
      <p:sp>
        <p:nvSpPr>
          <p:cNvPr id="31" name="Text 29"/>
          <p:cNvSpPr/>
          <p:nvPr/>
        </p:nvSpPr>
        <p:spPr>
          <a:xfrm>
            <a:off x="4343400" y="5637911"/>
            <a:ext cx="3429000" cy="222822"/>
          </a:xfrm>
          <a:prstGeom prst="rect">
            <a:avLst/>
          </a:prstGeom>
          <a:noFill/>
          <a:ln/>
        </p:spPr>
        <p:txBody>
          <a:bodyPr wrap="square" lIns="0" tIns="0" rIns="0" bIns="0" rtlCol="0" anchor="t"/>
          <a:lstStyle/>
          <a:p>
            <a:pPr algn="l" indent="0" marL="0">
              <a:buNone/>
            </a:pPr>
            <a:r>
              <a:rPr lang="en-US" sz="1450" dirty="0">
                <a:solidFill>
                  <a:srgbClr val="617487"/>
                </a:solidFill>
                <a:latin typeface="DejaVu Sans" pitchFamily="34" charset="0"/>
                <a:ea typeface="DejaVu Sans" pitchFamily="34" charset="-122"/>
                <a:cs typeface="DejaVu Sans" pitchFamily="34" charset="-120"/>
              </a:rPr>
              <a:t>External notifications</a:t>
            </a:r>
            <a:endParaRPr lang="en-US" sz="1450" dirty="0"/>
          </a:p>
        </p:txBody>
      </p:sp>
      <p:sp>
        <p:nvSpPr>
          <p:cNvPr id="32" name="Text 30"/>
          <p:cNvSpPr/>
          <p:nvPr/>
        </p:nvSpPr>
        <p:spPr>
          <a:xfrm>
            <a:off x="8110728" y="4983480"/>
            <a:ext cx="3429000" cy="153670"/>
          </a:xfrm>
          <a:prstGeom prst="rect">
            <a:avLst/>
          </a:prstGeom>
          <a:noFill/>
          <a:ln/>
        </p:spPr>
        <p:txBody>
          <a:bodyPr wrap="square" lIns="0" tIns="0" rIns="0" bIns="0" rtlCol="0" anchor="t"/>
          <a:lstStyle/>
          <a:p>
            <a:pPr algn="l" indent="0" marL="0">
              <a:buNone/>
            </a:pPr>
            <a:r>
              <a:rPr lang="en-US" sz="1000" b="1" dirty="0">
                <a:solidFill>
                  <a:srgbClr val="087F80"/>
                </a:solidFill>
                <a:latin typeface="DejaVu Sans" pitchFamily="34" charset="0"/>
                <a:ea typeface="DejaVu Sans" pitchFamily="34" charset="-122"/>
                <a:cs typeface="DejaVu Sans" pitchFamily="34" charset="-120"/>
              </a:rPr>
              <a:t>LATER</a:t>
            </a:r>
            <a:endParaRPr lang="en-US" sz="1000" dirty="0"/>
          </a:p>
        </p:txBody>
      </p:sp>
      <p:sp>
        <p:nvSpPr>
          <p:cNvPr id="33" name="Text 31"/>
          <p:cNvSpPr/>
          <p:nvPr/>
        </p:nvSpPr>
        <p:spPr>
          <a:xfrm>
            <a:off x="8110728" y="5413248"/>
            <a:ext cx="3429000" cy="222822"/>
          </a:xfrm>
          <a:prstGeom prst="rect">
            <a:avLst/>
          </a:prstGeom>
          <a:noFill/>
          <a:ln/>
        </p:spPr>
        <p:txBody>
          <a:bodyPr wrap="square" lIns="0" tIns="0" rIns="0" bIns="0" rtlCol="0" anchor="t"/>
          <a:lstStyle/>
          <a:p>
            <a:pPr algn="l" indent="0" marL="0">
              <a:buNone/>
            </a:pPr>
            <a:r>
              <a:rPr lang="en-US" sz="1450" dirty="0">
                <a:solidFill>
                  <a:srgbClr val="617487"/>
                </a:solidFill>
                <a:latin typeface="DejaVu Sans" pitchFamily="34" charset="0"/>
                <a:ea typeface="DejaVu Sans" pitchFamily="34" charset="-122"/>
                <a:cs typeface="DejaVu Sans" pitchFamily="34" charset="-120"/>
              </a:rPr>
              <a:t>Multi-SKU planning</a:t>
            </a:r>
            <a:endParaRPr lang="en-US" sz="1450" dirty="0"/>
          </a:p>
        </p:txBody>
      </p:sp>
      <p:sp>
        <p:nvSpPr>
          <p:cNvPr id="34" name="Text 32"/>
          <p:cNvSpPr/>
          <p:nvPr/>
        </p:nvSpPr>
        <p:spPr>
          <a:xfrm>
            <a:off x="8110728" y="5637911"/>
            <a:ext cx="3429000" cy="222822"/>
          </a:xfrm>
          <a:prstGeom prst="rect">
            <a:avLst/>
          </a:prstGeom>
          <a:noFill/>
          <a:ln/>
        </p:spPr>
        <p:txBody>
          <a:bodyPr wrap="square" lIns="0" tIns="0" rIns="0" bIns="0" rtlCol="0" anchor="t"/>
          <a:lstStyle/>
          <a:p>
            <a:pPr algn="l" indent="0" marL="0">
              <a:buNone/>
            </a:pPr>
            <a:r>
              <a:rPr lang="en-US" sz="1450" dirty="0">
                <a:solidFill>
                  <a:srgbClr val="617487"/>
                </a:solidFill>
                <a:latin typeface="DejaVu Sans" pitchFamily="34" charset="0"/>
                <a:ea typeface="DejaVu Sans" pitchFamily="34" charset="-122"/>
                <a:cs typeface="DejaVu Sans" pitchFamily="34" charset="-120"/>
              </a:rPr>
              <a:t>Organization approvals + scaling</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2235"/>
        </a:solidFill>
      </p:bgPr>
    </p:bg>
    <p:spTree>
      <p:nvGrpSpPr>
        <p:cNvPr id="1" name=""/>
        <p:cNvGrpSpPr/>
        <p:nvPr/>
      </p:nvGrpSpPr>
      <p:grpSpPr>
        <a:xfrm>
          <a:off x="0" y="0"/>
          <a:ext cx="0" cy="0"/>
          <a:chOff x="0" y="0"/>
          <a:chExt cx="0" cy="0"/>
        </a:xfrm>
      </p:grpSpPr>
      <p:sp>
        <p:nvSpPr>
          <p:cNvPr id="2" name="Text 0"/>
          <p:cNvSpPr/>
          <p:nvPr/>
        </p:nvSpPr>
        <p:spPr>
          <a:xfrm>
            <a:off x="548640" y="338328"/>
            <a:ext cx="10332720" cy="153670"/>
          </a:xfrm>
          <a:prstGeom prst="rect">
            <a:avLst/>
          </a:prstGeom>
          <a:noFill/>
          <a:ln/>
        </p:spPr>
        <p:txBody>
          <a:bodyPr wrap="square" lIns="0" tIns="0" rIns="0" bIns="0" rtlCol="0" anchor="t"/>
          <a:lstStyle/>
          <a:p>
            <a:pPr algn="l" indent="0" marL="0">
              <a:buNone/>
            </a:pPr>
            <a:r>
              <a:rPr lang="en-US" sz="1000" b="1" dirty="0">
                <a:solidFill>
                  <a:srgbClr val="F2AD65"/>
                </a:solidFill>
                <a:latin typeface="DejaVu Sans" pitchFamily="34" charset="0"/>
                <a:ea typeface="DejaVu Sans" pitchFamily="34" charset="-122"/>
                <a:cs typeface="DejaVu Sans" pitchFamily="34" charset="-120"/>
              </a:rPr>
              <a:t>THE PITCH</a:t>
            </a:r>
            <a:endParaRPr lang="en-US" sz="1000" dirty="0"/>
          </a:p>
        </p:txBody>
      </p:sp>
      <p:sp>
        <p:nvSpPr>
          <p:cNvPr id="3" name="Text 1"/>
          <p:cNvSpPr/>
          <p:nvPr/>
        </p:nvSpPr>
        <p:spPr>
          <a:xfrm>
            <a:off x="548640" y="758952"/>
            <a:ext cx="11064240" cy="445643"/>
          </a:xfrm>
          <a:prstGeom prst="rect">
            <a:avLst/>
          </a:prstGeom>
          <a:noFill/>
          <a:ln/>
        </p:spPr>
        <p:txBody>
          <a:bodyPr wrap="square" lIns="0" tIns="0" rIns="0" bIns="0" rtlCol="0" anchor="t"/>
          <a:lstStyle/>
          <a:p>
            <a:pPr algn="l" indent="0" marL="0">
              <a:buNone/>
            </a:pPr>
            <a:r>
              <a:rPr lang="en-US" sz="2900" b="1" dirty="0">
                <a:solidFill>
                  <a:srgbClr val="FFFFFF"/>
                </a:solidFill>
                <a:latin typeface="DejaVu Sans" pitchFamily="34" charset="0"/>
                <a:ea typeface="DejaVu Sans" pitchFamily="34" charset="-122"/>
                <a:cs typeface="DejaVu Sans" pitchFamily="34" charset="-120"/>
              </a:rPr>
              <a:t>stockpilot.</a:t>
            </a:r>
            <a:endParaRPr lang="en-US" sz="2900" dirty="0"/>
          </a:p>
        </p:txBody>
      </p:sp>
      <p:sp>
        <p:nvSpPr>
          <p:cNvPr id="4" name="Shape 2"/>
          <p:cNvSpPr/>
          <p:nvPr/>
        </p:nvSpPr>
        <p:spPr>
          <a:xfrm>
            <a:off x="548640" y="6345936"/>
            <a:ext cx="11091672" cy="0"/>
          </a:xfrm>
          <a:prstGeom prst="line">
            <a:avLst/>
          </a:prstGeom>
          <a:noFill/>
          <a:ln w="10160">
            <a:solidFill>
              <a:srgbClr val="203349"/>
            </a:solidFill>
            <a:prstDash val="solid"/>
          </a:ln>
        </p:spPr>
      </p:sp>
      <p:sp>
        <p:nvSpPr>
          <p:cNvPr id="5" name="Text 3"/>
          <p:cNvSpPr/>
          <p:nvPr/>
        </p:nvSpPr>
        <p:spPr>
          <a:xfrm>
            <a:off x="548640" y="6455664"/>
            <a:ext cx="9966960" cy="122936"/>
          </a:xfrm>
          <a:prstGeom prst="rect">
            <a:avLst/>
          </a:prstGeom>
          <a:noFill/>
          <a:ln/>
        </p:spPr>
        <p:txBody>
          <a:bodyPr wrap="square" lIns="0" tIns="0" rIns="0" bIns="0" rtlCol="0" anchor="t"/>
          <a:lstStyle/>
          <a:p>
            <a:pPr algn="l" indent="0" marL="0">
              <a:buNone/>
            </a:pPr>
            <a:r>
              <a:rPr lang="en-US" sz="800" dirty="0">
                <a:solidFill>
                  <a:srgbClr val="B8CBDC"/>
                </a:solidFill>
                <a:latin typeface="DejaVu Sans" pitchFamily="34" charset="0"/>
                <a:ea typeface="DejaVu Sans" pitchFamily="34" charset="-122"/>
                <a:cs typeface="DejaVu Sans" pitchFamily="34" charset="-120"/>
              </a:rPr>
              <a:t>Local demo: http://localhost:5173 • Evidence: docs/LIVE_ACCEPTANCE.md</a:t>
            </a:r>
            <a:endParaRPr lang="en-US" sz="800" dirty="0"/>
          </a:p>
        </p:txBody>
      </p:sp>
      <p:sp>
        <p:nvSpPr>
          <p:cNvPr id="6" name="Text 4"/>
          <p:cNvSpPr/>
          <p:nvPr/>
        </p:nvSpPr>
        <p:spPr>
          <a:xfrm>
            <a:off x="10287000" y="6428232"/>
            <a:ext cx="1353312" cy="138303"/>
          </a:xfrm>
          <a:prstGeom prst="rect">
            <a:avLst/>
          </a:prstGeom>
          <a:noFill/>
          <a:ln/>
        </p:spPr>
        <p:txBody>
          <a:bodyPr wrap="square" lIns="0" tIns="0" rIns="0" bIns="0" rtlCol="0" anchor="t"/>
          <a:lstStyle/>
          <a:p>
            <a:pPr algn="r" indent="0" marL="0">
              <a:buNone/>
            </a:pPr>
            <a:r>
              <a:rPr lang="en-US" sz="900" dirty="0">
                <a:solidFill>
                  <a:srgbClr val="B8CBDC"/>
                </a:solidFill>
                <a:latin typeface="DejaVu Sans" pitchFamily="34" charset="0"/>
                <a:ea typeface="DejaVu Sans" pitchFamily="34" charset="-122"/>
                <a:cs typeface="DejaVu Sans" pitchFamily="34" charset="-120"/>
              </a:rPr>
              <a:t>12 / 15</a:t>
            </a:r>
            <a:endParaRPr lang="en-US" sz="900" dirty="0"/>
          </a:p>
        </p:txBody>
      </p:sp>
      <p:sp>
        <p:nvSpPr>
          <p:cNvPr id="7" name="Text 5"/>
          <p:cNvSpPr/>
          <p:nvPr/>
        </p:nvSpPr>
        <p:spPr>
          <a:xfrm>
            <a:off x="548640" y="1828800"/>
            <a:ext cx="11064240" cy="568579"/>
          </a:xfrm>
          <a:prstGeom prst="rect">
            <a:avLst/>
          </a:prstGeom>
          <a:noFill/>
          <a:ln/>
        </p:spPr>
        <p:txBody>
          <a:bodyPr wrap="square" lIns="0" tIns="0" rIns="0" bIns="0" rtlCol="0" anchor="t"/>
          <a:lstStyle/>
          <a:p>
            <a:pPr algn="l" indent="0" marL="0">
              <a:buNone/>
            </a:pPr>
            <a:r>
              <a:rPr lang="en-US" sz="3700" b="1" dirty="0">
                <a:solidFill>
                  <a:srgbClr val="FFFFFF"/>
                </a:solidFill>
                <a:latin typeface="DejaVu Sans" pitchFamily="34" charset="0"/>
                <a:ea typeface="DejaVu Sans" pitchFamily="34" charset="-122"/>
                <a:cs typeface="DejaVu Sans" pitchFamily="34" charset="-120"/>
              </a:rPr>
              <a:t>Give the system a goal.</a:t>
            </a:r>
            <a:endParaRPr lang="en-US" sz="3700" dirty="0"/>
          </a:p>
        </p:txBody>
      </p:sp>
      <p:sp>
        <p:nvSpPr>
          <p:cNvPr id="8" name="Text 6"/>
          <p:cNvSpPr/>
          <p:nvPr/>
        </p:nvSpPr>
        <p:spPr>
          <a:xfrm>
            <a:off x="548640" y="2402078"/>
            <a:ext cx="11064240" cy="568579"/>
          </a:xfrm>
          <a:prstGeom prst="rect">
            <a:avLst/>
          </a:prstGeom>
          <a:noFill/>
          <a:ln/>
        </p:spPr>
        <p:txBody>
          <a:bodyPr wrap="square" lIns="0" tIns="0" rIns="0" bIns="0" rtlCol="0" anchor="t"/>
          <a:lstStyle/>
          <a:p>
            <a:pPr algn="l" indent="0" marL="0">
              <a:buNone/>
            </a:pPr>
            <a:r>
              <a:rPr lang="en-US" sz="3700" b="1" dirty="0">
                <a:solidFill>
                  <a:srgbClr val="FFFFFF"/>
                </a:solidFill>
                <a:latin typeface="DejaVu Sans" pitchFamily="34" charset="0"/>
                <a:ea typeface="DejaVu Sans" pitchFamily="34" charset="-122"/>
                <a:cs typeface="DejaVu Sans" pitchFamily="34" charset="-120"/>
              </a:rPr>
              <a:t>Get an outcome you can prove.</a:t>
            </a:r>
            <a:endParaRPr lang="en-US" sz="3700" dirty="0"/>
          </a:p>
        </p:txBody>
      </p:sp>
      <p:sp>
        <p:nvSpPr>
          <p:cNvPr id="9" name="Text 7"/>
          <p:cNvSpPr/>
          <p:nvPr/>
        </p:nvSpPr>
        <p:spPr>
          <a:xfrm>
            <a:off x="594360" y="3675888"/>
            <a:ext cx="10698480" cy="338074"/>
          </a:xfrm>
          <a:prstGeom prst="rect">
            <a:avLst/>
          </a:prstGeom>
          <a:noFill/>
          <a:ln/>
        </p:spPr>
        <p:txBody>
          <a:bodyPr wrap="square" lIns="0" tIns="0" rIns="0" bIns="0" rtlCol="0" anchor="t"/>
          <a:lstStyle/>
          <a:p>
            <a:pPr algn="l" indent="0" marL="0">
              <a:buNone/>
            </a:pPr>
            <a:r>
              <a:rPr lang="en-US" sz="2200" dirty="0">
                <a:solidFill>
                  <a:srgbClr val="B8CBDC"/>
                </a:solidFill>
                <a:latin typeface="DejaVu Sans" pitchFamily="34" charset="0"/>
                <a:ea typeface="DejaVu Sans" pitchFamily="34" charset="-122"/>
                <a:cs typeface="DejaVu Sans" pitchFamily="34" charset="-120"/>
              </a:rPr>
              <a:t>Plans adapt. Purchases stay accountable.</a:t>
            </a:r>
            <a:endParaRPr lang="en-US" sz="2200" dirty="0"/>
          </a:p>
        </p:txBody>
      </p:sp>
      <p:sp>
        <p:nvSpPr>
          <p:cNvPr id="10" name="Text 8"/>
          <p:cNvSpPr/>
          <p:nvPr/>
        </p:nvSpPr>
        <p:spPr>
          <a:xfrm>
            <a:off x="594360" y="4016756"/>
            <a:ext cx="10698480" cy="338074"/>
          </a:xfrm>
          <a:prstGeom prst="rect">
            <a:avLst/>
          </a:prstGeom>
          <a:noFill/>
          <a:ln/>
        </p:spPr>
        <p:txBody>
          <a:bodyPr wrap="square" lIns="0" tIns="0" rIns="0" bIns="0" rtlCol="0" anchor="t"/>
          <a:lstStyle/>
          <a:p>
            <a:pPr algn="l" indent="0" marL="0">
              <a:buNone/>
            </a:pPr>
            <a:r>
              <a:rPr lang="en-US" sz="2200" dirty="0">
                <a:solidFill>
                  <a:srgbClr val="B8CBDC"/>
                </a:solidFill>
                <a:latin typeface="DejaVu Sans" pitchFamily="34" charset="0"/>
                <a:ea typeface="DejaVu Sans" pitchFamily="34" charset="-122"/>
                <a:cs typeface="DejaVu Sans" pitchFamily="34" charset="-120"/>
              </a:rPr>
              <a:t>Business outcomes are independently verified.</a:t>
            </a:r>
            <a:endParaRPr lang="en-US" sz="2200" dirty="0"/>
          </a:p>
        </p:txBody>
      </p:sp>
      <p:sp>
        <p:nvSpPr>
          <p:cNvPr id="11" name="Shape 9"/>
          <p:cNvSpPr/>
          <p:nvPr/>
        </p:nvSpPr>
        <p:spPr>
          <a:xfrm>
            <a:off x="594360" y="5202936"/>
            <a:ext cx="1600200" cy="329184"/>
          </a:xfrm>
          <a:prstGeom prst="roundRect">
            <a:avLst/>
          </a:prstGeom>
          <a:solidFill>
            <a:srgbClr val="203349"/>
          </a:solidFill>
          <a:ln w="12700">
            <a:solidFill>
              <a:srgbClr val="203349"/>
            </a:solidFill>
            <a:prstDash val="solid"/>
          </a:ln>
        </p:spPr>
      </p:sp>
      <p:sp>
        <p:nvSpPr>
          <p:cNvPr id="12" name="Text 10"/>
          <p:cNvSpPr/>
          <p:nvPr/>
        </p:nvSpPr>
        <p:spPr>
          <a:xfrm>
            <a:off x="667512" y="5262372"/>
            <a:ext cx="1453896" cy="153670"/>
          </a:xfrm>
          <a:prstGeom prst="rect">
            <a:avLst/>
          </a:prstGeom>
          <a:noFill/>
          <a:ln/>
        </p:spPr>
        <p:txBody>
          <a:bodyPr wrap="square" lIns="0" tIns="0" rIns="0" bIns="0" rtlCol="0" anchor="t"/>
          <a:lstStyle/>
          <a:p>
            <a:pPr algn="ctr" indent="0" marL="0">
              <a:buNone/>
            </a:pPr>
            <a:r>
              <a:rPr lang="en-US" sz="1000" b="1" dirty="0">
                <a:solidFill>
                  <a:srgbClr val="F2AD65"/>
                </a:solidFill>
                <a:latin typeface="DejaVu Sans" pitchFamily="34" charset="0"/>
                <a:ea typeface="DejaVu Sans" pitchFamily="34" charset="-122"/>
                <a:cs typeface="DejaVu Sans" pitchFamily="34" charset="-120"/>
              </a:rPr>
              <a:t>GOAL</a:t>
            </a:r>
            <a:endParaRPr lang="en-US" sz="1000" dirty="0"/>
          </a:p>
        </p:txBody>
      </p:sp>
      <p:sp>
        <p:nvSpPr>
          <p:cNvPr id="13" name="Shape 11"/>
          <p:cNvSpPr/>
          <p:nvPr/>
        </p:nvSpPr>
        <p:spPr>
          <a:xfrm>
            <a:off x="2578608" y="5202936"/>
            <a:ext cx="2743200" cy="329184"/>
          </a:xfrm>
          <a:prstGeom prst="roundRect">
            <a:avLst/>
          </a:prstGeom>
          <a:solidFill>
            <a:srgbClr val="203349"/>
          </a:solidFill>
          <a:ln w="12700">
            <a:solidFill>
              <a:srgbClr val="203349"/>
            </a:solidFill>
            <a:prstDash val="solid"/>
          </a:ln>
        </p:spPr>
      </p:sp>
      <p:sp>
        <p:nvSpPr>
          <p:cNvPr id="14" name="Text 12"/>
          <p:cNvSpPr/>
          <p:nvPr/>
        </p:nvSpPr>
        <p:spPr>
          <a:xfrm>
            <a:off x="2651760" y="5262372"/>
            <a:ext cx="2596896" cy="153670"/>
          </a:xfrm>
          <a:prstGeom prst="rect">
            <a:avLst/>
          </a:prstGeom>
          <a:noFill/>
          <a:ln/>
        </p:spPr>
        <p:txBody>
          <a:bodyPr wrap="square" lIns="0" tIns="0" rIns="0" bIns="0" rtlCol="0" anchor="t"/>
          <a:lstStyle/>
          <a:p>
            <a:pPr algn="ctr" indent="0" marL="0">
              <a:buNone/>
            </a:pPr>
            <a:r>
              <a:rPr lang="en-US" sz="1000" b="1" dirty="0">
                <a:solidFill>
                  <a:srgbClr val="F2AD65"/>
                </a:solidFill>
                <a:latin typeface="DejaVu Sans" pitchFamily="34" charset="0"/>
                <a:ea typeface="DejaVu Sans" pitchFamily="34" charset="-122"/>
                <a:cs typeface="DejaVu Sans" pitchFamily="34" charset="-120"/>
              </a:rPr>
              <a:t>APPROVED ACTIONS</a:t>
            </a:r>
            <a:endParaRPr lang="en-US" sz="1000" dirty="0"/>
          </a:p>
        </p:txBody>
      </p:sp>
      <p:sp>
        <p:nvSpPr>
          <p:cNvPr id="15" name="Shape 13"/>
          <p:cNvSpPr/>
          <p:nvPr/>
        </p:nvSpPr>
        <p:spPr>
          <a:xfrm>
            <a:off x="5705856" y="5202936"/>
            <a:ext cx="2743200" cy="329184"/>
          </a:xfrm>
          <a:prstGeom prst="roundRect">
            <a:avLst/>
          </a:prstGeom>
          <a:solidFill>
            <a:srgbClr val="203349"/>
          </a:solidFill>
          <a:ln w="12700">
            <a:solidFill>
              <a:srgbClr val="203349"/>
            </a:solidFill>
            <a:prstDash val="solid"/>
          </a:ln>
        </p:spPr>
      </p:sp>
      <p:sp>
        <p:nvSpPr>
          <p:cNvPr id="16" name="Text 14"/>
          <p:cNvSpPr/>
          <p:nvPr/>
        </p:nvSpPr>
        <p:spPr>
          <a:xfrm>
            <a:off x="5779008" y="5262372"/>
            <a:ext cx="2596896" cy="153670"/>
          </a:xfrm>
          <a:prstGeom prst="rect">
            <a:avLst/>
          </a:prstGeom>
          <a:noFill/>
          <a:ln/>
        </p:spPr>
        <p:txBody>
          <a:bodyPr wrap="square" lIns="0" tIns="0" rIns="0" bIns="0" rtlCol="0" anchor="t"/>
          <a:lstStyle/>
          <a:p>
            <a:pPr algn="ctr" indent="0" marL="0">
              <a:buNone/>
            </a:pPr>
            <a:r>
              <a:rPr lang="en-US" sz="1000" b="1" dirty="0">
                <a:solidFill>
                  <a:srgbClr val="F2AD65"/>
                </a:solidFill>
                <a:latin typeface="DejaVu Sans" pitchFamily="34" charset="0"/>
                <a:ea typeface="DejaVu Sans" pitchFamily="34" charset="-122"/>
                <a:cs typeface="DejaVu Sans" pitchFamily="34" charset="-120"/>
              </a:rPr>
              <a:t>VERIFIED RESULT</a:t>
            </a:r>
            <a:endParaRPr lang="en-US" sz="1000" dirty="0"/>
          </a:p>
        </p:txBody>
      </p:sp>
      <p:sp>
        <p:nvSpPr>
          <p:cNvPr id="17" name="Shape 15"/>
          <p:cNvSpPr/>
          <p:nvPr/>
        </p:nvSpPr>
        <p:spPr>
          <a:xfrm>
            <a:off x="2258568" y="5367528"/>
            <a:ext cx="256032" cy="0"/>
          </a:xfrm>
          <a:prstGeom prst="line">
            <a:avLst/>
          </a:prstGeom>
          <a:noFill/>
          <a:ln w="19050">
            <a:solidFill>
              <a:srgbClr val="F2AD65"/>
            </a:solidFill>
            <a:prstDash val="solid"/>
            <a:tailEnd type="triangle"/>
          </a:ln>
        </p:spPr>
      </p:sp>
      <p:sp>
        <p:nvSpPr>
          <p:cNvPr id="18" name="Shape 16"/>
          <p:cNvSpPr/>
          <p:nvPr/>
        </p:nvSpPr>
        <p:spPr>
          <a:xfrm>
            <a:off x="5394960" y="5367528"/>
            <a:ext cx="237744" cy="0"/>
          </a:xfrm>
          <a:prstGeom prst="line">
            <a:avLst/>
          </a:prstGeom>
          <a:noFill/>
          <a:ln w="19050">
            <a:solidFill>
              <a:srgbClr val="F2AD65"/>
            </a:solidFill>
            <a:prstDash val="solid"/>
            <a:tailEnd type="triangle"/>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548640" y="338328"/>
            <a:ext cx="10332720" cy="153670"/>
          </a:xfrm>
          <a:prstGeom prst="rect">
            <a:avLst/>
          </a:prstGeom>
          <a:noFill/>
          <a:ln/>
        </p:spPr>
        <p:txBody>
          <a:bodyPr wrap="square" lIns="0" tIns="0" rIns="0" bIns="0" rtlCol="0" anchor="t"/>
          <a:lstStyle/>
          <a:p>
            <a:pPr algn="l" indent="0" marL="0">
              <a:buNone/>
            </a:pPr>
            <a:r>
              <a:rPr lang="en-US" sz="1000" b="1" dirty="0">
                <a:solidFill>
                  <a:srgbClr val="087F80"/>
                </a:solidFill>
                <a:latin typeface="DejaVu Sans" pitchFamily="34" charset="0"/>
                <a:ea typeface="DejaVu Sans" pitchFamily="34" charset="-122"/>
                <a:cs typeface="DejaVu Sans" pitchFamily="34" charset="-120"/>
              </a:rPr>
              <a:t>EVIDENCE FOR JUDGES</a:t>
            </a:r>
            <a:endParaRPr lang="en-US" sz="1000" dirty="0"/>
          </a:p>
        </p:txBody>
      </p:sp>
      <p:sp>
        <p:nvSpPr>
          <p:cNvPr id="3" name="Text 1"/>
          <p:cNvSpPr/>
          <p:nvPr/>
        </p:nvSpPr>
        <p:spPr>
          <a:xfrm>
            <a:off x="548640" y="758952"/>
            <a:ext cx="11064240" cy="445643"/>
          </a:xfrm>
          <a:prstGeom prst="rect">
            <a:avLst/>
          </a:prstGeom>
          <a:noFill/>
          <a:ln/>
        </p:spPr>
        <p:txBody>
          <a:bodyPr wrap="square" lIns="0" tIns="0" rIns="0" bIns="0" rtlCol="0" anchor="t"/>
          <a:lstStyle/>
          <a:p>
            <a:pPr algn="l" indent="0" marL="0">
              <a:buNone/>
            </a:pPr>
            <a:r>
              <a:rPr lang="en-US" sz="2900" b="1" dirty="0">
                <a:solidFill>
                  <a:srgbClr val="182B42"/>
                </a:solidFill>
                <a:latin typeface="DejaVu Sans" pitchFamily="34" charset="0"/>
                <a:ea typeface="DejaVu Sans" pitchFamily="34" charset="-122"/>
                <a:cs typeface="DejaVu Sans" pitchFamily="34" charset="-120"/>
              </a:rPr>
              <a:t>Backup: actual Gemini invocation records.</a:t>
            </a:r>
            <a:endParaRPr lang="en-US" sz="2900" dirty="0"/>
          </a:p>
        </p:txBody>
      </p:sp>
      <p:sp>
        <p:nvSpPr>
          <p:cNvPr id="4" name="Shape 2"/>
          <p:cNvSpPr/>
          <p:nvPr/>
        </p:nvSpPr>
        <p:spPr>
          <a:xfrm>
            <a:off x="548640" y="6345936"/>
            <a:ext cx="11091672" cy="0"/>
          </a:xfrm>
          <a:prstGeom prst="line">
            <a:avLst/>
          </a:prstGeom>
          <a:noFill/>
          <a:ln w="10160">
            <a:solidFill>
              <a:srgbClr val="DCE5EC"/>
            </a:solidFill>
            <a:prstDash val="solid"/>
          </a:ln>
        </p:spPr>
      </p:sp>
      <p:sp>
        <p:nvSpPr>
          <p:cNvPr id="5" name="Text 3"/>
          <p:cNvSpPr/>
          <p:nvPr/>
        </p:nvSpPr>
        <p:spPr>
          <a:xfrm>
            <a:off x="548640" y="6455664"/>
            <a:ext cx="9966960" cy="122936"/>
          </a:xfrm>
          <a:prstGeom prst="rect">
            <a:avLst/>
          </a:prstGeom>
          <a:noFill/>
          <a:ln/>
        </p:spPr>
        <p:txBody>
          <a:bodyPr wrap="square" lIns="0" tIns="0" rIns="0" bIns="0" rtlCol="0" anchor="t"/>
          <a:lstStyle/>
          <a:p>
            <a:pPr algn="l" indent="0" marL="0">
              <a:buNone/>
            </a:pPr>
            <a:r>
              <a:rPr lang="en-US" sz="800" dirty="0">
                <a:solidFill>
                  <a:srgbClr val="617487"/>
                </a:solidFill>
                <a:latin typeface="DejaVu Sans" pitchFamily="34" charset="0"/>
                <a:ea typeface="DejaVu Sans" pitchFamily="34" charset="-122"/>
                <a:cs typeface="DejaVu Sans" pitchFamily="34" charset="-120"/>
              </a:rPr>
              <a:t>Actual screenshot: agents-live-gemini.png • Native @google/genai • gemini-3.5-flash-lite</a:t>
            </a:r>
            <a:endParaRPr lang="en-US" sz="800" dirty="0"/>
          </a:p>
        </p:txBody>
      </p:sp>
      <p:sp>
        <p:nvSpPr>
          <p:cNvPr id="6" name="Text 4"/>
          <p:cNvSpPr/>
          <p:nvPr/>
        </p:nvSpPr>
        <p:spPr>
          <a:xfrm>
            <a:off x="10287000" y="6428232"/>
            <a:ext cx="1353312" cy="138303"/>
          </a:xfrm>
          <a:prstGeom prst="rect">
            <a:avLst/>
          </a:prstGeom>
          <a:noFill/>
          <a:ln/>
        </p:spPr>
        <p:txBody>
          <a:bodyPr wrap="square" lIns="0" tIns="0" rIns="0" bIns="0" rtlCol="0" anchor="t"/>
          <a:lstStyle/>
          <a:p>
            <a:pPr algn="r" indent="0" marL="0">
              <a:buNone/>
            </a:pPr>
            <a:r>
              <a:rPr lang="en-US" sz="900" dirty="0">
                <a:solidFill>
                  <a:srgbClr val="617487"/>
                </a:solidFill>
                <a:latin typeface="DejaVu Sans" pitchFamily="34" charset="0"/>
                <a:ea typeface="DejaVu Sans" pitchFamily="34" charset="-122"/>
                <a:cs typeface="DejaVu Sans" pitchFamily="34" charset="-120"/>
              </a:rPr>
              <a:t>BACKUP · 13 / 15</a:t>
            </a:r>
            <a:endParaRPr lang="en-US" sz="900" dirty="0"/>
          </a:p>
        </p:txBody>
      </p:sp>
      <p:pic>
        <p:nvPicPr>
          <p:cNvPr id="7" name="Image 0" descr="/home/sanke/stockpilot/docs/presentation/assets/agents_focus.png">    </p:cNvPr>
          <p:cNvPicPr>
            <a:picLocks noChangeAspect="1"/>
          </p:cNvPicPr>
          <p:nvPr/>
        </p:nvPicPr>
        <p:blipFill>
          <a:blip r:embed="rId1"/>
          <a:stretch>
            <a:fillRect/>
          </a:stretch>
        </p:blipFill>
        <p:spPr>
          <a:xfrm>
            <a:off x="548640" y="1664208"/>
            <a:ext cx="7132320" cy="4261609"/>
          </a:xfrm>
          <a:prstGeom prst="rect">
            <a:avLst/>
          </a:prstGeom>
        </p:spPr>
      </p:pic>
      <p:sp>
        <p:nvSpPr>
          <p:cNvPr id="8" name="Shape 5"/>
          <p:cNvSpPr/>
          <p:nvPr/>
        </p:nvSpPr>
        <p:spPr>
          <a:xfrm>
            <a:off x="7955280" y="1691640"/>
            <a:ext cx="3685032" cy="1901952"/>
          </a:xfrm>
          <a:prstGeom prst="rect">
            <a:avLst/>
          </a:prstGeom>
          <a:solidFill>
            <a:srgbClr val="FFFFFF"/>
          </a:solidFill>
          <a:ln w="8890">
            <a:solidFill>
              <a:srgbClr val="DCE5EC"/>
            </a:solidFill>
            <a:prstDash val="solid"/>
          </a:ln>
        </p:spPr>
      </p:sp>
      <p:sp>
        <p:nvSpPr>
          <p:cNvPr id="9" name="Shape 6"/>
          <p:cNvSpPr/>
          <p:nvPr/>
        </p:nvSpPr>
        <p:spPr>
          <a:xfrm>
            <a:off x="7955280" y="1691640"/>
            <a:ext cx="41148" cy="1901952"/>
          </a:xfrm>
          <a:prstGeom prst="rect">
            <a:avLst/>
          </a:prstGeom>
          <a:solidFill>
            <a:srgbClr val="087F80"/>
          </a:solidFill>
          <a:ln w="12700">
            <a:solidFill>
              <a:srgbClr val="087F80"/>
            </a:solidFill>
            <a:prstDash val="solid"/>
          </a:ln>
        </p:spPr>
      </p:sp>
      <p:sp>
        <p:nvSpPr>
          <p:cNvPr id="10" name="Text 7"/>
          <p:cNvSpPr/>
          <p:nvPr/>
        </p:nvSpPr>
        <p:spPr>
          <a:xfrm>
            <a:off x="8156448" y="1874520"/>
            <a:ext cx="3282696" cy="276606"/>
          </a:xfrm>
          <a:prstGeom prst="rect">
            <a:avLst/>
          </a:prstGeom>
          <a:noFill/>
          <a:ln/>
        </p:spPr>
        <p:txBody>
          <a:bodyPr wrap="square" lIns="0" tIns="0" rIns="0" bIns="0" rtlCol="0" anchor="t"/>
          <a:lstStyle/>
          <a:p>
            <a:pPr algn="l" indent="0" marL="0">
              <a:buNone/>
            </a:pPr>
            <a:r>
              <a:rPr lang="en-US" sz="1800" b="1" dirty="0">
                <a:solidFill>
                  <a:srgbClr val="182B42"/>
                </a:solidFill>
                <a:latin typeface="DejaVu Sans" pitchFamily="34" charset="0"/>
                <a:ea typeface="DejaVu Sans" pitchFamily="34" charset="-122"/>
                <a:cs typeface="DejaVu Sans" pitchFamily="34" charset="-120"/>
              </a:rPr>
              <a:t>Separate scoped calls</a:t>
            </a:r>
            <a:endParaRPr lang="en-US" sz="1800" dirty="0"/>
          </a:p>
        </p:txBody>
      </p:sp>
      <p:sp>
        <p:nvSpPr>
          <p:cNvPr id="11" name="Text 8"/>
          <p:cNvSpPr/>
          <p:nvPr/>
        </p:nvSpPr>
        <p:spPr>
          <a:xfrm>
            <a:off x="8156448" y="2560320"/>
            <a:ext cx="3282696" cy="245872"/>
          </a:xfrm>
          <a:prstGeom prst="rect">
            <a:avLst/>
          </a:prstGeom>
          <a:noFill/>
          <a:ln/>
        </p:spPr>
        <p:txBody>
          <a:bodyPr wrap="square" lIns="0" tIns="0" rIns="0" bIns="0" rtlCol="0" anchor="t"/>
          <a:lstStyle/>
          <a:p>
            <a:pPr algn="l" indent="0" marL="0">
              <a:buNone/>
            </a:pPr>
            <a:r>
              <a:rPr lang="en-US" sz="1600" dirty="0">
                <a:solidFill>
                  <a:srgbClr val="617487"/>
                </a:solidFill>
                <a:latin typeface="DejaVu Sans" pitchFamily="34" charset="0"/>
                <a:ea typeface="DejaVu Sans" pitchFamily="34" charset="-122"/>
                <a:cs typeface="DejaVu Sans" pitchFamily="34" charset="-120"/>
              </a:rPr>
              <a:t>Provider, model, role, revision,</a:t>
            </a:r>
            <a:endParaRPr lang="en-US" sz="1600" dirty="0"/>
          </a:p>
        </p:txBody>
      </p:sp>
      <p:sp>
        <p:nvSpPr>
          <p:cNvPr id="12" name="Text 9"/>
          <p:cNvSpPr/>
          <p:nvPr/>
        </p:nvSpPr>
        <p:spPr>
          <a:xfrm>
            <a:off x="8156448" y="2808224"/>
            <a:ext cx="3282696" cy="245872"/>
          </a:xfrm>
          <a:prstGeom prst="rect">
            <a:avLst/>
          </a:prstGeom>
          <a:noFill/>
          <a:ln/>
        </p:spPr>
        <p:txBody>
          <a:bodyPr wrap="square" lIns="0" tIns="0" rIns="0" bIns="0" rtlCol="0" anchor="t"/>
          <a:lstStyle/>
          <a:p>
            <a:pPr algn="l" indent="0" marL="0">
              <a:buNone/>
            </a:pPr>
            <a:r>
              <a:rPr lang="en-US" sz="1600" dirty="0">
                <a:solidFill>
                  <a:srgbClr val="617487"/>
                </a:solidFill>
                <a:latin typeface="DejaVu Sans" pitchFamily="34" charset="0"/>
                <a:ea typeface="DejaVu Sans" pitchFamily="34" charset="-122"/>
                <a:cs typeface="DejaVu Sans" pitchFamily="34" charset="-120"/>
              </a:rPr>
              <a:t>attempts and validated output</a:t>
            </a:r>
            <a:endParaRPr lang="en-US" sz="1600" dirty="0"/>
          </a:p>
        </p:txBody>
      </p:sp>
      <p:sp>
        <p:nvSpPr>
          <p:cNvPr id="13" name="Text 10"/>
          <p:cNvSpPr/>
          <p:nvPr/>
        </p:nvSpPr>
        <p:spPr>
          <a:xfrm>
            <a:off x="8156448" y="3056128"/>
            <a:ext cx="3282696" cy="245872"/>
          </a:xfrm>
          <a:prstGeom prst="rect">
            <a:avLst/>
          </a:prstGeom>
          <a:noFill/>
          <a:ln/>
        </p:spPr>
        <p:txBody>
          <a:bodyPr wrap="square" lIns="0" tIns="0" rIns="0" bIns="0" rtlCol="0" anchor="t"/>
          <a:lstStyle/>
          <a:p>
            <a:pPr algn="l" indent="0" marL="0">
              <a:buNone/>
            </a:pPr>
            <a:r>
              <a:rPr lang="en-US" sz="1600" dirty="0">
                <a:solidFill>
                  <a:srgbClr val="617487"/>
                </a:solidFill>
                <a:latin typeface="DejaVu Sans" pitchFamily="34" charset="0"/>
                <a:ea typeface="DejaVu Sans" pitchFamily="34" charset="-122"/>
                <a:cs typeface="DejaVu Sans" pitchFamily="34" charset="-120"/>
              </a:rPr>
              <a:t>are persisted.</a:t>
            </a:r>
            <a:endParaRPr lang="en-US" sz="1600" dirty="0"/>
          </a:p>
        </p:txBody>
      </p:sp>
      <p:sp>
        <p:nvSpPr>
          <p:cNvPr id="14" name="Shape 11"/>
          <p:cNvSpPr/>
          <p:nvPr/>
        </p:nvSpPr>
        <p:spPr>
          <a:xfrm>
            <a:off x="7955280" y="3840480"/>
            <a:ext cx="3685032" cy="1901952"/>
          </a:xfrm>
          <a:prstGeom prst="rect">
            <a:avLst/>
          </a:prstGeom>
          <a:solidFill>
            <a:srgbClr val="FFFFFF"/>
          </a:solidFill>
          <a:ln w="8890">
            <a:solidFill>
              <a:srgbClr val="DCE5EC"/>
            </a:solidFill>
            <a:prstDash val="solid"/>
          </a:ln>
        </p:spPr>
      </p:sp>
      <p:sp>
        <p:nvSpPr>
          <p:cNvPr id="15" name="Shape 12"/>
          <p:cNvSpPr/>
          <p:nvPr/>
        </p:nvSpPr>
        <p:spPr>
          <a:xfrm>
            <a:off x="7955280" y="3840480"/>
            <a:ext cx="41148" cy="1901952"/>
          </a:xfrm>
          <a:prstGeom prst="rect">
            <a:avLst/>
          </a:prstGeom>
          <a:solidFill>
            <a:srgbClr val="F2AD65"/>
          </a:solidFill>
          <a:ln w="12700">
            <a:solidFill>
              <a:srgbClr val="F2AD65"/>
            </a:solidFill>
            <a:prstDash val="solid"/>
          </a:ln>
        </p:spPr>
      </p:sp>
      <p:sp>
        <p:nvSpPr>
          <p:cNvPr id="16" name="Text 13"/>
          <p:cNvSpPr/>
          <p:nvPr/>
        </p:nvSpPr>
        <p:spPr>
          <a:xfrm>
            <a:off x="8156448" y="4023360"/>
            <a:ext cx="3282696" cy="276606"/>
          </a:xfrm>
          <a:prstGeom prst="rect">
            <a:avLst/>
          </a:prstGeom>
          <a:noFill/>
          <a:ln/>
        </p:spPr>
        <p:txBody>
          <a:bodyPr wrap="square" lIns="0" tIns="0" rIns="0" bIns="0" rtlCol="0" anchor="t"/>
          <a:lstStyle/>
          <a:p>
            <a:pPr algn="l" indent="0" marL="0">
              <a:buNone/>
            </a:pPr>
            <a:r>
              <a:rPr lang="en-US" sz="1800" b="1" dirty="0">
                <a:solidFill>
                  <a:srgbClr val="182B42"/>
                </a:solidFill>
                <a:latin typeface="DejaVu Sans" pitchFamily="34" charset="0"/>
                <a:ea typeface="DejaVu Sans" pitchFamily="34" charset="-122"/>
                <a:cs typeface="DejaVu Sans" pitchFamily="34" charset="-120"/>
              </a:rPr>
              <a:t>Failures remain visible</a:t>
            </a:r>
            <a:endParaRPr lang="en-US" sz="1800" dirty="0"/>
          </a:p>
        </p:txBody>
      </p:sp>
      <p:sp>
        <p:nvSpPr>
          <p:cNvPr id="17" name="Text 14"/>
          <p:cNvSpPr/>
          <p:nvPr/>
        </p:nvSpPr>
        <p:spPr>
          <a:xfrm>
            <a:off x="8156448" y="4709160"/>
            <a:ext cx="3282696" cy="238189"/>
          </a:xfrm>
          <a:prstGeom prst="rect">
            <a:avLst/>
          </a:prstGeom>
          <a:noFill/>
          <a:ln/>
        </p:spPr>
        <p:txBody>
          <a:bodyPr wrap="square" lIns="0" tIns="0" rIns="0" bIns="0" rtlCol="0" anchor="t"/>
          <a:lstStyle/>
          <a:p>
            <a:pPr algn="l" indent="0" marL="0">
              <a:buNone/>
            </a:pPr>
            <a:r>
              <a:rPr lang="en-US" sz="1550" dirty="0">
                <a:solidFill>
                  <a:srgbClr val="617487"/>
                </a:solidFill>
                <a:latin typeface="DejaVu Sans" pitchFamily="34" charset="0"/>
                <a:ea typeface="DejaVu Sans" pitchFamily="34" charset="-122"/>
                <a:cs typeface="DejaVu Sans" pitchFamily="34" charset="-120"/>
              </a:rPr>
              <a:t>Correction and recovery records</a:t>
            </a:r>
            <a:endParaRPr lang="en-US" sz="1550" dirty="0"/>
          </a:p>
        </p:txBody>
      </p:sp>
      <p:sp>
        <p:nvSpPr>
          <p:cNvPr id="18" name="Text 15"/>
          <p:cNvSpPr/>
          <p:nvPr/>
        </p:nvSpPr>
        <p:spPr>
          <a:xfrm>
            <a:off x="8156448" y="4949317"/>
            <a:ext cx="3282696" cy="238189"/>
          </a:xfrm>
          <a:prstGeom prst="rect">
            <a:avLst/>
          </a:prstGeom>
          <a:noFill/>
          <a:ln/>
        </p:spPr>
        <p:txBody>
          <a:bodyPr wrap="square" lIns="0" tIns="0" rIns="0" bIns="0" rtlCol="0" anchor="t"/>
          <a:lstStyle/>
          <a:p>
            <a:pPr algn="l" indent="0" marL="0">
              <a:buNone/>
            </a:pPr>
            <a:r>
              <a:rPr lang="en-US" sz="1550" dirty="0">
                <a:solidFill>
                  <a:srgbClr val="617487"/>
                </a:solidFill>
                <a:latin typeface="DejaVu Sans" pitchFamily="34" charset="0"/>
                <a:ea typeface="DejaVu Sans" pitchFamily="34" charset="-122"/>
                <a:cs typeface="DejaVu Sans" pitchFamily="34" charset="-120"/>
              </a:rPr>
              <a:t>are retained rather than</a:t>
            </a:r>
            <a:endParaRPr lang="en-US" sz="1550" dirty="0"/>
          </a:p>
        </p:txBody>
      </p:sp>
      <p:sp>
        <p:nvSpPr>
          <p:cNvPr id="19" name="Text 16"/>
          <p:cNvSpPr/>
          <p:nvPr/>
        </p:nvSpPr>
        <p:spPr>
          <a:xfrm>
            <a:off x="8156448" y="5189474"/>
            <a:ext cx="3282696" cy="238189"/>
          </a:xfrm>
          <a:prstGeom prst="rect">
            <a:avLst/>
          </a:prstGeom>
          <a:noFill/>
          <a:ln/>
        </p:spPr>
        <p:txBody>
          <a:bodyPr wrap="square" lIns="0" tIns="0" rIns="0" bIns="0" rtlCol="0" anchor="t"/>
          <a:lstStyle/>
          <a:p>
            <a:pPr algn="l" indent="0" marL="0">
              <a:buNone/>
            </a:pPr>
            <a:r>
              <a:rPr lang="en-US" sz="1550" dirty="0">
                <a:solidFill>
                  <a:srgbClr val="617487"/>
                </a:solidFill>
                <a:latin typeface="DejaVu Sans" pitchFamily="34" charset="0"/>
                <a:ea typeface="DejaVu Sans" pitchFamily="34" charset="-122"/>
                <a:cs typeface="DejaVu Sans" pitchFamily="34" charset="-120"/>
              </a:rPr>
              <a:t>replaced by success-only history.</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548640" y="338328"/>
            <a:ext cx="10332720" cy="153670"/>
          </a:xfrm>
          <a:prstGeom prst="rect">
            <a:avLst/>
          </a:prstGeom>
          <a:noFill/>
          <a:ln/>
        </p:spPr>
        <p:txBody>
          <a:bodyPr wrap="square" lIns="0" tIns="0" rIns="0" bIns="0" rtlCol="0" anchor="t"/>
          <a:lstStyle/>
          <a:p>
            <a:pPr algn="l" indent="0" marL="0">
              <a:buNone/>
            </a:pPr>
            <a:r>
              <a:rPr lang="en-US" sz="1000" b="1" dirty="0">
                <a:solidFill>
                  <a:srgbClr val="087F80"/>
                </a:solidFill>
                <a:latin typeface="DejaVu Sans" pitchFamily="34" charset="0"/>
                <a:ea typeface="DejaVu Sans" pitchFamily="34" charset="-122"/>
                <a:cs typeface="DejaVu Sans" pitchFamily="34" charset="-120"/>
              </a:rPr>
              <a:t>TECHNICAL DETAIL</a:t>
            </a:r>
            <a:endParaRPr lang="en-US" sz="1000" dirty="0"/>
          </a:p>
        </p:txBody>
      </p:sp>
      <p:sp>
        <p:nvSpPr>
          <p:cNvPr id="3" name="Text 1"/>
          <p:cNvSpPr/>
          <p:nvPr/>
        </p:nvSpPr>
        <p:spPr>
          <a:xfrm>
            <a:off x="548640" y="758952"/>
            <a:ext cx="11064240" cy="445643"/>
          </a:xfrm>
          <a:prstGeom prst="rect">
            <a:avLst/>
          </a:prstGeom>
          <a:noFill/>
          <a:ln/>
        </p:spPr>
        <p:txBody>
          <a:bodyPr wrap="square" lIns="0" tIns="0" rIns="0" bIns="0" rtlCol="0" anchor="t"/>
          <a:lstStyle/>
          <a:p>
            <a:pPr algn="l" indent="0" marL="0">
              <a:buNone/>
            </a:pPr>
            <a:r>
              <a:rPr lang="en-US" sz="2900" b="1" dirty="0">
                <a:solidFill>
                  <a:srgbClr val="182B42"/>
                </a:solidFill>
                <a:latin typeface="DejaVu Sans" pitchFamily="34" charset="0"/>
                <a:ea typeface="DejaVu Sans" pitchFamily="34" charset="-122"/>
                <a:cs typeface="DejaVu Sans" pitchFamily="34" charset="-120"/>
              </a:rPr>
              <a:t>Backup: eight tools and persistent proof.</a:t>
            </a:r>
            <a:endParaRPr lang="en-US" sz="2900" dirty="0"/>
          </a:p>
        </p:txBody>
      </p:sp>
      <p:sp>
        <p:nvSpPr>
          <p:cNvPr id="4" name="Shape 2"/>
          <p:cNvSpPr/>
          <p:nvPr/>
        </p:nvSpPr>
        <p:spPr>
          <a:xfrm>
            <a:off x="548640" y="6345936"/>
            <a:ext cx="11091672" cy="0"/>
          </a:xfrm>
          <a:prstGeom prst="line">
            <a:avLst/>
          </a:prstGeom>
          <a:noFill/>
          <a:ln w="10160">
            <a:solidFill>
              <a:srgbClr val="DCE5EC"/>
            </a:solidFill>
            <a:prstDash val="solid"/>
          </a:ln>
        </p:spPr>
      </p:sp>
      <p:sp>
        <p:nvSpPr>
          <p:cNvPr id="5" name="Text 3"/>
          <p:cNvSpPr/>
          <p:nvPr/>
        </p:nvSpPr>
        <p:spPr>
          <a:xfrm>
            <a:off x="548640" y="6455664"/>
            <a:ext cx="9966960" cy="122936"/>
          </a:xfrm>
          <a:prstGeom prst="rect">
            <a:avLst/>
          </a:prstGeom>
          <a:noFill/>
          <a:ln/>
        </p:spPr>
        <p:txBody>
          <a:bodyPr wrap="square" lIns="0" tIns="0" rIns="0" bIns="0" rtlCol="0" anchor="t"/>
          <a:lstStyle/>
          <a:p>
            <a:pPr algn="l" indent="0" marL="0">
              <a:buNone/>
            </a:pPr>
            <a:r>
              <a:rPr lang="en-US" sz="800" dirty="0">
                <a:solidFill>
                  <a:srgbClr val="617487"/>
                </a:solidFill>
                <a:latin typeface="DejaVu Sans" pitchFamily="34" charset="0"/>
                <a:ea typeface="DejaVu Sans" pitchFamily="34" charset="-122"/>
                <a:cs typeface="DejaVu Sans" pitchFamily="34" charset="-120"/>
              </a:rPr>
              <a:t>Sources: backend/src/tools/registry.js • backend/src/models/index.js • ARCHITECTURE.md</a:t>
            </a:r>
            <a:endParaRPr lang="en-US" sz="800" dirty="0"/>
          </a:p>
        </p:txBody>
      </p:sp>
      <p:sp>
        <p:nvSpPr>
          <p:cNvPr id="6" name="Text 4"/>
          <p:cNvSpPr/>
          <p:nvPr/>
        </p:nvSpPr>
        <p:spPr>
          <a:xfrm>
            <a:off x="10287000" y="6428232"/>
            <a:ext cx="1353312" cy="138303"/>
          </a:xfrm>
          <a:prstGeom prst="rect">
            <a:avLst/>
          </a:prstGeom>
          <a:noFill/>
          <a:ln/>
        </p:spPr>
        <p:txBody>
          <a:bodyPr wrap="square" lIns="0" tIns="0" rIns="0" bIns="0" rtlCol="0" anchor="t"/>
          <a:lstStyle/>
          <a:p>
            <a:pPr algn="r" indent="0" marL="0">
              <a:buNone/>
            </a:pPr>
            <a:r>
              <a:rPr lang="en-US" sz="900" dirty="0">
                <a:solidFill>
                  <a:srgbClr val="617487"/>
                </a:solidFill>
                <a:latin typeface="DejaVu Sans" pitchFamily="34" charset="0"/>
                <a:ea typeface="DejaVu Sans" pitchFamily="34" charset="-122"/>
                <a:cs typeface="DejaVu Sans" pitchFamily="34" charset="-120"/>
              </a:rPr>
              <a:t>BACKUP · 14 / 15</a:t>
            </a:r>
            <a:endParaRPr lang="en-US" sz="900" dirty="0"/>
          </a:p>
        </p:txBody>
      </p:sp>
      <p:sp>
        <p:nvSpPr>
          <p:cNvPr id="7" name="Shape 5"/>
          <p:cNvSpPr/>
          <p:nvPr/>
        </p:nvSpPr>
        <p:spPr>
          <a:xfrm>
            <a:off x="548640" y="1719072"/>
            <a:ext cx="2542032" cy="2157984"/>
          </a:xfrm>
          <a:prstGeom prst="rect">
            <a:avLst/>
          </a:prstGeom>
          <a:solidFill>
            <a:srgbClr val="FFFFFF"/>
          </a:solidFill>
          <a:ln w="8890">
            <a:solidFill>
              <a:srgbClr val="DCE5EC"/>
            </a:solidFill>
            <a:prstDash val="solid"/>
          </a:ln>
        </p:spPr>
      </p:sp>
      <p:sp>
        <p:nvSpPr>
          <p:cNvPr id="8" name="Shape 6"/>
          <p:cNvSpPr/>
          <p:nvPr/>
        </p:nvSpPr>
        <p:spPr>
          <a:xfrm>
            <a:off x="548640" y="1719072"/>
            <a:ext cx="41148" cy="2157984"/>
          </a:xfrm>
          <a:prstGeom prst="rect">
            <a:avLst/>
          </a:prstGeom>
          <a:solidFill>
            <a:srgbClr val="087F80"/>
          </a:solidFill>
          <a:ln w="12700">
            <a:solidFill>
              <a:srgbClr val="087F80"/>
            </a:solidFill>
            <a:prstDash val="solid"/>
          </a:ln>
        </p:spPr>
      </p:sp>
      <p:sp>
        <p:nvSpPr>
          <p:cNvPr id="9" name="Text 7"/>
          <p:cNvSpPr/>
          <p:nvPr/>
        </p:nvSpPr>
        <p:spPr>
          <a:xfrm>
            <a:off x="749808" y="1901952"/>
            <a:ext cx="2139696" cy="253556"/>
          </a:xfrm>
          <a:prstGeom prst="rect">
            <a:avLst/>
          </a:prstGeom>
          <a:noFill/>
          <a:ln/>
        </p:spPr>
        <p:txBody>
          <a:bodyPr wrap="square" lIns="0" tIns="0" rIns="0" bIns="0" rtlCol="0" anchor="t"/>
          <a:lstStyle/>
          <a:p>
            <a:pPr algn="l" indent="0" marL="0">
              <a:buNone/>
            </a:pPr>
            <a:r>
              <a:rPr lang="en-US" sz="1650" b="1" dirty="0">
                <a:solidFill>
                  <a:srgbClr val="182B42"/>
                </a:solidFill>
                <a:latin typeface="DejaVu Sans" pitchFamily="34" charset="0"/>
                <a:ea typeface="DejaVu Sans" pitchFamily="34" charset="-122"/>
                <a:cs typeface="DejaVu Sans" pitchFamily="34" charset="-120"/>
              </a:rPr>
              <a:t>Inspect +</a:t>
            </a:r>
            <a:endParaRPr lang="en-US" sz="1650" dirty="0"/>
          </a:p>
        </p:txBody>
      </p:sp>
      <p:sp>
        <p:nvSpPr>
          <p:cNvPr id="10" name="Text 8"/>
          <p:cNvSpPr/>
          <p:nvPr/>
        </p:nvSpPr>
        <p:spPr>
          <a:xfrm>
            <a:off x="749808" y="2157603"/>
            <a:ext cx="2139696" cy="253556"/>
          </a:xfrm>
          <a:prstGeom prst="rect">
            <a:avLst/>
          </a:prstGeom>
          <a:noFill/>
          <a:ln/>
        </p:spPr>
        <p:txBody>
          <a:bodyPr wrap="square" lIns="0" tIns="0" rIns="0" bIns="0" rtlCol="0" anchor="t"/>
          <a:lstStyle/>
          <a:p>
            <a:pPr algn="l" indent="0" marL="0">
              <a:buNone/>
            </a:pPr>
            <a:r>
              <a:rPr lang="en-US" sz="1650" b="1" dirty="0">
                <a:solidFill>
                  <a:srgbClr val="182B42"/>
                </a:solidFill>
                <a:latin typeface="DejaVu Sans" pitchFamily="34" charset="0"/>
                <a:ea typeface="DejaVu Sans" pitchFamily="34" charset="-122"/>
                <a:cs typeface="DejaVu Sans" pitchFamily="34" charset="-120"/>
              </a:rPr>
              <a:t>compare</a:t>
            </a:r>
            <a:endParaRPr lang="en-US" sz="1650" dirty="0"/>
          </a:p>
        </p:txBody>
      </p:sp>
      <p:sp>
        <p:nvSpPr>
          <p:cNvPr id="11" name="Text 9"/>
          <p:cNvSpPr/>
          <p:nvPr/>
        </p:nvSpPr>
        <p:spPr>
          <a:xfrm>
            <a:off x="749808" y="2587752"/>
            <a:ext cx="2139696" cy="199771"/>
          </a:xfrm>
          <a:prstGeom prst="rect">
            <a:avLst/>
          </a:prstGeom>
          <a:noFill/>
          <a:ln/>
        </p:spPr>
        <p:txBody>
          <a:bodyPr wrap="square" lIns="0" tIns="0" rIns="0" bIns="0" rtlCol="0" anchor="t"/>
          <a:lstStyle/>
          <a:p>
            <a:pPr algn="l" indent="0" marL="0">
              <a:buNone/>
            </a:pPr>
            <a:r>
              <a:rPr lang="en-US" sz="1300" dirty="0">
                <a:solidFill>
                  <a:srgbClr val="617487"/>
                </a:solidFill>
                <a:latin typeface="DejaVu Sans" pitchFamily="34" charset="0"/>
                <a:ea typeface="DejaVu Sans" pitchFamily="34" charset="-122"/>
                <a:cs typeface="DejaVu Sans" pitchFamily="34" charset="-120"/>
              </a:rPr>
              <a:t>inspect_business</a:t>
            </a:r>
            <a:endParaRPr lang="en-US" sz="1300" dirty="0"/>
          </a:p>
        </p:txBody>
      </p:sp>
      <p:sp>
        <p:nvSpPr>
          <p:cNvPr id="12" name="Text 10"/>
          <p:cNvSpPr/>
          <p:nvPr/>
        </p:nvSpPr>
        <p:spPr>
          <a:xfrm>
            <a:off x="749808" y="2789174"/>
            <a:ext cx="2139696" cy="199771"/>
          </a:xfrm>
          <a:prstGeom prst="rect">
            <a:avLst/>
          </a:prstGeom>
          <a:noFill/>
          <a:ln/>
        </p:spPr>
        <p:txBody>
          <a:bodyPr wrap="square" lIns="0" tIns="0" rIns="0" bIns="0" rtlCol="0" anchor="t"/>
          <a:lstStyle/>
          <a:p>
            <a:pPr algn="l" indent="0" marL="0">
              <a:buNone/>
            </a:pPr>
            <a:r>
              <a:rPr lang="en-US" sz="1300" dirty="0">
                <a:solidFill>
                  <a:srgbClr val="617487"/>
                </a:solidFill>
                <a:latin typeface="DejaVu Sans" pitchFamily="34" charset="0"/>
                <a:ea typeface="DejaVu Sans" pitchFamily="34" charset="-122"/>
                <a:cs typeface="DejaVu Sans" pitchFamily="34" charset="-120"/>
              </a:rPr>
              <a:t>compare_supply</a:t>
            </a:r>
            <a:endParaRPr lang="en-US" sz="1300" dirty="0"/>
          </a:p>
        </p:txBody>
      </p:sp>
      <p:sp>
        <p:nvSpPr>
          <p:cNvPr id="13" name="Shape 11"/>
          <p:cNvSpPr/>
          <p:nvPr/>
        </p:nvSpPr>
        <p:spPr>
          <a:xfrm>
            <a:off x="3401568" y="1719072"/>
            <a:ext cx="2542032" cy="2157984"/>
          </a:xfrm>
          <a:prstGeom prst="rect">
            <a:avLst/>
          </a:prstGeom>
          <a:solidFill>
            <a:srgbClr val="FFFFFF"/>
          </a:solidFill>
          <a:ln w="8890">
            <a:solidFill>
              <a:srgbClr val="DCE5EC"/>
            </a:solidFill>
            <a:prstDash val="solid"/>
          </a:ln>
        </p:spPr>
      </p:sp>
      <p:sp>
        <p:nvSpPr>
          <p:cNvPr id="14" name="Shape 12"/>
          <p:cNvSpPr/>
          <p:nvPr/>
        </p:nvSpPr>
        <p:spPr>
          <a:xfrm>
            <a:off x="3401568" y="1719072"/>
            <a:ext cx="41148" cy="2157984"/>
          </a:xfrm>
          <a:prstGeom prst="rect">
            <a:avLst/>
          </a:prstGeom>
          <a:solidFill>
            <a:srgbClr val="F2AD65"/>
          </a:solidFill>
          <a:ln w="12700">
            <a:solidFill>
              <a:srgbClr val="F2AD65"/>
            </a:solidFill>
            <a:prstDash val="solid"/>
          </a:ln>
        </p:spPr>
      </p:sp>
      <p:sp>
        <p:nvSpPr>
          <p:cNvPr id="15" name="Text 13"/>
          <p:cNvSpPr/>
          <p:nvPr/>
        </p:nvSpPr>
        <p:spPr>
          <a:xfrm>
            <a:off x="3602736" y="1901952"/>
            <a:ext cx="2139696" cy="253556"/>
          </a:xfrm>
          <a:prstGeom prst="rect">
            <a:avLst/>
          </a:prstGeom>
          <a:noFill/>
          <a:ln/>
        </p:spPr>
        <p:txBody>
          <a:bodyPr wrap="square" lIns="0" tIns="0" rIns="0" bIns="0" rtlCol="0" anchor="t"/>
          <a:lstStyle/>
          <a:p>
            <a:pPr algn="l" indent="0" marL="0">
              <a:buNone/>
            </a:pPr>
            <a:r>
              <a:rPr lang="en-US" sz="1650" b="1" dirty="0">
                <a:solidFill>
                  <a:srgbClr val="182B42"/>
                </a:solidFill>
                <a:latin typeface="DejaVu Sans" pitchFamily="34" charset="0"/>
                <a:ea typeface="DejaVu Sans" pitchFamily="34" charset="-122"/>
                <a:cs typeface="DejaVu Sans" pitchFamily="34" charset="-120"/>
              </a:rPr>
              <a:t>Reserve +</a:t>
            </a:r>
            <a:endParaRPr lang="en-US" sz="1650" dirty="0"/>
          </a:p>
        </p:txBody>
      </p:sp>
      <p:sp>
        <p:nvSpPr>
          <p:cNvPr id="16" name="Text 14"/>
          <p:cNvSpPr/>
          <p:nvPr/>
        </p:nvSpPr>
        <p:spPr>
          <a:xfrm>
            <a:off x="3602736" y="2157603"/>
            <a:ext cx="2139696" cy="253556"/>
          </a:xfrm>
          <a:prstGeom prst="rect">
            <a:avLst/>
          </a:prstGeom>
          <a:noFill/>
          <a:ln/>
        </p:spPr>
        <p:txBody>
          <a:bodyPr wrap="square" lIns="0" tIns="0" rIns="0" bIns="0" rtlCol="0" anchor="t"/>
          <a:lstStyle/>
          <a:p>
            <a:pPr algn="l" indent="0" marL="0">
              <a:buNone/>
            </a:pPr>
            <a:r>
              <a:rPr lang="en-US" sz="1650" b="1" dirty="0">
                <a:solidFill>
                  <a:srgbClr val="182B42"/>
                </a:solidFill>
                <a:latin typeface="DejaVu Sans" pitchFamily="34" charset="0"/>
                <a:ea typeface="DejaVu Sans" pitchFamily="34" charset="-122"/>
                <a:cs typeface="DejaVu Sans" pitchFamily="34" charset="-120"/>
              </a:rPr>
              <a:t>commit</a:t>
            </a:r>
            <a:endParaRPr lang="en-US" sz="1650" dirty="0"/>
          </a:p>
        </p:txBody>
      </p:sp>
      <p:sp>
        <p:nvSpPr>
          <p:cNvPr id="17" name="Text 15"/>
          <p:cNvSpPr/>
          <p:nvPr/>
        </p:nvSpPr>
        <p:spPr>
          <a:xfrm>
            <a:off x="3602736" y="2587752"/>
            <a:ext cx="2139696" cy="199771"/>
          </a:xfrm>
          <a:prstGeom prst="rect">
            <a:avLst/>
          </a:prstGeom>
          <a:noFill/>
          <a:ln/>
        </p:spPr>
        <p:txBody>
          <a:bodyPr wrap="square" lIns="0" tIns="0" rIns="0" bIns="0" rtlCol="0" anchor="t"/>
          <a:lstStyle/>
          <a:p>
            <a:pPr algn="l" indent="0" marL="0">
              <a:buNone/>
            </a:pPr>
            <a:r>
              <a:rPr lang="en-US" sz="1300" dirty="0">
                <a:solidFill>
                  <a:srgbClr val="617487"/>
                </a:solidFill>
                <a:latin typeface="DejaVu Sans" pitchFamily="34" charset="0"/>
                <a:ea typeface="DejaVu Sans" pitchFamily="34" charset="-122"/>
                <a:cs typeface="DejaVu Sans" pitchFamily="34" charset="-120"/>
              </a:rPr>
              <a:t>reserve_inventory</a:t>
            </a:r>
            <a:endParaRPr lang="en-US" sz="1300" dirty="0"/>
          </a:p>
        </p:txBody>
      </p:sp>
      <p:sp>
        <p:nvSpPr>
          <p:cNvPr id="18" name="Text 16"/>
          <p:cNvSpPr/>
          <p:nvPr/>
        </p:nvSpPr>
        <p:spPr>
          <a:xfrm>
            <a:off x="3602736" y="2789174"/>
            <a:ext cx="2139696" cy="199771"/>
          </a:xfrm>
          <a:prstGeom prst="rect">
            <a:avLst/>
          </a:prstGeom>
          <a:noFill/>
          <a:ln/>
        </p:spPr>
        <p:txBody>
          <a:bodyPr wrap="square" lIns="0" tIns="0" rIns="0" bIns="0" rtlCol="0" anchor="t"/>
          <a:lstStyle/>
          <a:p>
            <a:pPr algn="l" indent="0" marL="0">
              <a:buNone/>
            </a:pPr>
            <a:r>
              <a:rPr lang="en-US" sz="1300" dirty="0">
                <a:solidFill>
                  <a:srgbClr val="617487"/>
                </a:solidFill>
                <a:latin typeface="DejaVu Sans" pitchFamily="34" charset="0"/>
                <a:ea typeface="DejaVu Sans" pitchFamily="34" charset="-122"/>
                <a:cs typeface="DejaVu Sans" pitchFamily="34" charset="-120"/>
              </a:rPr>
              <a:t>place_purchase</a:t>
            </a:r>
            <a:endParaRPr lang="en-US" sz="1300" dirty="0"/>
          </a:p>
        </p:txBody>
      </p:sp>
      <p:sp>
        <p:nvSpPr>
          <p:cNvPr id="19" name="Shape 17"/>
          <p:cNvSpPr/>
          <p:nvPr/>
        </p:nvSpPr>
        <p:spPr>
          <a:xfrm>
            <a:off x="6254496" y="1719072"/>
            <a:ext cx="2542032" cy="2157984"/>
          </a:xfrm>
          <a:prstGeom prst="rect">
            <a:avLst/>
          </a:prstGeom>
          <a:solidFill>
            <a:srgbClr val="FFFFFF"/>
          </a:solidFill>
          <a:ln w="8890">
            <a:solidFill>
              <a:srgbClr val="DCE5EC"/>
            </a:solidFill>
            <a:prstDash val="solid"/>
          </a:ln>
        </p:spPr>
      </p:sp>
      <p:sp>
        <p:nvSpPr>
          <p:cNvPr id="20" name="Shape 18"/>
          <p:cNvSpPr/>
          <p:nvPr/>
        </p:nvSpPr>
        <p:spPr>
          <a:xfrm>
            <a:off x="6254496" y="1719072"/>
            <a:ext cx="41148" cy="2157984"/>
          </a:xfrm>
          <a:prstGeom prst="rect">
            <a:avLst/>
          </a:prstGeom>
          <a:solidFill>
            <a:srgbClr val="087F80"/>
          </a:solidFill>
          <a:ln w="12700">
            <a:solidFill>
              <a:srgbClr val="087F80"/>
            </a:solidFill>
            <a:prstDash val="solid"/>
          </a:ln>
        </p:spPr>
      </p:sp>
      <p:sp>
        <p:nvSpPr>
          <p:cNvPr id="21" name="Text 19"/>
          <p:cNvSpPr/>
          <p:nvPr/>
        </p:nvSpPr>
        <p:spPr>
          <a:xfrm>
            <a:off x="6455664" y="1901952"/>
            <a:ext cx="2139696" cy="253556"/>
          </a:xfrm>
          <a:prstGeom prst="rect">
            <a:avLst/>
          </a:prstGeom>
          <a:noFill/>
          <a:ln/>
        </p:spPr>
        <p:txBody>
          <a:bodyPr wrap="square" lIns="0" tIns="0" rIns="0" bIns="0" rtlCol="0" anchor="t"/>
          <a:lstStyle/>
          <a:p>
            <a:pPr algn="l" indent="0" marL="0">
              <a:buNone/>
            </a:pPr>
            <a:r>
              <a:rPr lang="en-US" sz="1650" b="1" dirty="0">
                <a:solidFill>
                  <a:srgbClr val="182B42"/>
                </a:solidFill>
                <a:latin typeface="DejaVu Sans" pitchFamily="34" charset="0"/>
                <a:ea typeface="DejaVu Sans" pitchFamily="34" charset="-122"/>
                <a:cs typeface="DejaVu Sans" pitchFamily="34" charset="-120"/>
              </a:rPr>
              <a:t>Allocate + verify</a:t>
            </a:r>
            <a:endParaRPr lang="en-US" sz="1650" dirty="0"/>
          </a:p>
        </p:txBody>
      </p:sp>
      <p:sp>
        <p:nvSpPr>
          <p:cNvPr id="22" name="Text 20"/>
          <p:cNvSpPr/>
          <p:nvPr/>
        </p:nvSpPr>
        <p:spPr>
          <a:xfrm>
            <a:off x="6455664" y="2587752"/>
            <a:ext cx="2139696" cy="199771"/>
          </a:xfrm>
          <a:prstGeom prst="rect">
            <a:avLst/>
          </a:prstGeom>
          <a:noFill/>
          <a:ln/>
        </p:spPr>
        <p:txBody>
          <a:bodyPr wrap="square" lIns="0" tIns="0" rIns="0" bIns="0" rtlCol="0" anchor="t"/>
          <a:lstStyle/>
          <a:p>
            <a:pPr algn="l" indent="0" marL="0">
              <a:buNone/>
            </a:pPr>
            <a:r>
              <a:rPr lang="en-US" sz="1300" dirty="0">
                <a:solidFill>
                  <a:srgbClr val="617487"/>
                </a:solidFill>
                <a:latin typeface="DejaVu Sans" pitchFamily="34" charset="0"/>
                <a:ea typeface="DejaVu Sans" pitchFamily="34" charset="-122"/>
                <a:cs typeface="DejaVu Sans" pitchFamily="34" charset="-120"/>
              </a:rPr>
              <a:t>allocate_purchase</a:t>
            </a:r>
            <a:endParaRPr lang="en-US" sz="1300" dirty="0"/>
          </a:p>
        </p:txBody>
      </p:sp>
      <p:sp>
        <p:nvSpPr>
          <p:cNvPr id="23" name="Text 21"/>
          <p:cNvSpPr/>
          <p:nvPr/>
        </p:nvSpPr>
        <p:spPr>
          <a:xfrm>
            <a:off x="6455664" y="2789174"/>
            <a:ext cx="2139696" cy="199771"/>
          </a:xfrm>
          <a:prstGeom prst="rect">
            <a:avLst/>
          </a:prstGeom>
          <a:noFill/>
          <a:ln/>
        </p:spPr>
        <p:txBody>
          <a:bodyPr wrap="square" lIns="0" tIns="0" rIns="0" bIns="0" rtlCol="0" anchor="t"/>
          <a:lstStyle/>
          <a:p>
            <a:pPr algn="l" indent="0" marL="0">
              <a:buNone/>
            </a:pPr>
            <a:r>
              <a:rPr lang="en-US" sz="1300" dirty="0">
                <a:solidFill>
                  <a:srgbClr val="617487"/>
                </a:solidFill>
                <a:latin typeface="DejaVu Sans" pitchFamily="34" charset="0"/>
                <a:ea typeface="DejaVu Sans" pitchFamily="34" charset="-122"/>
                <a:cs typeface="DejaVu Sans" pitchFamily="34" charset="-120"/>
              </a:rPr>
              <a:t>verify_fulfillment</a:t>
            </a:r>
            <a:endParaRPr lang="en-US" sz="1300" dirty="0"/>
          </a:p>
        </p:txBody>
      </p:sp>
      <p:sp>
        <p:nvSpPr>
          <p:cNvPr id="24" name="Shape 22"/>
          <p:cNvSpPr/>
          <p:nvPr/>
        </p:nvSpPr>
        <p:spPr>
          <a:xfrm>
            <a:off x="9107424" y="1719072"/>
            <a:ext cx="2542032" cy="2157984"/>
          </a:xfrm>
          <a:prstGeom prst="rect">
            <a:avLst/>
          </a:prstGeom>
          <a:solidFill>
            <a:srgbClr val="FFFFFF"/>
          </a:solidFill>
          <a:ln w="8890">
            <a:solidFill>
              <a:srgbClr val="DCE5EC"/>
            </a:solidFill>
            <a:prstDash val="solid"/>
          </a:ln>
        </p:spPr>
      </p:sp>
      <p:sp>
        <p:nvSpPr>
          <p:cNvPr id="25" name="Shape 23"/>
          <p:cNvSpPr/>
          <p:nvPr/>
        </p:nvSpPr>
        <p:spPr>
          <a:xfrm>
            <a:off x="9107424" y="1719072"/>
            <a:ext cx="41148" cy="2157984"/>
          </a:xfrm>
          <a:prstGeom prst="rect">
            <a:avLst/>
          </a:prstGeom>
          <a:solidFill>
            <a:srgbClr val="087F80"/>
          </a:solidFill>
          <a:ln w="12700">
            <a:solidFill>
              <a:srgbClr val="087F80"/>
            </a:solidFill>
            <a:prstDash val="solid"/>
          </a:ln>
        </p:spPr>
      </p:sp>
      <p:sp>
        <p:nvSpPr>
          <p:cNvPr id="26" name="Text 24"/>
          <p:cNvSpPr/>
          <p:nvPr/>
        </p:nvSpPr>
        <p:spPr>
          <a:xfrm>
            <a:off x="9308592" y="1901952"/>
            <a:ext cx="2139696" cy="253556"/>
          </a:xfrm>
          <a:prstGeom prst="rect">
            <a:avLst/>
          </a:prstGeom>
          <a:noFill/>
          <a:ln/>
        </p:spPr>
        <p:txBody>
          <a:bodyPr wrap="square" lIns="0" tIns="0" rIns="0" bIns="0" rtlCol="0" anchor="t"/>
          <a:lstStyle/>
          <a:p>
            <a:pPr algn="l" indent="0" marL="0">
              <a:buNone/>
            </a:pPr>
            <a:r>
              <a:rPr lang="en-US" sz="1650" b="1" dirty="0">
                <a:solidFill>
                  <a:srgbClr val="182B42"/>
                </a:solidFill>
                <a:latin typeface="DejaVu Sans" pitchFamily="34" charset="0"/>
                <a:ea typeface="DejaVu Sans" pitchFamily="34" charset="-122"/>
                <a:cs typeface="DejaVu Sans" pitchFamily="34" charset="-120"/>
              </a:rPr>
              <a:t>Notify + publish</a:t>
            </a:r>
            <a:endParaRPr lang="en-US" sz="1650" dirty="0"/>
          </a:p>
        </p:txBody>
      </p:sp>
      <p:sp>
        <p:nvSpPr>
          <p:cNvPr id="27" name="Text 25"/>
          <p:cNvSpPr/>
          <p:nvPr/>
        </p:nvSpPr>
        <p:spPr>
          <a:xfrm>
            <a:off x="9308592" y="2587752"/>
            <a:ext cx="2139696" cy="199771"/>
          </a:xfrm>
          <a:prstGeom prst="rect">
            <a:avLst/>
          </a:prstGeom>
          <a:noFill/>
          <a:ln/>
        </p:spPr>
        <p:txBody>
          <a:bodyPr wrap="square" lIns="0" tIns="0" rIns="0" bIns="0" rtlCol="0" anchor="t"/>
          <a:lstStyle/>
          <a:p>
            <a:pPr algn="l" indent="0" marL="0">
              <a:buNone/>
            </a:pPr>
            <a:r>
              <a:rPr lang="en-US" sz="1300" dirty="0">
                <a:solidFill>
                  <a:srgbClr val="617487"/>
                </a:solidFill>
                <a:latin typeface="DejaVu Sans" pitchFamily="34" charset="0"/>
                <a:ea typeface="DejaVu Sans" pitchFamily="34" charset="-122"/>
                <a:cs typeface="DejaVu Sans" pitchFamily="34" charset="-120"/>
              </a:rPr>
              <a:t>notify_operations</a:t>
            </a:r>
            <a:endParaRPr lang="en-US" sz="1300" dirty="0"/>
          </a:p>
        </p:txBody>
      </p:sp>
      <p:sp>
        <p:nvSpPr>
          <p:cNvPr id="28" name="Text 26"/>
          <p:cNvSpPr/>
          <p:nvPr/>
        </p:nvSpPr>
        <p:spPr>
          <a:xfrm>
            <a:off x="9308592" y="2789174"/>
            <a:ext cx="2139696" cy="199771"/>
          </a:xfrm>
          <a:prstGeom prst="rect">
            <a:avLst/>
          </a:prstGeom>
          <a:noFill/>
          <a:ln/>
        </p:spPr>
        <p:txBody>
          <a:bodyPr wrap="square" lIns="0" tIns="0" rIns="0" bIns="0" rtlCol="0" anchor="t"/>
          <a:lstStyle/>
          <a:p>
            <a:pPr algn="l" indent="0" marL="0">
              <a:buNone/>
            </a:pPr>
            <a:r>
              <a:rPr lang="en-US" sz="1300" dirty="0">
                <a:solidFill>
                  <a:srgbClr val="617487"/>
                </a:solidFill>
                <a:latin typeface="DejaVu Sans" pitchFamily="34" charset="0"/>
                <a:ea typeface="DejaVu Sans" pitchFamily="34" charset="-122"/>
                <a:cs typeface="DejaVu Sans" pitchFamily="34" charset="-120"/>
              </a:rPr>
              <a:t>publish_report</a:t>
            </a:r>
            <a:endParaRPr lang="en-US" sz="1300" dirty="0"/>
          </a:p>
        </p:txBody>
      </p:sp>
      <p:sp>
        <p:nvSpPr>
          <p:cNvPr id="29" name="Shape 27"/>
          <p:cNvSpPr/>
          <p:nvPr/>
        </p:nvSpPr>
        <p:spPr>
          <a:xfrm>
            <a:off x="548640" y="4270248"/>
            <a:ext cx="11100816" cy="1527048"/>
          </a:xfrm>
          <a:prstGeom prst="rect">
            <a:avLst/>
          </a:prstGeom>
          <a:solidFill>
            <a:srgbClr val="132235"/>
          </a:solidFill>
          <a:ln w="12700">
            <a:solidFill>
              <a:srgbClr val="132235"/>
            </a:solidFill>
            <a:prstDash val="solid"/>
          </a:ln>
        </p:spPr>
      </p:sp>
      <p:sp>
        <p:nvSpPr>
          <p:cNvPr id="30" name="Text 28"/>
          <p:cNvSpPr/>
          <p:nvPr/>
        </p:nvSpPr>
        <p:spPr>
          <a:xfrm>
            <a:off x="822960" y="4480560"/>
            <a:ext cx="10533888" cy="322707"/>
          </a:xfrm>
          <a:prstGeom prst="rect">
            <a:avLst/>
          </a:prstGeom>
          <a:noFill/>
          <a:ln/>
        </p:spPr>
        <p:txBody>
          <a:bodyPr wrap="square" lIns="0" tIns="0" rIns="0" bIns="0" rtlCol="0" anchor="t"/>
          <a:lstStyle/>
          <a:p>
            <a:pPr algn="l" indent="0" marL="0">
              <a:buNone/>
            </a:pPr>
            <a:r>
              <a:rPr lang="en-US" sz="2100" b="1" dirty="0">
                <a:solidFill>
                  <a:srgbClr val="FFFFFF"/>
                </a:solidFill>
                <a:latin typeface="DejaVu Sans" pitchFamily="34" charset="0"/>
                <a:ea typeface="DejaVu Sans" pitchFamily="34" charset="-122"/>
                <a:cs typeface="DejaVu Sans" pitchFamily="34" charset="-120"/>
              </a:rPr>
              <a:t>Eight purposeful MongoDB entities</a:t>
            </a:r>
            <a:endParaRPr lang="en-US" sz="2100" dirty="0"/>
          </a:p>
        </p:txBody>
      </p:sp>
      <p:sp>
        <p:nvSpPr>
          <p:cNvPr id="31" name="Text 29"/>
          <p:cNvSpPr/>
          <p:nvPr/>
        </p:nvSpPr>
        <p:spPr>
          <a:xfrm>
            <a:off x="822960" y="5047488"/>
            <a:ext cx="10533888" cy="261239"/>
          </a:xfrm>
          <a:prstGeom prst="rect">
            <a:avLst/>
          </a:prstGeom>
          <a:noFill/>
          <a:ln/>
        </p:spPr>
        <p:txBody>
          <a:bodyPr wrap="square" lIns="0" tIns="0" rIns="0" bIns="0" rtlCol="0" anchor="t"/>
          <a:lstStyle/>
          <a:p>
            <a:pPr algn="l" indent="0" marL="0">
              <a:buNone/>
            </a:pPr>
            <a:r>
              <a:rPr lang="en-US" sz="1700" dirty="0">
                <a:solidFill>
                  <a:srgbClr val="B8CBDC"/>
                </a:solidFill>
                <a:latin typeface="DejaVu Sans" pitchFamily="34" charset="0"/>
                <a:ea typeface="DejaVu Sans" pitchFamily="34" charset="-122"/>
                <a:cs typeface="DejaVu Sans" pitchFamily="34" charset="-120"/>
              </a:rPr>
              <a:t>User · Task · AgentExecution · ToolExecution · Approval</a:t>
            </a:r>
            <a:endParaRPr lang="en-US" sz="1700" dirty="0"/>
          </a:p>
        </p:txBody>
      </p:sp>
      <p:sp>
        <p:nvSpPr>
          <p:cNvPr id="32" name="Text 30"/>
          <p:cNvSpPr/>
          <p:nvPr/>
        </p:nvSpPr>
        <p:spPr>
          <a:xfrm>
            <a:off x="822960" y="5310886"/>
            <a:ext cx="10533888" cy="261239"/>
          </a:xfrm>
          <a:prstGeom prst="rect">
            <a:avLst/>
          </a:prstGeom>
          <a:noFill/>
          <a:ln/>
        </p:spPr>
        <p:txBody>
          <a:bodyPr wrap="square" lIns="0" tIns="0" rIns="0" bIns="0" rtlCol="0" anchor="t"/>
          <a:lstStyle/>
          <a:p>
            <a:pPr algn="l" indent="0" marL="0">
              <a:buNone/>
            </a:pPr>
            <a:r>
              <a:rPr lang="en-US" sz="1700" dirty="0">
                <a:solidFill>
                  <a:srgbClr val="B8CBDC"/>
                </a:solidFill>
                <a:latin typeface="DejaVu Sans" pitchFamily="34" charset="0"/>
                <a:ea typeface="DejaVu Sans" pitchFamily="34" charset="-122"/>
                <a:cs typeface="DejaVu Sans" pitchFamily="34" charset="-120"/>
              </a:rPr>
              <a:t>WorkflowEvent · BusinessState · Memory</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548640" y="338328"/>
            <a:ext cx="10332720" cy="153670"/>
          </a:xfrm>
          <a:prstGeom prst="rect">
            <a:avLst/>
          </a:prstGeom>
          <a:noFill/>
          <a:ln/>
        </p:spPr>
        <p:txBody>
          <a:bodyPr wrap="square" lIns="0" tIns="0" rIns="0" bIns="0" rtlCol="0" anchor="t"/>
          <a:lstStyle/>
          <a:p>
            <a:pPr algn="l" indent="0" marL="0">
              <a:buNone/>
            </a:pPr>
            <a:r>
              <a:rPr lang="en-US" sz="1000" b="1" dirty="0">
                <a:solidFill>
                  <a:srgbClr val="087F80"/>
                </a:solidFill>
                <a:latin typeface="DejaVu Sans" pitchFamily="34" charset="0"/>
                <a:ea typeface="DejaVu Sans" pitchFamily="34" charset="-122"/>
                <a:cs typeface="DejaVu Sans" pitchFamily="34" charset="-120"/>
              </a:rPr>
              <a:t>JUDGE Q&amp;A</a:t>
            </a:r>
            <a:endParaRPr lang="en-US" sz="1000" dirty="0"/>
          </a:p>
        </p:txBody>
      </p:sp>
      <p:sp>
        <p:nvSpPr>
          <p:cNvPr id="3" name="Text 1"/>
          <p:cNvSpPr/>
          <p:nvPr/>
        </p:nvSpPr>
        <p:spPr>
          <a:xfrm>
            <a:off x="548640" y="758952"/>
            <a:ext cx="11064240" cy="445643"/>
          </a:xfrm>
          <a:prstGeom prst="rect">
            <a:avLst/>
          </a:prstGeom>
          <a:noFill/>
          <a:ln/>
        </p:spPr>
        <p:txBody>
          <a:bodyPr wrap="square" lIns="0" tIns="0" rIns="0" bIns="0" rtlCol="0" anchor="t"/>
          <a:lstStyle/>
          <a:p>
            <a:pPr algn="l" indent="0" marL="0">
              <a:buNone/>
            </a:pPr>
            <a:r>
              <a:rPr lang="en-US" sz="2900" b="1" dirty="0">
                <a:solidFill>
                  <a:srgbClr val="182B42"/>
                </a:solidFill>
                <a:latin typeface="DejaVu Sans" pitchFamily="34" charset="0"/>
                <a:ea typeface="DejaVu Sans" pitchFamily="34" charset="-122"/>
                <a:cs typeface="DejaVu Sans" pitchFamily="34" charset="-120"/>
              </a:rPr>
              <a:t>Backup: answers to the hard questions.</a:t>
            </a:r>
            <a:endParaRPr lang="en-US" sz="2900" dirty="0"/>
          </a:p>
        </p:txBody>
      </p:sp>
      <p:sp>
        <p:nvSpPr>
          <p:cNvPr id="4" name="Shape 2"/>
          <p:cNvSpPr/>
          <p:nvPr/>
        </p:nvSpPr>
        <p:spPr>
          <a:xfrm>
            <a:off x="548640" y="6345936"/>
            <a:ext cx="11091672" cy="0"/>
          </a:xfrm>
          <a:prstGeom prst="line">
            <a:avLst/>
          </a:prstGeom>
          <a:noFill/>
          <a:ln w="10160">
            <a:solidFill>
              <a:srgbClr val="DCE5EC"/>
            </a:solidFill>
            <a:prstDash val="solid"/>
          </a:ln>
        </p:spPr>
      </p:sp>
      <p:sp>
        <p:nvSpPr>
          <p:cNvPr id="5" name="Text 3"/>
          <p:cNvSpPr/>
          <p:nvPr/>
        </p:nvSpPr>
        <p:spPr>
          <a:xfrm>
            <a:off x="548640" y="6455664"/>
            <a:ext cx="9966960" cy="122936"/>
          </a:xfrm>
          <a:prstGeom prst="rect">
            <a:avLst/>
          </a:prstGeom>
          <a:noFill/>
          <a:ln/>
        </p:spPr>
        <p:txBody>
          <a:bodyPr wrap="square" lIns="0" tIns="0" rIns="0" bIns="0" rtlCol="0" anchor="t"/>
          <a:lstStyle/>
          <a:p>
            <a:pPr algn="l" indent="0" marL="0">
              <a:buNone/>
            </a:pPr>
            <a:r>
              <a:rPr lang="en-US" sz="800" dirty="0">
                <a:solidFill>
                  <a:srgbClr val="617487"/>
                </a:solidFill>
                <a:latin typeface="DejaVu Sans" pitchFamily="34" charset="0"/>
                <a:ea typeface="DejaVu Sans" pitchFamily="34" charset="-122"/>
                <a:cs typeface="DejaVu Sans" pitchFamily="34" charset="-120"/>
              </a:rPr>
              <a:t>StockPilot • Hackathon pitch</a:t>
            </a:r>
            <a:endParaRPr lang="en-US" sz="800" dirty="0"/>
          </a:p>
        </p:txBody>
      </p:sp>
      <p:sp>
        <p:nvSpPr>
          <p:cNvPr id="6" name="Text 4"/>
          <p:cNvSpPr/>
          <p:nvPr/>
        </p:nvSpPr>
        <p:spPr>
          <a:xfrm>
            <a:off x="10287000" y="6428232"/>
            <a:ext cx="1353312" cy="138303"/>
          </a:xfrm>
          <a:prstGeom prst="rect">
            <a:avLst/>
          </a:prstGeom>
          <a:noFill/>
          <a:ln/>
        </p:spPr>
        <p:txBody>
          <a:bodyPr wrap="square" lIns="0" tIns="0" rIns="0" bIns="0" rtlCol="0" anchor="t"/>
          <a:lstStyle/>
          <a:p>
            <a:pPr algn="r" indent="0" marL="0">
              <a:buNone/>
            </a:pPr>
            <a:r>
              <a:rPr lang="en-US" sz="900" dirty="0">
                <a:solidFill>
                  <a:srgbClr val="617487"/>
                </a:solidFill>
                <a:latin typeface="DejaVu Sans" pitchFamily="34" charset="0"/>
                <a:ea typeface="DejaVu Sans" pitchFamily="34" charset="-122"/>
                <a:cs typeface="DejaVu Sans" pitchFamily="34" charset="-120"/>
              </a:rPr>
              <a:t>BACKUP · 15 / 15</a:t>
            </a:r>
            <a:endParaRPr lang="en-US" sz="900" dirty="0"/>
          </a:p>
        </p:txBody>
      </p:sp>
      <p:sp>
        <p:nvSpPr>
          <p:cNvPr id="7" name="Shape 5"/>
          <p:cNvSpPr/>
          <p:nvPr/>
        </p:nvSpPr>
        <p:spPr>
          <a:xfrm>
            <a:off x="548640" y="1719072"/>
            <a:ext cx="5413248" cy="1965960"/>
          </a:xfrm>
          <a:prstGeom prst="rect">
            <a:avLst/>
          </a:prstGeom>
          <a:solidFill>
            <a:srgbClr val="FFFFFF"/>
          </a:solidFill>
          <a:ln w="8890">
            <a:solidFill>
              <a:srgbClr val="DCE5EC"/>
            </a:solidFill>
            <a:prstDash val="solid"/>
          </a:ln>
        </p:spPr>
      </p:sp>
      <p:sp>
        <p:nvSpPr>
          <p:cNvPr id="8" name="Shape 6"/>
          <p:cNvSpPr/>
          <p:nvPr/>
        </p:nvSpPr>
        <p:spPr>
          <a:xfrm>
            <a:off x="548640" y="1719072"/>
            <a:ext cx="41148" cy="1965960"/>
          </a:xfrm>
          <a:prstGeom prst="rect">
            <a:avLst/>
          </a:prstGeom>
          <a:solidFill>
            <a:srgbClr val="087F80"/>
          </a:solidFill>
          <a:ln w="12700">
            <a:solidFill>
              <a:srgbClr val="087F80"/>
            </a:solidFill>
            <a:prstDash val="solid"/>
          </a:ln>
        </p:spPr>
      </p:sp>
      <p:sp>
        <p:nvSpPr>
          <p:cNvPr id="9" name="Text 7"/>
          <p:cNvSpPr/>
          <p:nvPr/>
        </p:nvSpPr>
        <p:spPr>
          <a:xfrm>
            <a:off x="749808" y="1901952"/>
            <a:ext cx="5010912" cy="276606"/>
          </a:xfrm>
          <a:prstGeom prst="rect">
            <a:avLst/>
          </a:prstGeom>
          <a:noFill/>
          <a:ln/>
        </p:spPr>
        <p:txBody>
          <a:bodyPr wrap="square" lIns="0" tIns="0" rIns="0" bIns="0" rtlCol="0" anchor="t"/>
          <a:lstStyle/>
          <a:p>
            <a:pPr algn="l" indent="0" marL="0">
              <a:buNone/>
            </a:pPr>
            <a:r>
              <a:rPr lang="en-US" sz="1800" b="1" dirty="0">
                <a:solidFill>
                  <a:srgbClr val="182B42"/>
                </a:solidFill>
                <a:latin typeface="DejaVu Sans" pitchFamily="34" charset="0"/>
                <a:ea typeface="DejaVu Sans" pitchFamily="34" charset="-122"/>
                <a:cs typeface="DejaVu Sans" pitchFamily="34" charset="-120"/>
              </a:rPr>
              <a:t>Why agentic AI?</a:t>
            </a:r>
            <a:endParaRPr lang="en-US" sz="1800" dirty="0"/>
          </a:p>
        </p:txBody>
      </p:sp>
      <p:sp>
        <p:nvSpPr>
          <p:cNvPr id="10" name="Text 8"/>
          <p:cNvSpPr/>
          <p:nvPr/>
        </p:nvSpPr>
        <p:spPr>
          <a:xfrm>
            <a:off x="749808" y="2587752"/>
            <a:ext cx="5010912"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Goal-driven plans and tool choices adapt to</a:t>
            </a:r>
            <a:endParaRPr lang="en-US" sz="1700" dirty="0"/>
          </a:p>
        </p:txBody>
      </p:sp>
      <p:sp>
        <p:nvSpPr>
          <p:cNvPr id="11" name="Text 9"/>
          <p:cNvSpPr/>
          <p:nvPr/>
        </p:nvSpPr>
        <p:spPr>
          <a:xfrm>
            <a:off x="749808" y="2851150"/>
            <a:ext cx="5010912"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observed state. The backend handles</a:t>
            </a:r>
            <a:endParaRPr lang="en-US" sz="1700" dirty="0"/>
          </a:p>
        </p:txBody>
      </p:sp>
      <p:sp>
        <p:nvSpPr>
          <p:cNvPr id="12" name="Text 10"/>
          <p:cNvSpPr/>
          <p:nvPr/>
        </p:nvSpPr>
        <p:spPr>
          <a:xfrm>
            <a:off x="749808" y="3114548"/>
            <a:ext cx="5010912"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arithmetic and policy.</a:t>
            </a:r>
            <a:endParaRPr lang="en-US" sz="1700" dirty="0"/>
          </a:p>
        </p:txBody>
      </p:sp>
      <p:sp>
        <p:nvSpPr>
          <p:cNvPr id="13" name="Shape 11"/>
          <p:cNvSpPr/>
          <p:nvPr/>
        </p:nvSpPr>
        <p:spPr>
          <a:xfrm>
            <a:off x="6236208" y="1719072"/>
            <a:ext cx="5413248" cy="1965960"/>
          </a:xfrm>
          <a:prstGeom prst="rect">
            <a:avLst/>
          </a:prstGeom>
          <a:solidFill>
            <a:srgbClr val="FFFFFF"/>
          </a:solidFill>
          <a:ln w="8890">
            <a:solidFill>
              <a:srgbClr val="DCE5EC"/>
            </a:solidFill>
            <a:prstDash val="solid"/>
          </a:ln>
        </p:spPr>
      </p:sp>
      <p:sp>
        <p:nvSpPr>
          <p:cNvPr id="14" name="Shape 12"/>
          <p:cNvSpPr/>
          <p:nvPr/>
        </p:nvSpPr>
        <p:spPr>
          <a:xfrm>
            <a:off x="6236208" y="1719072"/>
            <a:ext cx="41148" cy="1965960"/>
          </a:xfrm>
          <a:prstGeom prst="rect">
            <a:avLst/>
          </a:prstGeom>
          <a:solidFill>
            <a:srgbClr val="087F80"/>
          </a:solidFill>
          <a:ln w="12700">
            <a:solidFill>
              <a:srgbClr val="087F80"/>
            </a:solidFill>
            <a:prstDash val="solid"/>
          </a:ln>
        </p:spPr>
      </p:sp>
      <p:sp>
        <p:nvSpPr>
          <p:cNvPr id="15" name="Text 13"/>
          <p:cNvSpPr/>
          <p:nvPr/>
        </p:nvSpPr>
        <p:spPr>
          <a:xfrm>
            <a:off x="6437376" y="1901952"/>
            <a:ext cx="5010912" cy="276606"/>
          </a:xfrm>
          <a:prstGeom prst="rect">
            <a:avLst/>
          </a:prstGeom>
          <a:noFill/>
          <a:ln/>
        </p:spPr>
        <p:txBody>
          <a:bodyPr wrap="square" lIns="0" tIns="0" rIns="0" bIns="0" rtlCol="0" anchor="t"/>
          <a:lstStyle/>
          <a:p>
            <a:pPr algn="l" indent="0" marL="0">
              <a:buNone/>
            </a:pPr>
            <a:r>
              <a:rPr lang="en-US" sz="1800" b="1" dirty="0">
                <a:solidFill>
                  <a:srgbClr val="182B42"/>
                </a:solidFill>
                <a:latin typeface="DejaVu Sans" pitchFamily="34" charset="0"/>
                <a:ea typeface="DejaVu Sans" pitchFamily="34" charset="-122"/>
                <a:cs typeface="DejaVu Sans" pitchFamily="34" charset="-120"/>
              </a:rPr>
              <a:t>What does “completed” mean?</a:t>
            </a:r>
            <a:endParaRPr lang="en-US" sz="1800" dirty="0"/>
          </a:p>
        </p:txBody>
      </p:sp>
      <p:sp>
        <p:nvSpPr>
          <p:cNvPr id="16" name="Text 14"/>
          <p:cNvSpPr/>
          <p:nvPr/>
        </p:nvSpPr>
        <p:spPr>
          <a:xfrm>
            <a:off x="6437376" y="2587752"/>
            <a:ext cx="5010912"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All requested supply is reserved or scheduled</a:t>
            </a:r>
            <a:endParaRPr lang="en-US" sz="1700" dirty="0"/>
          </a:p>
        </p:txBody>
      </p:sp>
      <p:sp>
        <p:nvSpPr>
          <p:cNvPr id="17" name="Text 15"/>
          <p:cNvSpPr/>
          <p:nvPr/>
        </p:nvSpPr>
        <p:spPr>
          <a:xfrm>
            <a:off x="6437376" y="2851150"/>
            <a:ext cx="5010912"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and allocated; checks and a report pass. Not</a:t>
            </a:r>
            <a:endParaRPr lang="en-US" sz="1700" dirty="0"/>
          </a:p>
        </p:txBody>
      </p:sp>
      <p:sp>
        <p:nvSpPr>
          <p:cNvPr id="18" name="Text 16"/>
          <p:cNvSpPr/>
          <p:nvPr/>
        </p:nvSpPr>
        <p:spPr>
          <a:xfrm>
            <a:off x="6437376" y="3114548"/>
            <a:ext cx="5010912"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physical delivery.</a:t>
            </a:r>
            <a:endParaRPr lang="en-US" sz="1700" dirty="0"/>
          </a:p>
        </p:txBody>
      </p:sp>
      <p:sp>
        <p:nvSpPr>
          <p:cNvPr id="19" name="Shape 17"/>
          <p:cNvSpPr/>
          <p:nvPr/>
        </p:nvSpPr>
        <p:spPr>
          <a:xfrm>
            <a:off x="548640" y="3922776"/>
            <a:ext cx="5413248" cy="1965960"/>
          </a:xfrm>
          <a:prstGeom prst="rect">
            <a:avLst/>
          </a:prstGeom>
          <a:solidFill>
            <a:srgbClr val="FFFFFF"/>
          </a:solidFill>
          <a:ln w="8890">
            <a:solidFill>
              <a:srgbClr val="DCE5EC"/>
            </a:solidFill>
            <a:prstDash val="solid"/>
          </a:ln>
        </p:spPr>
      </p:sp>
      <p:sp>
        <p:nvSpPr>
          <p:cNvPr id="20" name="Shape 18"/>
          <p:cNvSpPr/>
          <p:nvPr/>
        </p:nvSpPr>
        <p:spPr>
          <a:xfrm>
            <a:off x="548640" y="3922776"/>
            <a:ext cx="41148" cy="1965960"/>
          </a:xfrm>
          <a:prstGeom prst="rect">
            <a:avLst/>
          </a:prstGeom>
          <a:solidFill>
            <a:srgbClr val="F2AD65"/>
          </a:solidFill>
          <a:ln w="12700">
            <a:solidFill>
              <a:srgbClr val="F2AD65"/>
            </a:solidFill>
            <a:prstDash val="solid"/>
          </a:ln>
        </p:spPr>
      </p:sp>
      <p:sp>
        <p:nvSpPr>
          <p:cNvPr id="21" name="Text 19"/>
          <p:cNvSpPr/>
          <p:nvPr/>
        </p:nvSpPr>
        <p:spPr>
          <a:xfrm>
            <a:off x="749808" y="4105656"/>
            <a:ext cx="5010912" cy="276606"/>
          </a:xfrm>
          <a:prstGeom prst="rect">
            <a:avLst/>
          </a:prstGeom>
          <a:noFill/>
          <a:ln/>
        </p:spPr>
        <p:txBody>
          <a:bodyPr wrap="square" lIns="0" tIns="0" rIns="0" bIns="0" rtlCol="0" anchor="t"/>
          <a:lstStyle/>
          <a:p>
            <a:pPr algn="l" indent="0" marL="0">
              <a:buNone/>
            </a:pPr>
            <a:r>
              <a:rPr lang="en-US" sz="1800" b="1" dirty="0">
                <a:solidFill>
                  <a:srgbClr val="182B42"/>
                </a:solidFill>
                <a:latin typeface="DejaVu Sans" pitchFamily="34" charset="0"/>
                <a:ea typeface="DejaVu Sans" pitchFamily="34" charset="-122"/>
                <a:cs typeface="DejaVu Sans" pitchFamily="34" charset="-120"/>
              </a:rPr>
              <a:t>Can the model bypass approval?</a:t>
            </a:r>
            <a:endParaRPr lang="en-US" sz="1800" dirty="0"/>
          </a:p>
        </p:txBody>
      </p:sp>
      <p:sp>
        <p:nvSpPr>
          <p:cNvPr id="22" name="Text 20"/>
          <p:cNvSpPr/>
          <p:nvPr/>
        </p:nvSpPr>
        <p:spPr>
          <a:xfrm>
            <a:off x="749808" y="4791456"/>
            <a:ext cx="5010912"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No. Exact approval binding and independent</a:t>
            </a:r>
            <a:endParaRPr lang="en-US" sz="1700" dirty="0"/>
          </a:p>
        </p:txBody>
      </p:sp>
      <p:sp>
        <p:nvSpPr>
          <p:cNvPr id="23" name="Text 21"/>
          <p:cNvSpPr/>
          <p:nvPr/>
        </p:nvSpPr>
        <p:spPr>
          <a:xfrm>
            <a:off x="749808" y="5054854"/>
            <a:ext cx="5010912"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backend permissions remain authoritative.</a:t>
            </a:r>
            <a:endParaRPr lang="en-US" sz="1700" dirty="0"/>
          </a:p>
        </p:txBody>
      </p:sp>
      <p:sp>
        <p:nvSpPr>
          <p:cNvPr id="24" name="Shape 22"/>
          <p:cNvSpPr/>
          <p:nvPr/>
        </p:nvSpPr>
        <p:spPr>
          <a:xfrm>
            <a:off x="6236208" y="3922776"/>
            <a:ext cx="5413248" cy="1965960"/>
          </a:xfrm>
          <a:prstGeom prst="rect">
            <a:avLst/>
          </a:prstGeom>
          <a:solidFill>
            <a:srgbClr val="FFFFFF"/>
          </a:solidFill>
          <a:ln w="8890">
            <a:solidFill>
              <a:srgbClr val="DCE5EC"/>
            </a:solidFill>
            <a:prstDash val="solid"/>
          </a:ln>
        </p:spPr>
      </p:sp>
      <p:sp>
        <p:nvSpPr>
          <p:cNvPr id="25" name="Shape 23"/>
          <p:cNvSpPr/>
          <p:nvPr/>
        </p:nvSpPr>
        <p:spPr>
          <a:xfrm>
            <a:off x="6236208" y="3922776"/>
            <a:ext cx="41148" cy="1965960"/>
          </a:xfrm>
          <a:prstGeom prst="rect">
            <a:avLst/>
          </a:prstGeom>
          <a:solidFill>
            <a:srgbClr val="166C5C"/>
          </a:solidFill>
          <a:ln w="12700">
            <a:solidFill>
              <a:srgbClr val="166C5C"/>
            </a:solidFill>
            <a:prstDash val="solid"/>
          </a:ln>
        </p:spPr>
      </p:sp>
      <p:sp>
        <p:nvSpPr>
          <p:cNvPr id="26" name="Text 24"/>
          <p:cNvSpPr/>
          <p:nvPr/>
        </p:nvSpPr>
        <p:spPr>
          <a:xfrm>
            <a:off x="6437376" y="4105656"/>
            <a:ext cx="5010912" cy="276606"/>
          </a:xfrm>
          <a:prstGeom prst="rect">
            <a:avLst/>
          </a:prstGeom>
          <a:noFill/>
          <a:ln/>
        </p:spPr>
        <p:txBody>
          <a:bodyPr wrap="square" lIns="0" tIns="0" rIns="0" bIns="0" rtlCol="0" anchor="t"/>
          <a:lstStyle/>
          <a:p>
            <a:pPr algn="l" indent="0" marL="0">
              <a:buNone/>
            </a:pPr>
            <a:r>
              <a:rPr lang="en-US" sz="1800" b="1" dirty="0">
                <a:solidFill>
                  <a:srgbClr val="182B42"/>
                </a:solidFill>
                <a:latin typeface="DejaVu Sans" pitchFamily="34" charset="0"/>
                <a:ea typeface="DejaVu Sans" pitchFamily="34" charset="-122"/>
                <a:cs typeface="DejaVu Sans" pitchFamily="34" charset="-120"/>
              </a:rPr>
              <a:t>What remains to ship?</a:t>
            </a:r>
            <a:endParaRPr lang="en-US" sz="1800" dirty="0"/>
          </a:p>
        </p:txBody>
      </p:sp>
      <p:sp>
        <p:nvSpPr>
          <p:cNvPr id="27" name="Text 25"/>
          <p:cNvSpPr/>
          <p:nvPr/>
        </p:nvSpPr>
        <p:spPr>
          <a:xfrm>
            <a:off x="6437376" y="4791456"/>
            <a:ext cx="5010912"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Public deployment, hosted verification, demo</a:t>
            </a:r>
            <a:endParaRPr lang="en-US" sz="1700" dirty="0"/>
          </a:p>
        </p:txBody>
      </p:sp>
      <p:sp>
        <p:nvSpPr>
          <p:cNvPr id="28" name="Text 26"/>
          <p:cNvSpPr/>
          <p:nvPr/>
        </p:nvSpPr>
        <p:spPr>
          <a:xfrm>
            <a:off x="6437376" y="5054854"/>
            <a:ext cx="5010912"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video, external integrations and broader live</a:t>
            </a:r>
            <a:endParaRPr lang="en-US" sz="1700" dirty="0"/>
          </a:p>
        </p:txBody>
      </p:sp>
      <p:sp>
        <p:nvSpPr>
          <p:cNvPr id="29" name="Text 27"/>
          <p:cNvSpPr/>
          <p:nvPr/>
        </p:nvSpPr>
        <p:spPr>
          <a:xfrm>
            <a:off x="6437376" y="5318252"/>
            <a:ext cx="5010912" cy="261239"/>
          </a:xfrm>
          <a:prstGeom prst="rect">
            <a:avLst/>
          </a:prstGeom>
          <a:noFill/>
          <a:ln/>
        </p:spPr>
        <p:txBody>
          <a:bodyPr wrap="square" lIns="0" tIns="0" rIns="0" bIns="0" rtlCol="0" anchor="t"/>
          <a:lstStyle/>
          <a:p>
            <a:pPr algn="l" indent="0" marL="0">
              <a:buNone/>
            </a:pPr>
            <a:r>
              <a:rPr lang="en-US" sz="1700" dirty="0">
                <a:solidFill>
                  <a:srgbClr val="617487"/>
                </a:solidFill>
                <a:latin typeface="DejaVu Sans" pitchFamily="34" charset="0"/>
                <a:ea typeface="DejaVu Sans" pitchFamily="34" charset="-122"/>
                <a:cs typeface="DejaVu Sans" pitchFamily="34" charset="-120"/>
              </a:rPr>
              <a:t>evaluation.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jaVu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ejaVu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StockPilot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StockPilot | Hackathon Presentation</dc:title>
  <dc:subject>Verified agentic supply recovery — hackathon pitch</dc:subject>
  <dc:creator>StockPilot</dc:creator>
  <cp:lastModifiedBy>StockPilot</cp:lastModifiedBy>
  <cp:revision>1</cp:revision>
  <dcterms:created xsi:type="dcterms:W3CDTF">2026-10-06T09:29:48Z</dcterms:created>
  <dcterms:modified xsi:type="dcterms:W3CDTF">2026-10-06T09:29:48Z</dcterms:modified>
</cp:coreProperties>
</file>